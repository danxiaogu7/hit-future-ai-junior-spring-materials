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15"/>
  </p:notesMasterIdLst>
  <p:sldIdLst>
    <p:sldId id="256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embeddedFontLst>
    <p:embeddedFont>
      <p:font typeface="方正姚体" panose="02010601030101010101" pitchFamily="2" charset="-122"/>
      <p:regular r:id="rId16"/>
    </p:embeddedFont>
    <p:embeddedFont>
      <p:font typeface="Sorts Mill Goudy" panose="02010600030101010101" charset="0"/>
      <p:regular r:id="rId17"/>
    </p:embeddedFont>
    <p:embeddedFont>
      <p:font typeface="微软雅黑" panose="020B0503020204020204" pitchFamily="34" charset="-122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>
            <p:custDataLst>
              <p:tags r:id="rId1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2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3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5" name="文本框 14"/>
          <p:cNvSpPr txBox="1"/>
          <p:nvPr userDrawn="1">
            <p:custDataLst>
              <p:tags r:id="rId5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6" name="文本框 15"/>
          <p:cNvSpPr txBox="1"/>
          <p:nvPr userDrawn="1">
            <p:custDataLst>
              <p:tags r:id="rId6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1506220" y="2680335"/>
            <a:ext cx="9180195" cy="1697990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2470800" y="1926000"/>
            <a:ext cx="72504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3936000" y="4680000"/>
            <a:ext cx="432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任意多边形 55"/>
          <p:cNvSpPr/>
          <p:nvPr userDrawn="1">
            <p:custDataLst>
              <p:tags r:id="rId4"/>
            </p:custDataLst>
          </p:nvPr>
        </p:nvSpPr>
        <p:spPr>
          <a:xfrm>
            <a:off x="808355" y="2261235"/>
            <a:ext cx="923290" cy="1787525"/>
          </a:xfrm>
          <a:custGeom>
            <a:avLst/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3881120" y="22517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4123690" y="22517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1" name="文本框 10"/>
          <p:cNvSpPr txBox="1"/>
          <p:nvPr userDrawn="1">
            <p:custDataLst>
              <p:tags r:id="rId7"/>
            </p:custDataLst>
          </p:nvPr>
        </p:nvSpPr>
        <p:spPr>
          <a:xfrm flipV="1">
            <a:off x="878205" y="43218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8"/>
            </p:custDataLst>
          </p:nvPr>
        </p:nvSpPr>
        <p:spPr>
          <a:xfrm flipV="1">
            <a:off x="640715" y="43218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任意多边形 1"/>
          <p:cNvSpPr/>
          <p:nvPr userDrawn="1">
            <p:custDataLst>
              <p:tags r:id="rId9"/>
            </p:custDataLst>
          </p:nvPr>
        </p:nvSpPr>
        <p:spPr>
          <a:xfrm flipH="1" flipV="1">
            <a:off x="3160395" y="2931160"/>
            <a:ext cx="922655" cy="1788795"/>
          </a:xfrm>
          <a:custGeom>
            <a:avLst/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04000" y="2628000"/>
            <a:ext cx="2134800" cy="921600"/>
          </a:xfrm>
        </p:spPr>
        <p:txBody>
          <a:bodyPr wrap="square" anchor="ctr">
            <a:normAutofit/>
          </a:bodyPr>
          <a:lstStyle>
            <a:lvl1pPr algn="ctr"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4109085" y="424751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4330065" y="424751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6"/>
            </p:custDataLst>
          </p:nvPr>
        </p:nvSpPr>
        <p:spPr>
          <a:xfrm flipV="1">
            <a:off x="1392555" y="237045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文本框 12"/>
          <p:cNvSpPr txBox="1"/>
          <p:nvPr userDrawn="1">
            <p:custDataLst>
              <p:tags r:id="rId7"/>
            </p:custDataLst>
          </p:nvPr>
        </p:nvSpPr>
        <p:spPr>
          <a:xfrm flipV="1">
            <a:off x="1176655" y="237045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8"/>
            </p:custDataLst>
          </p:nvPr>
        </p:nvSpPr>
        <p:spPr>
          <a:xfrm flipH="1" flipV="1">
            <a:off x="0" y="1924050"/>
            <a:ext cx="4290514" cy="1822450"/>
          </a:xfrm>
          <a:custGeom>
            <a:avLst/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/>
          </a:p>
        </p:txBody>
      </p:sp>
      <p:sp>
        <p:nvSpPr>
          <p:cNvPr id="19" name="任意多边形: 形状 18"/>
          <p:cNvSpPr/>
          <p:nvPr userDrawn="1">
            <p:custDataLst>
              <p:tags r:id="rId9"/>
            </p:custDataLst>
          </p:nvPr>
        </p:nvSpPr>
        <p:spPr>
          <a:xfrm>
            <a:off x="1336676" y="3125470"/>
            <a:ext cx="10855325" cy="1822450"/>
          </a:xfrm>
          <a:custGeom>
            <a:avLst/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616000" y="2412000"/>
            <a:ext cx="6004800" cy="1936800"/>
          </a:xfrm>
        </p:spPr>
        <p:txBody>
          <a:bodyPr wrap="square" anchor="ctr">
            <a:normAutofit/>
          </a:bodyPr>
          <a:lstStyle>
            <a:lvl1pPr algn="l"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278000" y="2340000"/>
            <a:ext cx="3060000" cy="2361600"/>
          </a:xfrm>
        </p:spPr>
        <p:txBody>
          <a:bodyPr wrap="none" bIns="252000" anchor="ctr">
            <a:normAutofit/>
          </a:bodyPr>
          <a:lstStyle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 userDrawn="1">
            <p:custDataLst>
              <p:tags r:id="rId1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2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>
            <p:custDataLst>
              <p:tags r:id="rId3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3" name="文本框 22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6" name="文本框 25"/>
          <p:cNvSpPr txBox="1"/>
          <p:nvPr userDrawn="1">
            <p:custDataLst>
              <p:tags r:id="rId5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7" name="文本框 26"/>
          <p:cNvSpPr txBox="1"/>
          <p:nvPr userDrawn="1">
            <p:custDataLst>
              <p:tags r:id="rId6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298065" y="2835910"/>
            <a:ext cx="7595870" cy="1540510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2707200" y="2026800"/>
            <a:ext cx="67752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4656000" y="4618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5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2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18"/>
            </p:custDataLst>
          </p:nvPr>
        </p:nvSpPr>
        <p:spPr>
          <a:xfrm flipH="1" flipV="1">
            <a:off x="10631170" y="498475"/>
            <a:ext cx="151765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19"/>
            </p:custDataLst>
          </p:nvPr>
        </p:nvSpPr>
        <p:spPr>
          <a:xfrm flipH="1" flipV="1">
            <a:off x="10864215" y="498475"/>
            <a:ext cx="147320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20"/>
            </p:custDataLst>
          </p:nvPr>
        </p:nvSpPr>
        <p:spPr>
          <a:xfrm flipH="1">
            <a:off x="10270490" y="134620"/>
            <a:ext cx="1921510" cy="742950"/>
          </a:xfrm>
          <a:custGeom>
            <a:avLst/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5"/>
          <p:cNvSpPr/>
          <p:nvPr userDrawn="1">
            <p:custDataLst>
              <p:tags r:id="rId21"/>
            </p:custDataLst>
          </p:nvPr>
        </p:nvSpPr>
        <p:spPr>
          <a:xfrm flipV="1">
            <a:off x="914400" y="449580"/>
            <a:ext cx="10406380" cy="749935"/>
          </a:xfrm>
          <a:custGeom>
            <a:avLst/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4.wmf"/><Relationship Id="rId4" Type="http://schemas.openxmlformats.org/officeDocument/2006/relationships/image" Target="../media/image19.svg"/><Relationship Id="rId9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0000"/>
                </a:srgbClr>
              </a:gs>
              <a:gs pos="50000">
                <a:srgbClr val="FFFFFF">
                  <a:alpha val="85000"/>
                </a:srgbClr>
              </a:gs>
              <a:gs pos="100000">
                <a:srgbClr val="1F2937">
                  <a:alpha val="1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0971" y="1393221"/>
            <a:ext cx="2295525" cy="381000"/>
          </a:xfrm>
          <a:custGeom>
            <a:avLst/>
            <a:gdLst/>
            <a:ahLst/>
            <a:cxnLst/>
            <a:rect l="l" t="t" r="r" b="b"/>
            <a:pathLst>
              <a:path w="2295525" h="381000">
                <a:moveTo>
                  <a:pt x="0" y="0"/>
                </a:moveTo>
                <a:lnTo>
                  <a:pt x="2295525" y="0"/>
                </a:lnTo>
                <a:lnTo>
                  <a:pt x="2295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2"/>
          <p:cNvSpPr/>
          <p:nvPr/>
        </p:nvSpPr>
        <p:spPr>
          <a:xfrm>
            <a:off x="380971" y="1393221"/>
            <a:ext cx="2371725" cy="3810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SIGKDD 2024 · CCF-A类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0971" y="2002687"/>
            <a:ext cx="1171575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DAG：一种无需社群数目先验的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属性图</a:t>
            </a:r>
            <a:r>
              <a:rPr lang="zh-CN" altLang="en-US" sz="4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社区发现</a:t>
            </a:r>
            <a:r>
              <a:rPr lang="en-US" sz="4500" b="1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算法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0971" y="3583767"/>
            <a:ext cx="115728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Deep Adaptive and Generative K-Free Community Detection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280"/>
                </a:solidFill>
                <a:latin typeface="Sorts Mill Goudy" panose="02000503000000000000" pitchFamily="34" charset="0"/>
                <a:ea typeface="Sorts Mill Goudy" panose="02000503000000000000" pitchFamily="34" charset="-122"/>
                <a:cs typeface="Sorts Mill Goudy" panose="02000503000000000000" pitchFamily="34" charset="-120"/>
              </a:rPr>
              <a:t>on Attributed Graphs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0971" y="59436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9" name="Shape 6"/>
          <p:cNvSpPr/>
          <p:nvPr/>
        </p:nvSpPr>
        <p:spPr>
          <a:xfrm>
            <a:off x="564277" y="611508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66674" y="5943641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汇报人：顾雨航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6674" y="6210292"/>
            <a:ext cx="151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学号:2023112451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92730" y="5829467"/>
            <a:ext cx="3114675" cy="647700"/>
          </a:xfrm>
          <a:custGeom>
            <a:avLst/>
            <a:gdLst/>
            <a:ahLst/>
            <a:cxnLst/>
            <a:rect l="l" t="t" r="r" b="b"/>
            <a:pathLst>
              <a:path w="3114675" h="647700">
                <a:moveTo>
                  <a:pt x="0" y="0"/>
                </a:moveTo>
                <a:lnTo>
                  <a:pt x="3114675" y="0"/>
                </a:lnTo>
                <a:lnTo>
                  <a:pt x="3114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13" name="Shape 10"/>
          <p:cNvSpPr/>
          <p:nvPr/>
        </p:nvSpPr>
        <p:spPr>
          <a:xfrm>
            <a:off x="8945110" y="60579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9273670" y="5943714"/>
            <a:ext cx="2371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哈尔滨工业大学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73670" y="6134199"/>
            <a:ext cx="253373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Harbin Institute of Technology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25" y="377725"/>
            <a:ext cx="11606482" cy="3777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论文基本信息与研究概述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77725" y="830966"/>
            <a:ext cx="906609" cy="37775"/>
          </a:xfrm>
          <a:custGeom>
            <a:avLst/>
            <a:gdLst/>
            <a:ahLst/>
            <a:cxnLst/>
            <a:rect l="l" t="t" r="r" b="b"/>
            <a:pathLst>
              <a:path w="906609" h="37775">
                <a:moveTo>
                  <a:pt x="0" y="0"/>
                </a:moveTo>
                <a:lnTo>
                  <a:pt x="906609" y="0"/>
                </a:lnTo>
                <a:lnTo>
                  <a:pt x="906609" y="37775"/>
                </a:lnTo>
                <a:lnTo>
                  <a:pt x="0" y="377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96242" y="1057586"/>
            <a:ext cx="5599828" cy="1850993"/>
          </a:xfrm>
          <a:custGeom>
            <a:avLst/>
            <a:gdLst/>
            <a:ahLst/>
            <a:cxnLst/>
            <a:rect l="l" t="t" r="r" b="b"/>
            <a:pathLst>
              <a:path w="5599828" h="1850993">
                <a:moveTo>
                  <a:pt x="0" y="0"/>
                </a:moveTo>
                <a:lnTo>
                  <a:pt x="5599828" y="0"/>
                </a:lnTo>
                <a:lnTo>
                  <a:pt x="5599828" y="1850993"/>
                </a:lnTo>
                <a:lnTo>
                  <a:pt x="0" y="185099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396242" y="1057586"/>
            <a:ext cx="37035" cy="1850993"/>
          </a:xfrm>
          <a:custGeom>
            <a:avLst/>
            <a:gdLst/>
            <a:ahLst/>
            <a:cxnLst/>
            <a:rect l="l" t="t" r="r" b="b"/>
            <a:pathLst>
              <a:path w="37035" h="1850993">
                <a:moveTo>
                  <a:pt x="0" y="0"/>
                </a:moveTo>
                <a:lnTo>
                  <a:pt x="37035" y="0"/>
                </a:lnTo>
                <a:lnTo>
                  <a:pt x="37035" y="1850993"/>
                </a:lnTo>
                <a:lnTo>
                  <a:pt x="0" y="185099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660285" y="1284206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0" y="28332"/>
                </a:moveTo>
                <a:cubicBezTo>
                  <a:pt x="0" y="12705"/>
                  <a:pt x="12705" y="0"/>
                  <a:pt x="28332" y="0"/>
                </a:cubicBezTo>
                <a:lnTo>
                  <a:pt x="94512" y="0"/>
                </a:lnTo>
                <a:cubicBezTo>
                  <a:pt x="102038" y="0"/>
                  <a:pt x="109253" y="2966"/>
                  <a:pt x="114566" y="8278"/>
                </a:cubicBezTo>
                <a:lnTo>
                  <a:pt x="161711" y="55468"/>
                </a:lnTo>
                <a:cubicBezTo>
                  <a:pt x="167023" y="60780"/>
                  <a:pt x="169989" y="67996"/>
                  <a:pt x="169989" y="75521"/>
                </a:cubicBezTo>
                <a:lnTo>
                  <a:pt x="169989" y="198321"/>
                </a:lnTo>
                <a:cubicBezTo>
                  <a:pt x="169989" y="213947"/>
                  <a:pt x="157284" y="226652"/>
                  <a:pt x="141658" y="226652"/>
                </a:cubicBezTo>
                <a:lnTo>
                  <a:pt x="28332" y="226652"/>
                </a:lnTo>
                <a:cubicBezTo>
                  <a:pt x="12705" y="226652"/>
                  <a:pt x="0" y="213947"/>
                  <a:pt x="0" y="198321"/>
                </a:cubicBezTo>
                <a:lnTo>
                  <a:pt x="0" y="28332"/>
                </a:lnTo>
                <a:close/>
                <a:moveTo>
                  <a:pt x="92077" y="25897"/>
                </a:moveTo>
                <a:lnTo>
                  <a:pt x="92077" y="67287"/>
                </a:lnTo>
                <a:cubicBezTo>
                  <a:pt x="92077" y="73175"/>
                  <a:pt x="96814" y="77912"/>
                  <a:pt x="102702" y="77912"/>
                </a:cubicBezTo>
                <a:lnTo>
                  <a:pt x="144092" y="77912"/>
                </a:lnTo>
                <a:lnTo>
                  <a:pt x="92077" y="25897"/>
                </a:lnTo>
                <a:close/>
                <a:moveTo>
                  <a:pt x="53122" y="113326"/>
                </a:moveTo>
                <a:cubicBezTo>
                  <a:pt x="47234" y="113326"/>
                  <a:pt x="42497" y="118063"/>
                  <a:pt x="42497" y="123950"/>
                </a:cubicBezTo>
                <a:cubicBezTo>
                  <a:pt x="42497" y="129838"/>
                  <a:pt x="47234" y="134575"/>
                  <a:pt x="53122" y="134575"/>
                </a:cubicBezTo>
                <a:lnTo>
                  <a:pt x="116868" y="134575"/>
                </a:lnTo>
                <a:cubicBezTo>
                  <a:pt x="122755" y="134575"/>
                  <a:pt x="127492" y="129838"/>
                  <a:pt x="127492" y="123950"/>
                </a:cubicBezTo>
                <a:cubicBezTo>
                  <a:pt x="127492" y="118063"/>
                  <a:pt x="122755" y="113326"/>
                  <a:pt x="116868" y="113326"/>
                </a:cubicBezTo>
                <a:lnTo>
                  <a:pt x="53122" y="113326"/>
                </a:lnTo>
                <a:close/>
                <a:moveTo>
                  <a:pt x="53122" y="155823"/>
                </a:moveTo>
                <a:cubicBezTo>
                  <a:pt x="47234" y="155823"/>
                  <a:pt x="42497" y="160560"/>
                  <a:pt x="42497" y="166448"/>
                </a:cubicBezTo>
                <a:cubicBezTo>
                  <a:pt x="42497" y="172335"/>
                  <a:pt x="47234" y="177072"/>
                  <a:pt x="53122" y="177072"/>
                </a:cubicBezTo>
                <a:lnTo>
                  <a:pt x="116868" y="177072"/>
                </a:lnTo>
                <a:cubicBezTo>
                  <a:pt x="122755" y="177072"/>
                  <a:pt x="127492" y="172335"/>
                  <a:pt x="127492" y="166448"/>
                </a:cubicBezTo>
                <a:cubicBezTo>
                  <a:pt x="127492" y="160560"/>
                  <a:pt x="122755" y="155823"/>
                  <a:pt x="116868" y="155823"/>
                </a:cubicBezTo>
                <a:lnTo>
                  <a:pt x="53122" y="15582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1000153" y="1246448"/>
            <a:ext cx="1019935" cy="302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发表信息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622" y="1775133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0"/>
                </a:moveTo>
                <a:lnTo>
                  <a:pt x="56663" y="0"/>
                </a:lnTo>
                <a:cubicBezTo>
                  <a:pt x="87957" y="0"/>
                  <a:pt x="113326" y="25369"/>
                  <a:pt x="113326" y="56663"/>
                </a:cubicBezTo>
                <a:lnTo>
                  <a:pt x="113326" y="56663"/>
                </a:lnTo>
                <a:cubicBezTo>
                  <a:pt x="113326" y="87957"/>
                  <a:pt x="87957" y="113326"/>
                  <a:pt x="56663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830170" y="1699617"/>
            <a:ext cx="2030426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会议名称：</a:t>
            </a:r>
            <a:r>
              <a:rPr lang="en-US" sz="13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SIGKDD 2024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622" y="2152785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0"/>
                </a:moveTo>
                <a:lnTo>
                  <a:pt x="56663" y="0"/>
                </a:lnTo>
                <a:cubicBezTo>
                  <a:pt x="87957" y="0"/>
                  <a:pt x="113326" y="25369"/>
                  <a:pt x="113326" y="56663"/>
                </a:cubicBezTo>
                <a:lnTo>
                  <a:pt x="113326" y="56663"/>
                </a:lnTo>
                <a:cubicBezTo>
                  <a:pt x="113326" y="87957"/>
                  <a:pt x="87957" y="113326"/>
                  <a:pt x="56663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830170" y="2086528"/>
            <a:ext cx="934984" cy="245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会议等级：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80159" y="2048770"/>
            <a:ext cx="935053" cy="320871"/>
          </a:xfrm>
          <a:custGeom>
            <a:avLst/>
            <a:gdLst/>
            <a:ahLst/>
            <a:cxnLst/>
            <a:rect l="l" t="t" r="r" b="b"/>
            <a:pathLst>
              <a:path w="935053" h="320871">
                <a:moveTo>
                  <a:pt x="0" y="0"/>
                </a:moveTo>
                <a:lnTo>
                  <a:pt x="935053" y="0"/>
                </a:lnTo>
                <a:lnTo>
                  <a:pt x="935053" y="320871"/>
                </a:lnTo>
                <a:lnTo>
                  <a:pt x="0" y="32087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1680159" y="2048770"/>
            <a:ext cx="1020048" cy="320871"/>
          </a:xfrm>
          <a:prstGeom prst="rect">
            <a:avLst/>
          </a:prstGeom>
          <a:noFill/>
        </p:spPr>
        <p:txBody>
          <a:bodyPr wrap="square" lIns="113326" tIns="37775" rIns="113326" bIns="37775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CCF-A类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622" y="2530437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0"/>
                </a:moveTo>
                <a:lnTo>
                  <a:pt x="56663" y="0"/>
                </a:lnTo>
                <a:cubicBezTo>
                  <a:pt x="87957" y="0"/>
                  <a:pt x="113326" y="25369"/>
                  <a:pt x="113326" y="56663"/>
                </a:cubicBezTo>
                <a:lnTo>
                  <a:pt x="113326" y="56663"/>
                </a:lnTo>
                <a:cubicBezTo>
                  <a:pt x="113326" y="87957"/>
                  <a:pt x="87957" y="113326"/>
                  <a:pt x="56663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830170" y="2454922"/>
            <a:ext cx="1747111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发表时间：</a:t>
            </a:r>
            <a:r>
              <a:rPr lang="en-US" sz="13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2024年8月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6242" y="3059194"/>
            <a:ext cx="5599828" cy="1322138"/>
          </a:xfrm>
          <a:custGeom>
            <a:avLst/>
            <a:gdLst/>
            <a:ahLst/>
            <a:cxnLst/>
            <a:rect l="l" t="t" r="r" b="b"/>
            <a:pathLst>
              <a:path w="5599828" h="1322138">
                <a:moveTo>
                  <a:pt x="0" y="0"/>
                </a:moveTo>
                <a:lnTo>
                  <a:pt x="5599828" y="0"/>
                </a:lnTo>
                <a:lnTo>
                  <a:pt x="5599828" y="1322138"/>
                </a:lnTo>
                <a:lnTo>
                  <a:pt x="0" y="132213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Shape 15"/>
          <p:cNvSpPr/>
          <p:nvPr/>
        </p:nvSpPr>
        <p:spPr>
          <a:xfrm>
            <a:off x="396242" y="3059194"/>
            <a:ext cx="37035" cy="1322138"/>
          </a:xfrm>
          <a:custGeom>
            <a:avLst/>
            <a:gdLst/>
            <a:ahLst/>
            <a:cxnLst/>
            <a:rect l="l" t="t" r="r" b="b"/>
            <a:pathLst>
              <a:path w="37035" h="1322138">
                <a:moveTo>
                  <a:pt x="0" y="0"/>
                </a:moveTo>
                <a:lnTo>
                  <a:pt x="37035" y="0"/>
                </a:lnTo>
                <a:lnTo>
                  <a:pt x="37035" y="1322138"/>
                </a:lnTo>
                <a:lnTo>
                  <a:pt x="0" y="1322138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18" name="Shape 16"/>
          <p:cNvSpPr/>
          <p:nvPr/>
        </p:nvSpPr>
        <p:spPr>
          <a:xfrm>
            <a:off x="660285" y="3285814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28332" y="0"/>
                </a:moveTo>
                <a:cubicBezTo>
                  <a:pt x="12705" y="0"/>
                  <a:pt x="0" y="12705"/>
                  <a:pt x="0" y="28332"/>
                </a:cubicBezTo>
                <a:lnTo>
                  <a:pt x="0" y="198321"/>
                </a:lnTo>
                <a:cubicBezTo>
                  <a:pt x="0" y="213947"/>
                  <a:pt x="12705" y="226652"/>
                  <a:pt x="28332" y="226652"/>
                </a:cubicBezTo>
                <a:lnTo>
                  <a:pt x="141658" y="226652"/>
                </a:lnTo>
                <a:cubicBezTo>
                  <a:pt x="157284" y="226652"/>
                  <a:pt x="169989" y="213947"/>
                  <a:pt x="169989" y="198321"/>
                </a:cubicBezTo>
                <a:lnTo>
                  <a:pt x="169989" y="28332"/>
                </a:lnTo>
                <a:cubicBezTo>
                  <a:pt x="169989" y="12705"/>
                  <a:pt x="157284" y="0"/>
                  <a:pt x="141658" y="0"/>
                </a:cubicBezTo>
                <a:lnTo>
                  <a:pt x="28332" y="0"/>
                </a:lnTo>
                <a:close/>
                <a:moveTo>
                  <a:pt x="77912" y="155823"/>
                </a:moveTo>
                <a:lnTo>
                  <a:pt x="92077" y="155823"/>
                </a:lnTo>
                <a:cubicBezTo>
                  <a:pt x="99913" y="155823"/>
                  <a:pt x="106243" y="162154"/>
                  <a:pt x="106243" y="169989"/>
                </a:cubicBezTo>
                <a:lnTo>
                  <a:pt x="106243" y="205404"/>
                </a:lnTo>
                <a:lnTo>
                  <a:pt x="63746" y="205404"/>
                </a:lnTo>
                <a:lnTo>
                  <a:pt x="63746" y="169989"/>
                </a:lnTo>
                <a:cubicBezTo>
                  <a:pt x="63746" y="162154"/>
                  <a:pt x="70076" y="155823"/>
                  <a:pt x="77912" y="155823"/>
                </a:cubicBezTo>
                <a:close/>
                <a:moveTo>
                  <a:pt x="42497" y="49580"/>
                </a:moveTo>
                <a:cubicBezTo>
                  <a:pt x="42497" y="45685"/>
                  <a:pt x="45685" y="42497"/>
                  <a:pt x="49580" y="42497"/>
                </a:cubicBezTo>
                <a:lnTo>
                  <a:pt x="63746" y="42497"/>
                </a:lnTo>
                <a:cubicBezTo>
                  <a:pt x="67642" y="42497"/>
                  <a:pt x="70829" y="45685"/>
                  <a:pt x="70829" y="49580"/>
                </a:cubicBezTo>
                <a:lnTo>
                  <a:pt x="70829" y="63746"/>
                </a:lnTo>
                <a:cubicBezTo>
                  <a:pt x="70829" y="67642"/>
                  <a:pt x="67642" y="70829"/>
                  <a:pt x="63746" y="70829"/>
                </a:cubicBezTo>
                <a:lnTo>
                  <a:pt x="49580" y="70829"/>
                </a:lnTo>
                <a:cubicBezTo>
                  <a:pt x="45685" y="70829"/>
                  <a:pt x="42497" y="67642"/>
                  <a:pt x="42497" y="63746"/>
                </a:cubicBezTo>
                <a:lnTo>
                  <a:pt x="42497" y="49580"/>
                </a:lnTo>
                <a:close/>
                <a:moveTo>
                  <a:pt x="106243" y="42497"/>
                </a:moveTo>
                <a:lnTo>
                  <a:pt x="120409" y="42497"/>
                </a:lnTo>
                <a:cubicBezTo>
                  <a:pt x="124305" y="42497"/>
                  <a:pt x="127492" y="45685"/>
                  <a:pt x="127492" y="49580"/>
                </a:cubicBezTo>
                <a:lnTo>
                  <a:pt x="127492" y="63746"/>
                </a:lnTo>
                <a:cubicBezTo>
                  <a:pt x="127492" y="67642"/>
                  <a:pt x="124305" y="70829"/>
                  <a:pt x="120409" y="70829"/>
                </a:cubicBezTo>
                <a:lnTo>
                  <a:pt x="106243" y="70829"/>
                </a:lnTo>
                <a:cubicBezTo>
                  <a:pt x="102348" y="70829"/>
                  <a:pt x="99160" y="67642"/>
                  <a:pt x="99160" y="63746"/>
                </a:cubicBezTo>
                <a:lnTo>
                  <a:pt x="99160" y="49580"/>
                </a:lnTo>
                <a:cubicBezTo>
                  <a:pt x="99160" y="45685"/>
                  <a:pt x="102348" y="42497"/>
                  <a:pt x="106243" y="42497"/>
                </a:cubicBezTo>
                <a:close/>
                <a:moveTo>
                  <a:pt x="42497" y="106243"/>
                </a:moveTo>
                <a:cubicBezTo>
                  <a:pt x="42497" y="102348"/>
                  <a:pt x="45685" y="99160"/>
                  <a:pt x="49580" y="99160"/>
                </a:cubicBezTo>
                <a:lnTo>
                  <a:pt x="63746" y="99160"/>
                </a:lnTo>
                <a:cubicBezTo>
                  <a:pt x="67642" y="99160"/>
                  <a:pt x="70829" y="102348"/>
                  <a:pt x="70829" y="106243"/>
                </a:cubicBezTo>
                <a:lnTo>
                  <a:pt x="70829" y="120409"/>
                </a:lnTo>
                <a:cubicBezTo>
                  <a:pt x="70829" y="124305"/>
                  <a:pt x="67642" y="127492"/>
                  <a:pt x="63746" y="127492"/>
                </a:cubicBezTo>
                <a:lnTo>
                  <a:pt x="49580" y="127492"/>
                </a:lnTo>
                <a:cubicBezTo>
                  <a:pt x="45685" y="127492"/>
                  <a:pt x="42497" y="124305"/>
                  <a:pt x="42497" y="120409"/>
                </a:cubicBezTo>
                <a:lnTo>
                  <a:pt x="42497" y="106243"/>
                </a:lnTo>
                <a:close/>
                <a:moveTo>
                  <a:pt x="106243" y="99160"/>
                </a:moveTo>
                <a:lnTo>
                  <a:pt x="120409" y="99160"/>
                </a:lnTo>
                <a:cubicBezTo>
                  <a:pt x="124305" y="99160"/>
                  <a:pt x="127492" y="102348"/>
                  <a:pt x="127492" y="106243"/>
                </a:cubicBezTo>
                <a:lnTo>
                  <a:pt x="127492" y="120409"/>
                </a:lnTo>
                <a:cubicBezTo>
                  <a:pt x="127492" y="124305"/>
                  <a:pt x="124305" y="127492"/>
                  <a:pt x="120409" y="127492"/>
                </a:cubicBezTo>
                <a:lnTo>
                  <a:pt x="106243" y="127492"/>
                </a:lnTo>
                <a:cubicBezTo>
                  <a:pt x="102348" y="127492"/>
                  <a:pt x="99160" y="124305"/>
                  <a:pt x="99160" y="120409"/>
                </a:cubicBezTo>
                <a:lnTo>
                  <a:pt x="99160" y="106243"/>
                </a:lnTo>
                <a:cubicBezTo>
                  <a:pt x="99160" y="102348"/>
                  <a:pt x="102348" y="99160"/>
                  <a:pt x="106243" y="9916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19" name="Text 17"/>
          <p:cNvSpPr/>
          <p:nvPr/>
        </p:nvSpPr>
        <p:spPr>
          <a:xfrm>
            <a:off x="1000153" y="3248057"/>
            <a:ext cx="1019935" cy="302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工业背景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622" y="3701226"/>
            <a:ext cx="5279108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en-US" sz="119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腾讯互娱（IEG）</a:t>
            </a: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真实场景，针对具有</a:t>
            </a:r>
            <a:r>
              <a:rPr lang="en-US" sz="119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规模大、语义丰富、偏好复杂 </a:t>
            </a: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的社交网络进行研究。节点包含玩家等级、玩法偏好等多维属性信息。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6242" y="4532119"/>
            <a:ext cx="5599828" cy="1322138"/>
          </a:xfrm>
          <a:custGeom>
            <a:avLst/>
            <a:gdLst/>
            <a:ahLst/>
            <a:cxnLst/>
            <a:rect l="l" t="t" r="r" b="b"/>
            <a:pathLst>
              <a:path w="5599828" h="1322138">
                <a:moveTo>
                  <a:pt x="0" y="0"/>
                </a:moveTo>
                <a:lnTo>
                  <a:pt x="5599828" y="0"/>
                </a:lnTo>
                <a:lnTo>
                  <a:pt x="5599828" y="1322138"/>
                </a:lnTo>
                <a:lnTo>
                  <a:pt x="0" y="132213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2" name="Shape 20"/>
          <p:cNvSpPr/>
          <p:nvPr/>
        </p:nvSpPr>
        <p:spPr>
          <a:xfrm>
            <a:off x="396242" y="4532119"/>
            <a:ext cx="37035" cy="1322138"/>
          </a:xfrm>
          <a:custGeom>
            <a:avLst/>
            <a:gdLst/>
            <a:ahLst/>
            <a:cxnLst/>
            <a:rect l="l" t="t" r="r" b="b"/>
            <a:pathLst>
              <a:path w="37035" h="1322138">
                <a:moveTo>
                  <a:pt x="0" y="0"/>
                </a:moveTo>
                <a:lnTo>
                  <a:pt x="37035" y="0"/>
                </a:lnTo>
                <a:lnTo>
                  <a:pt x="37035" y="1322138"/>
                </a:lnTo>
                <a:lnTo>
                  <a:pt x="0" y="1322138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23" name="Shape 21"/>
          <p:cNvSpPr/>
          <p:nvPr/>
        </p:nvSpPr>
        <p:spPr>
          <a:xfrm>
            <a:off x="631953" y="4758739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cubicBezTo>
                  <a:pt x="119834" y="0"/>
                  <a:pt x="125810" y="3586"/>
                  <a:pt x="128908" y="9296"/>
                </a:cubicBezTo>
                <a:lnTo>
                  <a:pt x="224527" y="186368"/>
                </a:lnTo>
                <a:cubicBezTo>
                  <a:pt x="227493" y="191858"/>
                  <a:pt x="227360" y="198498"/>
                  <a:pt x="224173" y="203854"/>
                </a:cubicBezTo>
                <a:cubicBezTo>
                  <a:pt x="220986" y="209211"/>
                  <a:pt x="215187" y="212486"/>
                  <a:pt x="208945" y="212486"/>
                </a:cubicBezTo>
                <a:lnTo>
                  <a:pt x="17707" y="212486"/>
                </a:lnTo>
                <a:cubicBezTo>
                  <a:pt x="11465" y="212486"/>
                  <a:pt x="5711" y="209211"/>
                  <a:pt x="2479" y="203854"/>
                </a:cubicBezTo>
                <a:cubicBezTo>
                  <a:pt x="-753" y="198498"/>
                  <a:pt x="-841" y="191858"/>
                  <a:pt x="2125" y="186368"/>
                </a:cubicBezTo>
                <a:lnTo>
                  <a:pt x="97744" y="9296"/>
                </a:lnTo>
                <a:cubicBezTo>
                  <a:pt x="100843" y="3586"/>
                  <a:pt x="106819" y="0"/>
                  <a:pt x="113326" y="0"/>
                </a:cubicBezTo>
                <a:close/>
                <a:moveTo>
                  <a:pt x="113326" y="74370"/>
                </a:moveTo>
                <a:cubicBezTo>
                  <a:pt x="107438" y="74370"/>
                  <a:pt x="102702" y="79107"/>
                  <a:pt x="102702" y="84995"/>
                </a:cubicBezTo>
                <a:lnTo>
                  <a:pt x="102702" y="134575"/>
                </a:lnTo>
                <a:cubicBezTo>
                  <a:pt x="102702" y="140462"/>
                  <a:pt x="107438" y="145199"/>
                  <a:pt x="113326" y="145199"/>
                </a:cubicBezTo>
                <a:cubicBezTo>
                  <a:pt x="119214" y="145199"/>
                  <a:pt x="123950" y="140462"/>
                  <a:pt x="123950" y="134575"/>
                </a:cubicBezTo>
                <a:lnTo>
                  <a:pt x="123950" y="84995"/>
                </a:lnTo>
                <a:cubicBezTo>
                  <a:pt x="123950" y="79107"/>
                  <a:pt x="119214" y="74370"/>
                  <a:pt x="113326" y="74370"/>
                </a:cubicBezTo>
                <a:close/>
                <a:moveTo>
                  <a:pt x="125146" y="169989"/>
                </a:moveTo>
                <a:cubicBezTo>
                  <a:pt x="125415" y="165602"/>
                  <a:pt x="123227" y="161428"/>
                  <a:pt x="119466" y="159153"/>
                </a:cubicBezTo>
                <a:cubicBezTo>
                  <a:pt x="115705" y="156878"/>
                  <a:pt x="110992" y="156878"/>
                  <a:pt x="107231" y="159153"/>
                </a:cubicBezTo>
                <a:cubicBezTo>
                  <a:pt x="103470" y="161428"/>
                  <a:pt x="101282" y="165602"/>
                  <a:pt x="101551" y="169989"/>
                </a:cubicBezTo>
                <a:cubicBezTo>
                  <a:pt x="101282" y="174376"/>
                  <a:pt x="103470" y="178551"/>
                  <a:pt x="107231" y="180826"/>
                </a:cubicBezTo>
                <a:cubicBezTo>
                  <a:pt x="110992" y="183100"/>
                  <a:pt x="115705" y="183100"/>
                  <a:pt x="119466" y="180826"/>
                </a:cubicBezTo>
                <a:cubicBezTo>
                  <a:pt x="123227" y="178551"/>
                  <a:pt x="125415" y="174376"/>
                  <a:pt x="125146" y="169989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24" name="Text 22"/>
          <p:cNvSpPr/>
          <p:nvPr/>
        </p:nvSpPr>
        <p:spPr>
          <a:xfrm>
            <a:off x="1000153" y="4720981"/>
            <a:ext cx="1019935" cy="302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解决痛点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622" y="5174149"/>
            <a:ext cx="5279108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突破了传统深度图聚类（DGC）</a:t>
            </a:r>
            <a:r>
              <a:rPr lang="en-US" sz="119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必须预设"社群数目K"</a:t>
            </a: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的限制，解决了算法在真实工业场景（K未知）无法落地的难题。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3761" y="868991"/>
            <a:ext cx="5619086" cy="2266522"/>
          </a:xfrm>
          <a:custGeom>
            <a:avLst/>
            <a:gdLst/>
            <a:ahLst/>
            <a:cxnLst/>
            <a:rect l="l" t="t" r="r" b="b"/>
            <a:pathLst>
              <a:path w="5619086" h="2266522">
                <a:moveTo>
                  <a:pt x="0" y="0"/>
                </a:moveTo>
                <a:lnTo>
                  <a:pt x="5619086" y="0"/>
                </a:lnTo>
                <a:lnTo>
                  <a:pt x="5619086" y="2266522"/>
                </a:lnTo>
                <a:lnTo>
                  <a:pt x="0" y="2266522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27" name="Shape 25"/>
          <p:cNvSpPr/>
          <p:nvPr/>
        </p:nvSpPr>
        <p:spPr>
          <a:xfrm>
            <a:off x="6429287" y="1095611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129661" y="169989"/>
                </a:moveTo>
                <a:cubicBezTo>
                  <a:pt x="132893" y="160117"/>
                  <a:pt x="139356" y="151175"/>
                  <a:pt x="146660" y="143473"/>
                </a:cubicBezTo>
                <a:cubicBezTo>
                  <a:pt x="161136" y="128244"/>
                  <a:pt x="169989" y="107660"/>
                  <a:pt x="169989" y="84995"/>
                </a:cubicBezTo>
                <a:cubicBezTo>
                  <a:pt x="169989" y="38070"/>
                  <a:pt x="131919" y="0"/>
                  <a:pt x="84995" y="0"/>
                </a:cubicBezTo>
                <a:cubicBezTo>
                  <a:pt x="38070" y="0"/>
                  <a:pt x="0" y="38070"/>
                  <a:pt x="0" y="84995"/>
                </a:cubicBezTo>
                <a:cubicBezTo>
                  <a:pt x="0" y="107660"/>
                  <a:pt x="8854" y="128244"/>
                  <a:pt x="23329" y="143473"/>
                </a:cubicBezTo>
                <a:cubicBezTo>
                  <a:pt x="30633" y="151175"/>
                  <a:pt x="37141" y="160117"/>
                  <a:pt x="40328" y="169989"/>
                </a:cubicBezTo>
                <a:lnTo>
                  <a:pt x="129617" y="169989"/>
                </a:lnTo>
                <a:close/>
                <a:moveTo>
                  <a:pt x="127492" y="191238"/>
                </a:moveTo>
                <a:lnTo>
                  <a:pt x="42497" y="191238"/>
                </a:lnTo>
                <a:lnTo>
                  <a:pt x="42497" y="198321"/>
                </a:lnTo>
                <a:cubicBezTo>
                  <a:pt x="42497" y="217887"/>
                  <a:pt x="58345" y="233735"/>
                  <a:pt x="77912" y="233735"/>
                </a:cubicBezTo>
                <a:lnTo>
                  <a:pt x="92077" y="233735"/>
                </a:lnTo>
                <a:cubicBezTo>
                  <a:pt x="111644" y="233735"/>
                  <a:pt x="127492" y="217887"/>
                  <a:pt x="127492" y="198321"/>
                </a:cubicBezTo>
                <a:lnTo>
                  <a:pt x="127492" y="191238"/>
                </a:lnTo>
                <a:close/>
                <a:moveTo>
                  <a:pt x="81453" y="49580"/>
                </a:moveTo>
                <a:cubicBezTo>
                  <a:pt x="63834" y="49580"/>
                  <a:pt x="49580" y="63834"/>
                  <a:pt x="49580" y="81453"/>
                </a:cubicBezTo>
                <a:cubicBezTo>
                  <a:pt x="49580" y="87341"/>
                  <a:pt x="44843" y="92077"/>
                  <a:pt x="38956" y="92077"/>
                </a:cubicBezTo>
                <a:cubicBezTo>
                  <a:pt x="33068" y="92077"/>
                  <a:pt x="28332" y="87341"/>
                  <a:pt x="28332" y="81453"/>
                </a:cubicBezTo>
                <a:cubicBezTo>
                  <a:pt x="28332" y="52103"/>
                  <a:pt x="52103" y="28332"/>
                  <a:pt x="81453" y="28332"/>
                </a:cubicBezTo>
                <a:cubicBezTo>
                  <a:pt x="87341" y="28332"/>
                  <a:pt x="92077" y="33068"/>
                  <a:pt x="92077" y="38956"/>
                </a:cubicBezTo>
                <a:cubicBezTo>
                  <a:pt x="92077" y="44843"/>
                  <a:pt x="87341" y="49580"/>
                  <a:pt x="81453" y="4958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6769155" y="1057853"/>
            <a:ext cx="1019935" cy="302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技术方案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2624" y="1511022"/>
            <a:ext cx="5316883" cy="491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提出</a:t>
            </a:r>
            <a:r>
              <a:rPr lang="en-US" sz="119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DAG学习框架</a:t>
            </a:r>
            <a:r>
              <a:rPr lang="en-US" sz="11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，基于生成式自监督学习，结合社群隶属网络与组稀疏技术，实现自动搜索社群数目。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2624" y="2153053"/>
            <a:ext cx="1671560" cy="793283"/>
          </a:xfrm>
          <a:custGeom>
            <a:avLst/>
            <a:gdLst/>
            <a:ahLst/>
            <a:cxnLst/>
            <a:rect l="l" t="t" r="r" b="b"/>
            <a:pathLst>
              <a:path w="1671560" h="793283">
                <a:moveTo>
                  <a:pt x="0" y="0"/>
                </a:moveTo>
                <a:lnTo>
                  <a:pt x="1671560" y="0"/>
                </a:lnTo>
                <a:lnTo>
                  <a:pt x="1671560" y="793283"/>
                </a:lnTo>
                <a:lnTo>
                  <a:pt x="0" y="793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15069" y="2266327"/>
            <a:ext cx="1586565" cy="339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2844" y="2644051"/>
            <a:ext cx="1511015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核心组件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8534" y="2153053"/>
            <a:ext cx="1671560" cy="793283"/>
          </a:xfrm>
          <a:custGeom>
            <a:avLst/>
            <a:gdLst/>
            <a:ahLst/>
            <a:cxnLst/>
            <a:rect l="l" t="t" r="r" b="b"/>
            <a:pathLst>
              <a:path w="1671560" h="793283">
                <a:moveTo>
                  <a:pt x="0" y="0"/>
                </a:moveTo>
                <a:lnTo>
                  <a:pt x="1671560" y="0"/>
                </a:lnTo>
                <a:lnTo>
                  <a:pt x="1671560" y="793283"/>
                </a:lnTo>
                <a:lnTo>
                  <a:pt x="0" y="793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8200979" y="2266327"/>
            <a:ext cx="1586565" cy="339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端到端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38755" y="2644051"/>
            <a:ext cx="1511015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训练方式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944444" y="2153053"/>
            <a:ext cx="1671560" cy="793283"/>
          </a:xfrm>
          <a:custGeom>
            <a:avLst/>
            <a:gdLst/>
            <a:ahLst/>
            <a:cxnLst/>
            <a:rect l="l" t="t" r="r" b="b"/>
            <a:pathLst>
              <a:path w="1671560" h="793283">
                <a:moveTo>
                  <a:pt x="0" y="0"/>
                </a:moveTo>
                <a:lnTo>
                  <a:pt x="1671560" y="0"/>
                </a:lnTo>
                <a:lnTo>
                  <a:pt x="1671560" y="793283"/>
                </a:lnTo>
                <a:lnTo>
                  <a:pt x="0" y="793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9986890" y="2266327"/>
            <a:ext cx="1586565" cy="339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K-Free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24665" y="2644051"/>
            <a:ext cx="1511015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无需先验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3761" y="3286082"/>
            <a:ext cx="5619086" cy="1624341"/>
          </a:xfrm>
          <a:custGeom>
            <a:avLst/>
            <a:gdLst/>
            <a:ahLst/>
            <a:cxnLst/>
            <a:rect l="l" t="t" r="r" b="b"/>
            <a:pathLst>
              <a:path w="5619086" h="1624341">
                <a:moveTo>
                  <a:pt x="0" y="0"/>
                </a:moveTo>
                <a:lnTo>
                  <a:pt x="5619086" y="0"/>
                </a:lnTo>
                <a:lnTo>
                  <a:pt x="5619086" y="1624341"/>
                </a:lnTo>
                <a:lnTo>
                  <a:pt x="0" y="162434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0" name="Shape 38"/>
          <p:cNvSpPr/>
          <p:nvPr/>
        </p:nvSpPr>
        <p:spPr>
          <a:xfrm>
            <a:off x="6400955" y="3512702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28332" y="28332"/>
                </a:moveTo>
                <a:cubicBezTo>
                  <a:pt x="28332" y="20496"/>
                  <a:pt x="22001" y="14166"/>
                  <a:pt x="14166" y="14166"/>
                </a:cubicBezTo>
                <a:cubicBezTo>
                  <a:pt x="6330" y="14166"/>
                  <a:pt x="0" y="20496"/>
                  <a:pt x="0" y="28332"/>
                </a:cubicBezTo>
                <a:lnTo>
                  <a:pt x="0" y="177072"/>
                </a:lnTo>
                <a:cubicBezTo>
                  <a:pt x="0" y="196638"/>
                  <a:pt x="15848" y="212486"/>
                  <a:pt x="35414" y="212486"/>
                </a:cubicBezTo>
                <a:lnTo>
                  <a:pt x="212486" y="212486"/>
                </a:lnTo>
                <a:cubicBezTo>
                  <a:pt x="220322" y="212486"/>
                  <a:pt x="226652" y="206156"/>
                  <a:pt x="226652" y="198321"/>
                </a:cubicBezTo>
                <a:cubicBezTo>
                  <a:pt x="226652" y="190485"/>
                  <a:pt x="220322" y="184155"/>
                  <a:pt x="212486" y="184155"/>
                </a:cubicBezTo>
                <a:lnTo>
                  <a:pt x="35414" y="184155"/>
                </a:lnTo>
                <a:cubicBezTo>
                  <a:pt x="31519" y="184155"/>
                  <a:pt x="28332" y="180968"/>
                  <a:pt x="28332" y="177072"/>
                </a:cubicBezTo>
                <a:lnTo>
                  <a:pt x="28332" y="28332"/>
                </a:lnTo>
                <a:close/>
                <a:moveTo>
                  <a:pt x="208325" y="66668"/>
                </a:moveTo>
                <a:cubicBezTo>
                  <a:pt x="213859" y="61134"/>
                  <a:pt x="213859" y="52148"/>
                  <a:pt x="208325" y="46614"/>
                </a:cubicBezTo>
                <a:cubicBezTo>
                  <a:pt x="202792" y="41081"/>
                  <a:pt x="193805" y="41081"/>
                  <a:pt x="188272" y="46614"/>
                </a:cubicBezTo>
                <a:lnTo>
                  <a:pt x="141658" y="93273"/>
                </a:lnTo>
                <a:lnTo>
                  <a:pt x="116248" y="67907"/>
                </a:lnTo>
                <a:cubicBezTo>
                  <a:pt x="110714" y="62374"/>
                  <a:pt x="101728" y="62374"/>
                  <a:pt x="96194" y="67907"/>
                </a:cubicBezTo>
                <a:lnTo>
                  <a:pt x="53697" y="110404"/>
                </a:lnTo>
                <a:cubicBezTo>
                  <a:pt x="48164" y="115938"/>
                  <a:pt x="48164" y="124924"/>
                  <a:pt x="53697" y="130458"/>
                </a:cubicBezTo>
                <a:cubicBezTo>
                  <a:pt x="59231" y="135991"/>
                  <a:pt x="68217" y="135991"/>
                  <a:pt x="73751" y="130458"/>
                </a:cubicBezTo>
                <a:lnTo>
                  <a:pt x="106243" y="97965"/>
                </a:lnTo>
                <a:lnTo>
                  <a:pt x="131653" y="123375"/>
                </a:lnTo>
                <a:cubicBezTo>
                  <a:pt x="137187" y="128908"/>
                  <a:pt x="146173" y="128908"/>
                  <a:pt x="151706" y="123375"/>
                </a:cubicBezTo>
                <a:lnTo>
                  <a:pt x="208370" y="6671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6769155" y="3474944"/>
            <a:ext cx="1019935" cy="302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应用效果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72624" y="4079217"/>
            <a:ext cx="2852040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已部署于腾讯多款游戏中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72624" y="4381354"/>
            <a:ext cx="2842596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FFFFFF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实测新增好友数目相较于目前最先进算法提升：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49625" y="3928113"/>
            <a:ext cx="2370404" cy="566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4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+7.35%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66833" y="4532530"/>
            <a:ext cx="2153196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40" dirty="0">
                <a:solidFill>
                  <a:srgbClr val="FFFFFF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新增好友数目提升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88391" y="5065916"/>
            <a:ext cx="5609457" cy="1595824"/>
          </a:xfrm>
          <a:custGeom>
            <a:avLst/>
            <a:gdLst/>
            <a:ahLst/>
            <a:cxnLst/>
            <a:rect l="l" t="t" r="r" b="b"/>
            <a:pathLst>
              <a:path w="5609457" h="1595824">
                <a:moveTo>
                  <a:pt x="0" y="0"/>
                </a:moveTo>
                <a:lnTo>
                  <a:pt x="5609457" y="0"/>
                </a:lnTo>
                <a:lnTo>
                  <a:pt x="5609457" y="1595824"/>
                </a:lnTo>
                <a:lnTo>
                  <a:pt x="0" y="1595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451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5492" y="5297166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53232" y="0"/>
                </a:moveTo>
                <a:lnTo>
                  <a:pt x="135866" y="0"/>
                </a:lnTo>
                <a:cubicBezTo>
                  <a:pt x="145642" y="0"/>
                  <a:pt x="153610" y="8042"/>
                  <a:pt x="153241" y="17781"/>
                </a:cubicBezTo>
                <a:cubicBezTo>
                  <a:pt x="153167" y="19736"/>
                  <a:pt x="153094" y="21691"/>
                  <a:pt x="152983" y="23610"/>
                </a:cubicBezTo>
                <a:lnTo>
                  <a:pt x="171280" y="23610"/>
                </a:lnTo>
                <a:cubicBezTo>
                  <a:pt x="180909" y="23610"/>
                  <a:pt x="189393" y="31578"/>
                  <a:pt x="188655" y="41981"/>
                </a:cubicBezTo>
                <a:cubicBezTo>
                  <a:pt x="185889" y="80236"/>
                  <a:pt x="166337" y="101263"/>
                  <a:pt x="145125" y="112256"/>
                </a:cubicBezTo>
                <a:cubicBezTo>
                  <a:pt x="139297" y="115281"/>
                  <a:pt x="133357" y="117532"/>
                  <a:pt x="127713" y="119192"/>
                </a:cubicBezTo>
                <a:cubicBezTo>
                  <a:pt x="120261" y="129742"/>
                  <a:pt x="112515" y="135313"/>
                  <a:pt x="106354" y="138301"/>
                </a:cubicBezTo>
                <a:lnTo>
                  <a:pt x="106354" y="165267"/>
                </a:lnTo>
                <a:lnTo>
                  <a:pt x="129963" y="165267"/>
                </a:lnTo>
                <a:cubicBezTo>
                  <a:pt x="136493" y="165267"/>
                  <a:pt x="141768" y="170543"/>
                  <a:pt x="141768" y="177072"/>
                </a:cubicBezTo>
                <a:cubicBezTo>
                  <a:pt x="141768" y="183602"/>
                  <a:pt x="136493" y="188877"/>
                  <a:pt x="129963" y="188877"/>
                </a:cubicBezTo>
                <a:lnTo>
                  <a:pt x="59135" y="188877"/>
                </a:lnTo>
                <a:cubicBezTo>
                  <a:pt x="52605" y="188877"/>
                  <a:pt x="47330" y="183602"/>
                  <a:pt x="47330" y="177072"/>
                </a:cubicBezTo>
                <a:cubicBezTo>
                  <a:pt x="47330" y="170543"/>
                  <a:pt x="52605" y="165267"/>
                  <a:pt x="59135" y="165267"/>
                </a:cubicBezTo>
                <a:lnTo>
                  <a:pt x="82744" y="165267"/>
                </a:lnTo>
                <a:lnTo>
                  <a:pt x="82744" y="138301"/>
                </a:lnTo>
                <a:cubicBezTo>
                  <a:pt x="76842" y="135460"/>
                  <a:pt x="69501" y="130185"/>
                  <a:pt x="62344" y="120483"/>
                </a:cubicBezTo>
                <a:cubicBezTo>
                  <a:pt x="55556" y="118712"/>
                  <a:pt x="48178" y="116019"/>
                  <a:pt x="40985" y="111961"/>
                </a:cubicBezTo>
                <a:cubicBezTo>
                  <a:pt x="21027" y="100784"/>
                  <a:pt x="3025" y="79719"/>
                  <a:pt x="443" y="41907"/>
                </a:cubicBezTo>
                <a:cubicBezTo>
                  <a:pt x="-258" y="31541"/>
                  <a:pt x="8190" y="23573"/>
                  <a:pt x="17818" y="23573"/>
                </a:cubicBezTo>
                <a:lnTo>
                  <a:pt x="36115" y="23573"/>
                </a:lnTo>
                <a:cubicBezTo>
                  <a:pt x="36005" y="21654"/>
                  <a:pt x="35931" y="19736"/>
                  <a:pt x="35857" y="17744"/>
                </a:cubicBezTo>
                <a:cubicBezTo>
                  <a:pt x="35488" y="7968"/>
                  <a:pt x="43456" y="-37"/>
                  <a:pt x="53232" y="-37"/>
                </a:cubicBezTo>
                <a:close/>
                <a:moveTo>
                  <a:pt x="37443" y="41317"/>
                </a:moveTo>
                <a:lnTo>
                  <a:pt x="18113" y="41317"/>
                </a:lnTo>
                <a:cubicBezTo>
                  <a:pt x="20400" y="72563"/>
                  <a:pt x="34750" y="88204"/>
                  <a:pt x="49543" y="96504"/>
                </a:cubicBezTo>
                <a:cubicBezTo>
                  <a:pt x="44231" y="82744"/>
                  <a:pt x="39841" y="64779"/>
                  <a:pt x="37443" y="41317"/>
                </a:cubicBezTo>
                <a:close/>
                <a:moveTo>
                  <a:pt x="140182" y="94734"/>
                </a:moveTo>
                <a:cubicBezTo>
                  <a:pt x="155122" y="85954"/>
                  <a:pt x="168624" y="70349"/>
                  <a:pt x="170911" y="41317"/>
                </a:cubicBezTo>
                <a:lnTo>
                  <a:pt x="151618" y="41317"/>
                </a:lnTo>
                <a:cubicBezTo>
                  <a:pt x="149331" y="63783"/>
                  <a:pt x="145199" y="81232"/>
                  <a:pt x="140182" y="9473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8" name="Text 46"/>
          <p:cNvSpPr/>
          <p:nvPr/>
        </p:nvSpPr>
        <p:spPr>
          <a:xfrm>
            <a:off x="6731252" y="5259408"/>
            <a:ext cx="849946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1882" y="5637061"/>
            <a:ext cx="5297995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①</a:t>
            </a: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首个端到端K-Free深度社群检测框架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1882" y="5939197"/>
            <a:ext cx="5297995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②</a:t>
            </a: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提出EDGE评估指标，无需Ground Truth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1882" y="6241334"/>
            <a:ext cx="5297995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③</a:t>
            </a:r>
            <a:r>
              <a:rPr lang="en-US" sz="11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工业级大规模部署验证有效性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6" name="序号"/>
          <p:cNvSpPr txBox="1"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631550" y="734421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3600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01</a:t>
            </a: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6770260" y="806421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研究背景与核心痛点</a:t>
            </a:r>
          </a:p>
        </p:txBody>
      </p:sp>
      <p:sp>
        <p:nvSpPr>
          <p:cNvPr id="22" name="序号"/>
          <p:cNvSpPr txBox="1"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631550" y="1919710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02</a:t>
            </a:r>
          </a:p>
        </p:txBody>
      </p:sp>
      <p:sp>
        <p:nvSpPr>
          <p:cNvPr id="23" name="项标题"/>
          <p:cNvSpPr txBox="1"/>
          <p:nvPr>
            <p:custDataLst>
              <p:tags r:id="rId6"/>
            </p:custDataLst>
          </p:nvPr>
        </p:nvSpPr>
        <p:spPr>
          <a:xfrm>
            <a:off x="6770260" y="1991710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DAG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模型总体架构</a:t>
            </a:r>
          </a:p>
        </p:txBody>
      </p:sp>
      <p:sp>
        <p:nvSpPr>
          <p:cNvPr id="25" name="序号"/>
          <p:cNvSpPr txBox="1"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631550" y="3105000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03</a:t>
            </a:r>
          </a:p>
        </p:txBody>
      </p:sp>
      <p:sp>
        <p:nvSpPr>
          <p:cNvPr id="26" name="项标题"/>
          <p:cNvSpPr txBox="1"/>
          <p:nvPr>
            <p:custDataLst>
              <p:tags r:id="rId8"/>
            </p:custDataLst>
          </p:nvPr>
        </p:nvSpPr>
        <p:spPr>
          <a:xfrm>
            <a:off x="6770260" y="3177000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EDGE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评估指标</a:t>
            </a: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631550" y="4290290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04</a:t>
            </a:r>
          </a:p>
        </p:txBody>
      </p:sp>
      <p:sp>
        <p:nvSpPr>
          <p:cNvPr id="29" name="项标题"/>
          <p:cNvSpPr txBox="1"/>
          <p:nvPr>
            <p:custDataLst>
              <p:tags r:id="rId10"/>
            </p:custDataLst>
          </p:nvPr>
        </p:nvSpPr>
        <p:spPr>
          <a:xfrm>
            <a:off x="6770260" y="4362290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实验验证</a:t>
            </a:r>
          </a:p>
        </p:txBody>
      </p:sp>
      <p:sp>
        <p:nvSpPr>
          <p:cNvPr id="3" name="序号"/>
          <p:cNvSpPr txBox="1"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631550" y="5475579"/>
            <a:ext cx="648000" cy="648000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05</a:t>
            </a:r>
          </a:p>
        </p:txBody>
      </p:sp>
      <p:sp>
        <p:nvSpPr>
          <p:cNvPr id="5" name="项标题"/>
          <p:cNvSpPr txBox="1"/>
          <p:nvPr>
            <p:custDataLst>
              <p:tags r:id="rId12"/>
            </p:custDataLst>
          </p:nvPr>
        </p:nvSpPr>
        <p:spPr>
          <a:xfrm>
            <a:off x="6770260" y="5547579"/>
            <a:ext cx="4094144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业界实战</a:t>
            </a:r>
          </a:p>
        </p:txBody>
      </p:sp>
      <p:sp>
        <p:nvSpPr>
          <p:cNvPr id="33" name="任意多边形 32"/>
          <p:cNvSpPr/>
          <p:nvPr>
            <p:custDataLst>
              <p:tags r:id="rId13"/>
            </p:custDataLst>
          </p:nvPr>
        </p:nvSpPr>
        <p:spPr>
          <a:xfrm>
            <a:off x="1337834" y="3705840"/>
            <a:ext cx="2252137" cy="32038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47" y="357247"/>
            <a:ext cx="11638224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研究背景与核心痛点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7247" y="785917"/>
            <a:ext cx="857459" cy="35727"/>
          </a:xfrm>
          <a:custGeom>
            <a:avLst/>
            <a:gdLst/>
            <a:ahLst/>
            <a:cxnLst/>
            <a:rect l="l" t="t" r="r" b="b"/>
            <a:pathLst>
              <a:path w="857459" h="35727">
                <a:moveTo>
                  <a:pt x="0" y="0"/>
                </a:moveTo>
                <a:lnTo>
                  <a:pt x="857459" y="0"/>
                </a:lnTo>
                <a:lnTo>
                  <a:pt x="857459" y="35727"/>
                </a:lnTo>
                <a:lnTo>
                  <a:pt x="0" y="3572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74761" y="1000251"/>
            <a:ext cx="5635659" cy="2608105"/>
          </a:xfrm>
          <a:custGeom>
            <a:avLst/>
            <a:gdLst/>
            <a:ahLst/>
            <a:cxnLst/>
            <a:rect l="l" t="t" r="r" b="b"/>
            <a:pathLst>
              <a:path w="5635659" h="2608105">
                <a:moveTo>
                  <a:pt x="0" y="0"/>
                </a:moveTo>
                <a:lnTo>
                  <a:pt x="5635659" y="0"/>
                </a:lnTo>
                <a:lnTo>
                  <a:pt x="5635659" y="2608105"/>
                </a:lnTo>
                <a:lnTo>
                  <a:pt x="0" y="260810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374761" y="1000251"/>
            <a:ext cx="35027" cy="2608105"/>
          </a:xfrm>
          <a:custGeom>
            <a:avLst/>
            <a:gdLst/>
            <a:ahLst/>
            <a:cxnLst/>
            <a:rect l="l" t="t" r="r" b="b"/>
            <a:pathLst>
              <a:path w="35027" h="2608105">
                <a:moveTo>
                  <a:pt x="0" y="0"/>
                </a:moveTo>
                <a:lnTo>
                  <a:pt x="35027" y="0"/>
                </a:lnTo>
                <a:lnTo>
                  <a:pt x="35027" y="2608105"/>
                </a:lnTo>
                <a:lnTo>
                  <a:pt x="0" y="260810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6" name="Shape 4"/>
          <p:cNvSpPr/>
          <p:nvPr/>
        </p:nvSpPr>
        <p:spPr>
          <a:xfrm>
            <a:off x="570898" y="1178876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7" name="Text 5"/>
          <p:cNvSpPr/>
          <p:nvPr/>
        </p:nvSpPr>
        <p:spPr>
          <a:xfrm>
            <a:off x="526239" y="1178876"/>
            <a:ext cx="446593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5278" y="1214587"/>
            <a:ext cx="2893925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工业背景：社交网络的复杂性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8762" y="1722750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0" y="25121"/>
                </a:moveTo>
                <a:cubicBezTo>
                  <a:pt x="0" y="16800"/>
                  <a:pt x="6751" y="10048"/>
                  <a:pt x="15073" y="10048"/>
                </a:cubicBezTo>
                <a:lnTo>
                  <a:pt x="45218" y="10048"/>
                </a:lnTo>
                <a:cubicBezTo>
                  <a:pt x="53539" y="10048"/>
                  <a:pt x="60290" y="16800"/>
                  <a:pt x="60290" y="25121"/>
                </a:cubicBezTo>
                <a:lnTo>
                  <a:pt x="60290" y="30145"/>
                </a:lnTo>
                <a:lnTo>
                  <a:pt x="100484" y="30145"/>
                </a:lnTo>
                <a:lnTo>
                  <a:pt x="100484" y="25121"/>
                </a:lnTo>
                <a:cubicBezTo>
                  <a:pt x="100484" y="16800"/>
                  <a:pt x="107235" y="10048"/>
                  <a:pt x="115556" y="10048"/>
                </a:cubicBezTo>
                <a:lnTo>
                  <a:pt x="145701" y="10048"/>
                </a:lnTo>
                <a:cubicBezTo>
                  <a:pt x="154022" y="10048"/>
                  <a:pt x="160774" y="16800"/>
                  <a:pt x="160774" y="25121"/>
                </a:cubicBezTo>
                <a:lnTo>
                  <a:pt x="160774" y="55266"/>
                </a:lnTo>
                <a:cubicBezTo>
                  <a:pt x="160774" y="63587"/>
                  <a:pt x="154022" y="70338"/>
                  <a:pt x="145701" y="70338"/>
                </a:cubicBezTo>
                <a:lnTo>
                  <a:pt x="115556" y="70338"/>
                </a:lnTo>
                <a:cubicBezTo>
                  <a:pt x="107235" y="70338"/>
                  <a:pt x="100484" y="63587"/>
                  <a:pt x="100484" y="55266"/>
                </a:cubicBezTo>
                <a:lnTo>
                  <a:pt x="100484" y="50242"/>
                </a:lnTo>
                <a:lnTo>
                  <a:pt x="60290" y="50242"/>
                </a:lnTo>
                <a:lnTo>
                  <a:pt x="60290" y="55266"/>
                </a:lnTo>
                <a:cubicBezTo>
                  <a:pt x="60290" y="57558"/>
                  <a:pt x="59756" y="59756"/>
                  <a:pt x="58846" y="61703"/>
                </a:cubicBezTo>
                <a:lnTo>
                  <a:pt x="80387" y="90435"/>
                </a:lnTo>
                <a:lnTo>
                  <a:pt x="105508" y="90435"/>
                </a:lnTo>
                <a:cubicBezTo>
                  <a:pt x="113829" y="90435"/>
                  <a:pt x="120580" y="97186"/>
                  <a:pt x="120580" y="105508"/>
                </a:cubicBezTo>
                <a:lnTo>
                  <a:pt x="120580" y="135653"/>
                </a:lnTo>
                <a:cubicBezTo>
                  <a:pt x="120580" y="143974"/>
                  <a:pt x="113829" y="150725"/>
                  <a:pt x="105508" y="150725"/>
                </a:cubicBezTo>
                <a:lnTo>
                  <a:pt x="75363" y="150725"/>
                </a:lnTo>
                <a:cubicBezTo>
                  <a:pt x="67041" y="150725"/>
                  <a:pt x="60290" y="143974"/>
                  <a:pt x="60290" y="135653"/>
                </a:cubicBezTo>
                <a:lnTo>
                  <a:pt x="60290" y="105508"/>
                </a:lnTo>
                <a:cubicBezTo>
                  <a:pt x="60290" y="103215"/>
                  <a:pt x="60824" y="101017"/>
                  <a:pt x="61735" y="99070"/>
                </a:cubicBezTo>
                <a:lnTo>
                  <a:pt x="40193" y="70338"/>
                </a:lnTo>
                <a:lnTo>
                  <a:pt x="15073" y="70338"/>
                </a:lnTo>
                <a:cubicBezTo>
                  <a:pt x="6751" y="70338"/>
                  <a:pt x="0" y="63587"/>
                  <a:pt x="0" y="55266"/>
                </a:cubicBezTo>
                <a:lnTo>
                  <a:pt x="0" y="2512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817653" y="1678968"/>
            <a:ext cx="5094502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多维数据耦合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0898" y="2000435"/>
            <a:ext cx="5332325" cy="4644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节点不仅有</a:t>
            </a: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链接（Topology）</a:t>
            </a: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，还包含复杂的</a:t>
            </a: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属性（Attributes）</a:t>
            </a: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，如玩家等级、对不同玩法的偏好程度等。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5276" y="2576327"/>
            <a:ext cx="5251763" cy="848352"/>
          </a:xfrm>
          <a:custGeom>
            <a:avLst/>
            <a:gdLst/>
            <a:ahLst/>
            <a:cxnLst/>
            <a:rect l="l" t="t" r="r" b="b"/>
            <a:pathLst>
              <a:path w="5251763" h="848352">
                <a:moveTo>
                  <a:pt x="0" y="0"/>
                </a:moveTo>
                <a:lnTo>
                  <a:pt x="5251763" y="0"/>
                </a:lnTo>
                <a:lnTo>
                  <a:pt x="5251763" y="848352"/>
                </a:lnTo>
                <a:lnTo>
                  <a:pt x="0" y="8483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363" y="2767333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140677" y="80387"/>
                </a:moveTo>
                <a:cubicBezTo>
                  <a:pt x="140677" y="47112"/>
                  <a:pt x="113662" y="20097"/>
                  <a:pt x="80387" y="20097"/>
                </a:cubicBezTo>
                <a:cubicBezTo>
                  <a:pt x="47112" y="20097"/>
                  <a:pt x="20097" y="47112"/>
                  <a:pt x="20097" y="80387"/>
                </a:cubicBezTo>
                <a:cubicBezTo>
                  <a:pt x="20097" y="113662"/>
                  <a:pt x="47112" y="140677"/>
                  <a:pt x="80387" y="140677"/>
                </a:cubicBezTo>
                <a:cubicBezTo>
                  <a:pt x="113662" y="140677"/>
                  <a:pt x="140677" y="113662"/>
                  <a:pt x="140677" y="80387"/>
                </a:cubicBezTo>
                <a:close/>
                <a:moveTo>
                  <a:pt x="0" y="80387"/>
                </a:moveTo>
                <a:cubicBezTo>
                  <a:pt x="0" y="36020"/>
                  <a:pt x="36020" y="0"/>
                  <a:pt x="80387" y="0"/>
                </a:cubicBezTo>
                <a:cubicBezTo>
                  <a:pt x="124754" y="0"/>
                  <a:pt x="160774" y="36020"/>
                  <a:pt x="160774" y="80387"/>
                </a:cubicBezTo>
                <a:cubicBezTo>
                  <a:pt x="160774" y="124754"/>
                  <a:pt x="124754" y="160774"/>
                  <a:pt x="80387" y="160774"/>
                </a:cubicBezTo>
                <a:cubicBezTo>
                  <a:pt x="36020" y="160774"/>
                  <a:pt x="0" y="124754"/>
                  <a:pt x="0" y="80387"/>
                </a:cubicBezTo>
                <a:close/>
                <a:moveTo>
                  <a:pt x="80387" y="105508"/>
                </a:moveTo>
                <a:cubicBezTo>
                  <a:pt x="94251" y="105508"/>
                  <a:pt x="105508" y="94251"/>
                  <a:pt x="105508" y="80387"/>
                </a:cubicBezTo>
                <a:cubicBezTo>
                  <a:pt x="105508" y="66522"/>
                  <a:pt x="94251" y="55266"/>
                  <a:pt x="80387" y="55266"/>
                </a:cubicBezTo>
                <a:cubicBezTo>
                  <a:pt x="66522" y="55266"/>
                  <a:pt x="55266" y="66522"/>
                  <a:pt x="55266" y="80387"/>
                </a:cubicBezTo>
                <a:cubicBezTo>
                  <a:pt x="55266" y="94251"/>
                  <a:pt x="66522" y="105508"/>
                  <a:pt x="80387" y="105508"/>
                </a:cubicBezTo>
                <a:close/>
                <a:moveTo>
                  <a:pt x="80387" y="35169"/>
                </a:moveTo>
                <a:cubicBezTo>
                  <a:pt x="105343" y="35169"/>
                  <a:pt x="125604" y="55431"/>
                  <a:pt x="125604" y="80387"/>
                </a:cubicBezTo>
                <a:cubicBezTo>
                  <a:pt x="125604" y="105343"/>
                  <a:pt x="105343" y="125604"/>
                  <a:pt x="80387" y="125604"/>
                </a:cubicBezTo>
                <a:cubicBezTo>
                  <a:pt x="55431" y="125604"/>
                  <a:pt x="35169" y="105343"/>
                  <a:pt x="35169" y="80387"/>
                </a:cubicBezTo>
                <a:cubicBezTo>
                  <a:pt x="35169" y="55431"/>
                  <a:pt x="55431" y="35169"/>
                  <a:pt x="80387" y="35169"/>
                </a:cubicBezTo>
                <a:close/>
                <a:moveTo>
                  <a:pt x="70338" y="80387"/>
                </a:moveTo>
                <a:cubicBezTo>
                  <a:pt x="70338" y="74841"/>
                  <a:pt x="74841" y="70338"/>
                  <a:pt x="80387" y="70338"/>
                </a:cubicBezTo>
                <a:cubicBezTo>
                  <a:pt x="85933" y="70338"/>
                  <a:pt x="90435" y="74841"/>
                  <a:pt x="90435" y="80387"/>
                </a:cubicBezTo>
                <a:cubicBezTo>
                  <a:pt x="90435" y="85933"/>
                  <a:pt x="85933" y="90435"/>
                  <a:pt x="80387" y="90435"/>
                </a:cubicBezTo>
                <a:cubicBezTo>
                  <a:pt x="74841" y="90435"/>
                  <a:pt x="70338" y="85933"/>
                  <a:pt x="70338" y="8038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969254" y="2723550"/>
            <a:ext cx="4790819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社群检测的意义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499" y="3045018"/>
            <a:ext cx="5028642" cy="232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通过识别</a:t>
            </a:r>
            <a:r>
              <a:rPr lang="en-US" sz="1125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紧密连接且语义相似的子群体 </a:t>
            </a: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，实现精准的好友匹配和组队推荐。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4761" y="3750277"/>
            <a:ext cx="5635659" cy="2876062"/>
          </a:xfrm>
          <a:custGeom>
            <a:avLst/>
            <a:gdLst/>
            <a:ahLst/>
            <a:cxnLst/>
            <a:rect l="l" t="t" r="r" b="b"/>
            <a:pathLst>
              <a:path w="5635659" h="2876062">
                <a:moveTo>
                  <a:pt x="0" y="0"/>
                </a:moveTo>
                <a:lnTo>
                  <a:pt x="5635659" y="0"/>
                </a:lnTo>
                <a:lnTo>
                  <a:pt x="5635659" y="2876062"/>
                </a:lnTo>
                <a:lnTo>
                  <a:pt x="0" y="28760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74761" y="3750277"/>
            <a:ext cx="35027" cy="2876062"/>
          </a:xfrm>
          <a:custGeom>
            <a:avLst/>
            <a:gdLst/>
            <a:ahLst/>
            <a:cxnLst/>
            <a:rect l="l" t="t" r="r" b="b"/>
            <a:pathLst>
              <a:path w="35027" h="2876062">
                <a:moveTo>
                  <a:pt x="0" y="0"/>
                </a:moveTo>
                <a:lnTo>
                  <a:pt x="35027" y="0"/>
                </a:lnTo>
                <a:lnTo>
                  <a:pt x="35027" y="2876062"/>
                </a:lnTo>
                <a:lnTo>
                  <a:pt x="0" y="28760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Shape 16"/>
          <p:cNvSpPr/>
          <p:nvPr/>
        </p:nvSpPr>
        <p:spPr>
          <a:xfrm>
            <a:off x="570898" y="392890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526239" y="3928900"/>
            <a:ext cx="446593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5278" y="3964611"/>
            <a:ext cx="3161881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现有深度图聚类（DGC）的瓶颈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0898" y="4428992"/>
            <a:ext cx="5260870" cy="1071824"/>
          </a:xfrm>
          <a:custGeom>
            <a:avLst/>
            <a:gdLst/>
            <a:ahLst/>
            <a:cxnLst/>
            <a:rect l="l" t="t" r="r" b="b"/>
            <a:pathLst>
              <a:path w="5260870" h="1071824">
                <a:moveTo>
                  <a:pt x="0" y="0"/>
                </a:moveTo>
                <a:lnTo>
                  <a:pt x="5260870" y="0"/>
                </a:lnTo>
                <a:lnTo>
                  <a:pt x="5260870" y="1071824"/>
                </a:lnTo>
                <a:lnTo>
                  <a:pt x="0" y="10718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751703" y="4615619"/>
            <a:ext cx="120580" cy="160774"/>
          </a:xfrm>
          <a:custGeom>
            <a:avLst/>
            <a:gdLst/>
            <a:ahLst/>
            <a:cxnLst/>
            <a:rect l="l" t="t" r="r" b="b"/>
            <a:pathLst>
              <a:path w="120580" h="160774">
                <a:moveTo>
                  <a:pt x="40193" y="30145"/>
                </a:moveTo>
                <a:lnTo>
                  <a:pt x="40193" y="50242"/>
                </a:lnTo>
                <a:lnTo>
                  <a:pt x="80387" y="50242"/>
                </a:lnTo>
                <a:lnTo>
                  <a:pt x="80387" y="30145"/>
                </a:lnTo>
                <a:cubicBezTo>
                  <a:pt x="80387" y="19060"/>
                  <a:pt x="71375" y="10048"/>
                  <a:pt x="60290" y="10048"/>
                </a:cubicBezTo>
                <a:cubicBezTo>
                  <a:pt x="49206" y="10048"/>
                  <a:pt x="40193" y="19060"/>
                  <a:pt x="40193" y="30145"/>
                </a:cubicBezTo>
                <a:close/>
                <a:moveTo>
                  <a:pt x="20097" y="50242"/>
                </a:moveTo>
                <a:lnTo>
                  <a:pt x="20097" y="30145"/>
                </a:lnTo>
                <a:cubicBezTo>
                  <a:pt x="20097" y="7944"/>
                  <a:pt x="38090" y="-10048"/>
                  <a:pt x="60290" y="-10048"/>
                </a:cubicBezTo>
                <a:cubicBezTo>
                  <a:pt x="82491" y="-10048"/>
                  <a:pt x="100484" y="7944"/>
                  <a:pt x="100484" y="30145"/>
                </a:cubicBezTo>
                <a:lnTo>
                  <a:pt x="100484" y="50242"/>
                </a:lnTo>
                <a:cubicBezTo>
                  <a:pt x="111568" y="50242"/>
                  <a:pt x="120580" y="59254"/>
                  <a:pt x="120580" y="70338"/>
                </a:cubicBezTo>
                <a:lnTo>
                  <a:pt x="120580" y="140677"/>
                </a:lnTo>
                <a:cubicBezTo>
                  <a:pt x="120580" y="151762"/>
                  <a:pt x="111568" y="160774"/>
                  <a:pt x="100484" y="160774"/>
                </a:cubicBezTo>
                <a:lnTo>
                  <a:pt x="20097" y="160774"/>
                </a:lnTo>
                <a:cubicBezTo>
                  <a:pt x="9012" y="160774"/>
                  <a:pt x="0" y="151762"/>
                  <a:pt x="0" y="140677"/>
                </a:cubicBezTo>
                <a:lnTo>
                  <a:pt x="0" y="70338"/>
                </a:lnTo>
                <a:cubicBezTo>
                  <a:pt x="0" y="59254"/>
                  <a:pt x="9012" y="50242"/>
                  <a:pt x="20097" y="5024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960497" y="4571836"/>
            <a:ext cx="4808682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对K的强依赖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742" y="4893305"/>
            <a:ext cx="5046505" cy="4644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现有方法通常</a:t>
            </a: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假设社群数量K已知</a:t>
            </a: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，但在现实场景中由于</a:t>
            </a:r>
            <a:r>
              <a:rPr lang="en-US" sz="1125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高昂成本和隐私保护 </a:t>
            </a: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，K往往是不可知的。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0898" y="5607663"/>
            <a:ext cx="5260870" cy="839596"/>
          </a:xfrm>
          <a:custGeom>
            <a:avLst/>
            <a:gdLst/>
            <a:ahLst/>
            <a:cxnLst/>
            <a:rect l="l" t="t" r="r" b="b"/>
            <a:pathLst>
              <a:path w="5260870" h="839596">
                <a:moveTo>
                  <a:pt x="0" y="0"/>
                </a:moveTo>
                <a:lnTo>
                  <a:pt x="5260870" y="0"/>
                </a:lnTo>
                <a:lnTo>
                  <a:pt x="5260870" y="839596"/>
                </a:lnTo>
                <a:lnTo>
                  <a:pt x="0" y="8395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731606" y="5794290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80387" y="160774"/>
                </a:moveTo>
                <a:cubicBezTo>
                  <a:pt x="124754" y="160774"/>
                  <a:pt x="160774" y="124754"/>
                  <a:pt x="160774" y="80387"/>
                </a:cubicBezTo>
                <a:cubicBezTo>
                  <a:pt x="160774" y="36020"/>
                  <a:pt x="124754" y="0"/>
                  <a:pt x="80387" y="0"/>
                </a:cubicBezTo>
                <a:cubicBezTo>
                  <a:pt x="36020" y="0"/>
                  <a:pt x="0" y="36020"/>
                  <a:pt x="0" y="80387"/>
                </a:cubicBezTo>
                <a:cubicBezTo>
                  <a:pt x="0" y="124754"/>
                  <a:pt x="36020" y="160774"/>
                  <a:pt x="80387" y="160774"/>
                </a:cubicBezTo>
                <a:close/>
                <a:moveTo>
                  <a:pt x="52440" y="52440"/>
                </a:moveTo>
                <a:cubicBezTo>
                  <a:pt x="55392" y="49488"/>
                  <a:pt x="60165" y="49488"/>
                  <a:pt x="63085" y="52440"/>
                </a:cubicBezTo>
                <a:lnTo>
                  <a:pt x="80355" y="69710"/>
                </a:lnTo>
                <a:lnTo>
                  <a:pt x="97626" y="52440"/>
                </a:lnTo>
                <a:cubicBezTo>
                  <a:pt x="100578" y="49488"/>
                  <a:pt x="105351" y="49488"/>
                  <a:pt x="108271" y="52440"/>
                </a:cubicBezTo>
                <a:cubicBezTo>
                  <a:pt x="111191" y="55392"/>
                  <a:pt x="111223" y="60165"/>
                  <a:pt x="108271" y="63085"/>
                </a:cubicBezTo>
                <a:lnTo>
                  <a:pt x="91000" y="80355"/>
                </a:lnTo>
                <a:lnTo>
                  <a:pt x="108271" y="97626"/>
                </a:lnTo>
                <a:cubicBezTo>
                  <a:pt x="111223" y="100578"/>
                  <a:pt x="111223" y="105351"/>
                  <a:pt x="108271" y="108271"/>
                </a:cubicBezTo>
                <a:cubicBezTo>
                  <a:pt x="105319" y="111191"/>
                  <a:pt x="100546" y="111223"/>
                  <a:pt x="97626" y="108271"/>
                </a:cubicBezTo>
                <a:lnTo>
                  <a:pt x="80355" y="91000"/>
                </a:lnTo>
                <a:lnTo>
                  <a:pt x="63085" y="108271"/>
                </a:lnTo>
                <a:cubicBezTo>
                  <a:pt x="60133" y="111223"/>
                  <a:pt x="55360" y="111223"/>
                  <a:pt x="52440" y="108271"/>
                </a:cubicBezTo>
                <a:cubicBezTo>
                  <a:pt x="49520" y="105319"/>
                  <a:pt x="49488" y="100546"/>
                  <a:pt x="52440" y="97626"/>
                </a:cubicBezTo>
                <a:lnTo>
                  <a:pt x="69710" y="80355"/>
                </a:lnTo>
                <a:lnTo>
                  <a:pt x="52440" y="63085"/>
                </a:lnTo>
                <a:cubicBezTo>
                  <a:pt x="49488" y="60133"/>
                  <a:pt x="49488" y="55360"/>
                  <a:pt x="52440" y="5244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5"/>
          <p:cNvSpPr/>
          <p:nvPr/>
        </p:nvSpPr>
        <p:spPr>
          <a:xfrm>
            <a:off x="960497" y="5750507"/>
            <a:ext cx="4808682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算法局限性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742" y="6071974"/>
            <a:ext cx="5046505" cy="232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如果K设定错误，传统方法会出现</a:t>
            </a: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模型崩溃</a:t>
            </a:r>
            <a:r>
              <a:rPr lang="en-US" sz="112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或划分结果毫无意义。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6769" y="1000251"/>
            <a:ext cx="5653873" cy="2500923"/>
          </a:xfrm>
          <a:custGeom>
            <a:avLst/>
            <a:gdLst/>
            <a:ahLst/>
            <a:cxnLst/>
            <a:rect l="l" t="t" r="r" b="b"/>
            <a:pathLst>
              <a:path w="5653873" h="2500923">
                <a:moveTo>
                  <a:pt x="0" y="0"/>
                </a:moveTo>
                <a:lnTo>
                  <a:pt x="5653873" y="0"/>
                </a:lnTo>
                <a:lnTo>
                  <a:pt x="5653873" y="2500923"/>
                </a:lnTo>
                <a:lnTo>
                  <a:pt x="0" y="2500923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30" name="Shape 28"/>
          <p:cNvSpPr/>
          <p:nvPr/>
        </p:nvSpPr>
        <p:spPr>
          <a:xfrm>
            <a:off x="6365393" y="1178876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320733" y="1178876"/>
            <a:ext cx="446593" cy="3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29773" y="1214587"/>
            <a:ext cx="1393371" cy="285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核心科学问题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5393" y="1678968"/>
            <a:ext cx="5296598" cy="1643464"/>
          </a:xfrm>
          <a:custGeom>
            <a:avLst/>
            <a:gdLst/>
            <a:ahLst/>
            <a:cxnLst/>
            <a:rect l="l" t="t" r="r" b="b"/>
            <a:pathLst>
              <a:path w="5296598" h="1643464">
                <a:moveTo>
                  <a:pt x="0" y="0"/>
                </a:moveTo>
                <a:lnTo>
                  <a:pt x="5296598" y="0"/>
                </a:lnTo>
                <a:lnTo>
                  <a:pt x="5296598" y="1643464"/>
                </a:lnTo>
                <a:lnTo>
                  <a:pt x="0" y="16434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90425" y="1857591"/>
            <a:ext cx="5046505" cy="57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如何在属性图上实现"K-Free"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69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（</a:t>
            </a:r>
            <a:r>
              <a:rPr lang="en-US" sz="169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无需先验数量）的社</a:t>
            </a:r>
            <a:r>
              <a:rPr lang="zh-CN" altLang="en-US" sz="169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区发现</a:t>
            </a:r>
            <a:r>
              <a:rPr lang="en-US" sz="169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98177" y="2571948"/>
            <a:ext cx="1134347" cy="571640"/>
          </a:xfrm>
          <a:custGeom>
            <a:avLst/>
            <a:gdLst/>
            <a:ahLst/>
            <a:cxnLst/>
            <a:rect l="l" t="t" r="r" b="b"/>
            <a:pathLst>
              <a:path w="1134347" h="571640">
                <a:moveTo>
                  <a:pt x="0" y="0"/>
                </a:moveTo>
                <a:lnTo>
                  <a:pt x="1134347" y="0"/>
                </a:lnTo>
                <a:lnTo>
                  <a:pt x="1134347" y="571640"/>
                </a:lnTo>
                <a:lnTo>
                  <a:pt x="0" y="5716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6" name="Text 34"/>
          <p:cNvSpPr/>
          <p:nvPr/>
        </p:nvSpPr>
        <p:spPr>
          <a:xfrm>
            <a:off x="7709759" y="2643371"/>
            <a:ext cx="911051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传统方法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96361" y="2821995"/>
            <a:ext cx="937846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需要预设K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05029" y="2750504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210429" y="116645"/>
                </a:moveTo>
                <a:cubicBezTo>
                  <a:pt x="215663" y="111411"/>
                  <a:pt x="215663" y="102912"/>
                  <a:pt x="210429" y="97678"/>
                </a:cubicBezTo>
                <a:lnTo>
                  <a:pt x="143440" y="30689"/>
                </a:lnTo>
                <a:cubicBezTo>
                  <a:pt x="138207" y="25456"/>
                  <a:pt x="129707" y="25456"/>
                  <a:pt x="124474" y="30689"/>
                </a:cubicBezTo>
                <a:cubicBezTo>
                  <a:pt x="119240" y="35923"/>
                  <a:pt x="119240" y="44422"/>
                  <a:pt x="124474" y="49656"/>
                </a:cubicBezTo>
                <a:lnTo>
                  <a:pt x="168603" y="93785"/>
                </a:lnTo>
                <a:lnTo>
                  <a:pt x="13398" y="93785"/>
                </a:lnTo>
                <a:cubicBezTo>
                  <a:pt x="5987" y="93785"/>
                  <a:pt x="0" y="99772"/>
                  <a:pt x="0" y="107182"/>
                </a:cubicBezTo>
                <a:cubicBezTo>
                  <a:pt x="0" y="114593"/>
                  <a:pt x="5987" y="120580"/>
                  <a:pt x="13398" y="120580"/>
                </a:cubicBezTo>
                <a:lnTo>
                  <a:pt x="168603" y="120580"/>
                </a:lnTo>
                <a:lnTo>
                  <a:pt x="124474" y="164709"/>
                </a:lnTo>
                <a:cubicBezTo>
                  <a:pt x="119240" y="169943"/>
                  <a:pt x="119240" y="178442"/>
                  <a:pt x="124474" y="183675"/>
                </a:cubicBezTo>
                <a:cubicBezTo>
                  <a:pt x="129707" y="188909"/>
                  <a:pt x="138207" y="188909"/>
                  <a:pt x="143440" y="183675"/>
                </a:cubicBezTo>
                <a:lnTo>
                  <a:pt x="210429" y="11668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Shape 37"/>
          <p:cNvSpPr/>
          <p:nvPr/>
        </p:nvSpPr>
        <p:spPr>
          <a:xfrm>
            <a:off x="9288978" y="2571948"/>
            <a:ext cx="1134347" cy="571640"/>
          </a:xfrm>
          <a:custGeom>
            <a:avLst/>
            <a:gdLst/>
            <a:ahLst/>
            <a:cxnLst/>
            <a:rect l="l" t="t" r="r" b="b"/>
            <a:pathLst>
              <a:path w="1134347" h="571640">
                <a:moveTo>
                  <a:pt x="0" y="0"/>
                </a:moveTo>
                <a:lnTo>
                  <a:pt x="1134347" y="0"/>
                </a:lnTo>
                <a:lnTo>
                  <a:pt x="1134347" y="571640"/>
                </a:lnTo>
                <a:lnTo>
                  <a:pt x="0" y="5716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9400561" y="2643371"/>
            <a:ext cx="911051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DAG方法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87163" y="2821995"/>
            <a:ext cx="937846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自动学习K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147" y="3647933"/>
            <a:ext cx="5644766" cy="2759772"/>
          </a:xfrm>
          <a:custGeom>
            <a:avLst/>
            <a:gdLst/>
            <a:ahLst/>
            <a:cxnLst/>
            <a:rect l="l" t="t" r="r" b="b"/>
            <a:pathLst>
              <a:path w="5644766" h="2759772">
                <a:moveTo>
                  <a:pt x="0" y="0"/>
                </a:moveTo>
                <a:lnTo>
                  <a:pt x="5644766" y="0"/>
                </a:lnTo>
                <a:lnTo>
                  <a:pt x="5644766" y="2759772"/>
                </a:lnTo>
                <a:lnTo>
                  <a:pt x="0" y="275977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451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4149" y="3870340"/>
            <a:ext cx="223297" cy="178637"/>
          </a:xfrm>
          <a:custGeom>
            <a:avLst/>
            <a:gdLst/>
            <a:ahLst/>
            <a:cxnLst/>
            <a:rect l="l" t="t" r="r" b="b"/>
            <a:pathLst>
              <a:path w="223297" h="178637">
                <a:moveTo>
                  <a:pt x="133978" y="11165"/>
                </a:moveTo>
                <a:lnTo>
                  <a:pt x="178637" y="11165"/>
                </a:lnTo>
                <a:cubicBezTo>
                  <a:pt x="184813" y="11165"/>
                  <a:pt x="189802" y="16154"/>
                  <a:pt x="189802" y="22330"/>
                </a:cubicBezTo>
                <a:cubicBezTo>
                  <a:pt x="189802" y="28505"/>
                  <a:pt x="184813" y="33495"/>
                  <a:pt x="178637" y="33495"/>
                </a:cubicBezTo>
                <a:lnTo>
                  <a:pt x="139002" y="33495"/>
                </a:lnTo>
                <a:cubicBezTo>
                  <a:pt x="137188" y="42496"/>
                  <a:pt x="131012" y="49928"/>
                  <a:pt x="122813" y="53487"/>
                </a:cubicBezTo>
                <a:lnTo>
                  <a:pt x="122813" y="156308"/>
                </a:lnTo>
                <a:lnTo>
                  <a:pt x="178637" y="156308"/>
                </a:lnTo>
                <a:cubicBezTo>
                  <a:pt x="184813" y="156308"/>
                  <a:pt x="189802" y="161297"/>
                  <a:pt x="189802" y="167473"/>
                </a:cubicBezTo>
                <a:cubicBezTo>
                  <a:pt x="189802" y="173648"/>
                  <a:pt x="184813" y="178637"/>
                  <a:pt x="178637" y="178637"/>
                </a:cubicBezTo>
                <a:lnTo>
                  <a:pt x="44659" y="178637"/>
                </a:lnTo>
                <a:cubicBezTo>
                  <a:pt x="38484" y="178637"/>
                  <a:pt x="33495" y="173648"/>
                  <a:pt x="33495" y="167473"/>
                </a:cubicBezTo>
                <a:cubicBezTo>
                  <a:pt x="33495" y="161297"/>
                  <a:pt x="38484" y="156308"/>
                  <a:pt x="44659" y="156308"/>
                </a:cubicBezTo>
                <a:lnTo>
                  <a:pt x="100484" y="156308"/>
                </a:lnTo>
                <a:lnTo>
                  <a:pt x="100484" y="53487"/>
                </a:lnTo>
                <a:cubicBezTo>
                  <a:pt x="92284" y="49893"/>
                  <a:pt x="86109" y="42461"/>
                  <a:pt x="84295" y="33495"/>
                </a:cubicBezTo>
                <a:lnTo>
                  <a:pt x="44659" y="33495"/>
                </a:lnTo>
                <a:cubicBezTo>
                  <a:pt x="38484" y="33495"/>
                  <a:pt x="33495" y="28505"/>
                  <a:pt x="33495" y="22330"/>
                </a:cubicBezTo>
                <a:cubicBezTo>
                  <a:pt x="33495" y="16154"/>
                  <a:pt x="38484" y="11165"/>
                  <a:pt x="44659" y="11165"/>
                </a:cubicBezTo>
                <a:lnTo>
                  <a:pt x="89319" y="11165"/>
                </a:lnTo>
                <a:cubicBezTo>
                  <a:pt x="94413" y="4396"/>
                  <a:pt x="102507" y="0"/>
                  <a:pt x="111648" y="0"/>
                </a:cubicBezTo>
                <a:cubicBezTo>
                  <a:pt x="120790" y="0"/>
                  <a:pt x="128884" y="4396"/>
                  <a:pt x="133978" y="11165"/>
                </a:cubicBezTo>
                <a:close/>
                <a:moveTo>
                  <a:pt x="153377" y="111648"/>
                </a:moveTo>
                <a:lnTo>
                  <a:pt x="203898" y="111648"/>
                </a:lnTo>
                <a:lnTo>
                  <a:pt x="178637" y="68315"/>
                </a:lnTo>
                <a:lnTo>
                  <a:pt x="153377" y="111648"/>
                </a:lnTo>
                <a:close/>
                <a:moveTo>
                  <a:pt x="178637" y="145143"/>
                </a:moveTo>
                <a:cubicBezTo>
                  <a:pt x="156691" y="145143"/>
                  <a:pt x="138444" y="133280"/>
                  <a:pt x="134676" y="117615"/>
                </a:cubicBezTo>
                <a:cubicBezTo>
                  <a:pt x="133769" y="113777"/>
                  <a:pt x="135025" y="109834"/>
                  <a:pt x="137013" y="106415"/>
                </a:cubicBezTo>
                <a:lnTo>
                  <a:pt x="170229" y="49474"/>
                </a:lnTo>
                <a:cubicBezTo>
                  <a:pt x="171973" y="46474"/>
                  <a:pt x="175183" y="44659"/>
                  <a:pt x="178637" y="44659"/>
                </a:cubicBezTo>
                <a:cubicBezTo>
                  <a:pt x="182091" y="44659"/>
                  <a:pt x="185301" y="46509"/>
                  <a:pt x="187046" y="49474"/>
                </a:cubicBezTo>
                <a:lnTo>
                  <a:pt x="220261" y="106415"/>
                </a:lnTo>
                <a:cubicBezTo>
                  <a:pt x="222250" y="109834"/>
                  <a:pt x="223506" y="113777"/>
                  <a:pt x="222599" y="117615"/>
                </a:cubicBezTo>
                <a:cubicBezTo>
                  <a:pt x="218831" y="133245"/>
                  <a:pt x="200583" y="145143"/>
                  <a:pt x="178637" y="145143"/>
                </a:cubicBezTo>
                <a:close/>
                <a:moveTo>
                  <a:pt x="44241" y="68315"/>
                </a:moveTo>
                <a:lnTo>
                  <a:pt x="18980" y="111648"/>
                </a:lnTo>
                <a:lnTo>
                  <a:pt x="69536" y="111648"/>
                </a:lnTo>
                <a:lnTo>
                  <a:pt x="44241" y="68315"/>
                </a:lnTo>
                <a:close/>
                <a:moveTo>
                  <a:pt x="314" y="117615"/>
                </a:moveTo>
                <a:cubicBezTo>
                  <a:pt x="-593" y="113777"/>
                  <a:pt x="663" y="109834"/>
                  <a:pt x="2652" y="106415"/>
                </a:cubicBezTo>
                <a:lnTo>
                  <a:pt x="35867" y="49474"/>
                </a:lnTo>
                <a:cubicBezTo>
                  <a:pt x="37612" y="46474"/>
                  <a:pt x="40821" y="44659"/>
                  <a:pt x="44276" y="44659"/>
                </a:cubicBezTo>
                <a:cubicBezTo>
                  <a:pt x="47730" y="44659"/>
                  <a:pt x="50940" y="46509"/>
                  <a:pt x="52684" y="49474"/>
                </a:cubicBezTo>
                <a:lnTo>
                  <a:pt x="85899" y="106415"/>
                </a:lnTo>
                <a:cubicBezTo>
                  <a:pt x="87888" y="109834"/>
                  <a:pt x="89144" y="113777"/>
                  <a:pt x="88237" y="117615"/>
                </a:cubicBezTo>
                <a:cubicBezTo>
                  <a:pt x="84469" y="133245"/>
                  <a:pt x="66221" y="145143"/>
                  <a:pt x="44276" y="145143"/>
                </a:cubicBezTo>
                <a:cubicBezTo>
                  <a:pt x="22330" y="145143"/>
                  <a:pt x="4082" y="133280"/>
                  <a:pt x="314" y="11761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4" name="Text 42"/>
          <p:cNvSpPr/>
          <p:nvPr/>
        </p:nvSpPr>
        <p:spPr>
          <a:xfrm>
            <a:off x="6647700" y="3830934"/>
            <a:ext cx="5094502" cy="250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对比示意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2906" y="4232582"/>
            <a:ext cx="2545232" cy="1982524"/>
          </a:xfrm>
          <a:custGeom>
            <a:avLst/>
            <a:gdLst/>
            <a:ahLst/>
            <a:cxnLst/>
            <a:rect l="l" t="t" r="r" b="b"/>
            <a:pathLst>
              <a:path w="2545232" h="1982524">
                <a:moveTo>
                  <a:pt x="0" y="0"/>
                </a:moveTo>
                <a:lnTo>
                  <a:pt x="2545232" y="0"/>
                </a:lnTo>
                <a:lnTo>
                  <a:pt x="2545232" y="1982524"/>
                </a:lnTo>
                <a:lnTo>
                  <a:pt x="0" y="19825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4902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00311" y="4370364"/>
            <a:ext cx="714221" cy="250935"/>
          </a:xfrm>
          <a:custGeom>
            <a:avLst/>
            <a:gdLst/>
            <a:ahLst/>
            <a:cxnLst/>
            <a:rect l="l" t="t" r="r" b="b"/>
            <a:pathLst>
              <a:path w="714221" h="250935">
                <a:moveTo>
                  <a:pt x="0" y="0"/>
                </a:moveTo>
                <a:lnTo>
                  <a:pt x="714221" y="0"/>
                </a:lnTo>
                <a:lnTo>
                  <a:pt x="714221" y="250935"/>
                </a:lnTo>
                <a:lnTo>
                  <a:pt x="0" y="250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47" name="Text 45"/>
          <p:cNvSpPr/>
          <p:nvPr/>
        </p:nvSpPr>
        <p:spPr>
          <a:xfrm>
            <a:off x="7269049" y="4370364"/>
            <a:ext cx="776744" cy="250935"/>
          </a:xfrm>
          <a:prstGeom prst="rect">
            <a:avLst/>
          </a:prstGeom>
          <a:noFill/>
        </p:spPr>
        <p:txBody>
          <a:bodyPr wrap="square" lIns="107182" tIns="35727" rIns="107182" bIns="35727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理想情况</a:t>
            </a:r>
            <a:endParaRPr lang="en-US" sz="16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764234" y="4705651"/>
            <a:ext cx="1786374" cy="1071824"/>
          </a:xfrm>
          <a:prstGeom prst="roundRect">
            <a:avLst>
              <a:gd name="adj" fmla="val 0"/>
            </a:avLst>
          </a:prstGeom>
        </p:spPr>
      </p:pic>
      <p:sp>
        <p:nvSpPr>
          <p:cNvPr id="49" name="Text 46"/>
          <p:cNvSpPr/>
          <p:nvPr/>
        </p:nvSpPr>
        <p:spPr>
          <a:xfrm>
            <a:off x="6503246" y="5884594"/>
            <a:ext cx="2304422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小规模、带标签、K已知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9092362" y="4232582"/>
            <a:ext cx="2545232" cy="1982524"/>
          </a:xfrm>
          <a:custGeom>
            <a:avLst/>
            <a:gdLst/>
            <a:ahLst/>
            <a:cxnLst/>
            <a:rect l="l" t="t" r="r" b="b"/>
            <a:pathLst>
              <a:path w="2545232" h="1982524">
                <a:moveTo>
                  <a:pt x="0" y="0"/>
                </a:moveTo>
                <a:lnTo>
                  <a:pt x="2545232" y="0"/>
                </a:lnTo>
                <a:lnTo>
                  <a:pt x="2545232" y="1982524"/>
                </a:lnTo>
                <a:lnTo>
                  <a:pt x="0" y="19825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009836" y="4370364"/>
            <a:ext cx="714221" cy="250935"/>
          </a:xfrm>
          <a:custGeom>
            <a:avLst/>
            <a:gdLst/>
            <a:ahLst/>
            <a:cxnLst/>
            <a:rect l="l" t="t" r="r" b="b"/>
            <a:pathLst>
              <a:path w="714221" h="250935">
                <a:moveTo>
                  <a:pt x="0" y="0"/>
                </a:moveTo>
                <a:lnTo>
                  <a:pt x="714221" y="0"/>
                </a:lnTo>
                <a:lnTo>
                  <a:pt x="714221" y="250935"/>
                </a:lnTo>
                <a:lnTo>
                  <a:pt x="0" y="25093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2" name="Text 49"/>
          <p:cNvSpPr/>
          <p:nvPr/>
        </p:nvSpPr>
        <p:spPr>
          <a:xfrm>
            <a:off x="9978575" y="4370364"/>
            <a:ext cx="776744" cy="250935"/>
          </a:xfrm>
          <a:prstGeom prst="rect">
            <a:avLst/>
          </a:prstGeom>
          <a:noFill/>
        </p:spPr>
        <p:txBody>
          <a:bodyPr wrap="square" lIns="107182" tIns="35727" rIns="107182" bIns="35727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真实场景</a:t>
            </a:r>
            <a:endParaRPr lang="en-US" sz="1600" dirty="0"/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473760" y="4705651"/>
            <a:ext cx="1786374" cy="1071824"/>
          </a:xfrm>
          <a:prstGeom prst="roundRect">
            <a:avLst>
              <a:gd name="adj" fmla="val 0"/>
            </a:avLst>
          </a:prstGeom>
        </p:spPr>
      </p:pic>
      <p:sp>
        <p:nvSpPr>
          <p:cNvPr id="54" name="Text 50"/>
          <p:cNvSpPr/>
          <p:nvPr/>
        </p:nvSpPr>
        <p:spPr>
          <a:xfrm>
            <a:off x="9212702" y="5884594"/>
            <a:ext cx="2304422" cy="178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大规模、复杂、无标签、K未知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380972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DAG模型总体架构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0971" y="838107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80971" y="1066674"/>
            <a:ext cx="3810000" cy="1581150"/>
          </a:xfrm>
          <a:custGeom>
            <a:avLst/>
            <a:gdLst/>
            <a:ahLst/>
            <a:cxnLst/>
            <a:rect l="l" t="t" r="r" b="b"/>
            <a:pathLst>
              <a:path w="3810000" h="1581150">
                <a:moveTo>
                  <a:pt x="0" y="0"/>
                </a:moveTo>
                <a:lnTo>
                  <a:pt x="3810000" y="0"/>
                </a:lnTo>
                <a:lnTo>
                  <a:pt x="38100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5" name="Shape 3"/>
          <p:cNvSpPr/>
          <p:nvPr/>
        </p:nvSpPr>
        <p:spPr>
          <a:xfrm>
            <a:off x="628606" y="129524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971395" y="125716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设计理念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456" y="1714223"/>
            <a:ext cx="35052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将复杂的社群数目搜索过程</a:t>
            </a: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集成到深度神经网络的端到端训练中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，实现从"手动调参"到"自适应学习"的跨越。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9647" y="2799866"/>
            <a:ext cx="3790576" cy="914400"/>
          </a:xfrm>
          <a:custGeom>
            <a:avLst/>
            <a:gdLst/>
            <a:ahLst/>
            <a:cxnLst/>
            <a:rect l="l" t="t" r="r" b="b"/>
            <a:pathLst>
              <a:path w="3790576" h="914400">
                <a:moveTo>
                  <a:pt x="0" y="0"/>
                </a:moveTo>
                <a:lnTo>
                  <a:pt x="3790576" y="0"/>
                </a:lnTo>
                <a:lnTo>
                  <a:pt x="3790576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399647" y="2799866"/>
            <a:ext cx="37353" cy="914400"/>
          </a:xfrm>
          <a:custGeom>
            <a:avLst/>
            <a:gdLst/>
            <a:ahLst/>
            <a:cxnLst/>
            <a:rect l="l" t="t" r="r" b="b"/>
            <a:pathLst>
              <a:path w="37353" h="914400">
                <a:moveTo>
                  <a:pt x="0" y="0"/>
                </a:moveTo>
                <a:lnTo>
                  <a:pt x="37353" y="0"/>
                </a:lnTo>
                <a:lnTo>
                  <a:pt x="3735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570654" y="29521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532554" y="2952197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9634" y="2971237"/>
            <a:ext cx="1952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组件A：掩码属性重构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0654" y="3333094"/>
            <a:ext cx="3543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通过</a:t>
            </a:r>
            <a:r>
              <a:rPr lang="en-US" sz="1200" dirty="0">
                <a:solidFill>
                  <a:srgbClr val="8B0000"/>
                </a:solidFill>
                <a:highlight>
                  <a:srgbClr val="8B0000">
                    <a:alpha val="2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"遮掩-预测"机制 </a:t>
            </a: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学习高质量节点表征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9647" y="3828238"/>
            <a:ext cx="3790576" cy="1143000"/>
          </a:xfrm>
          <a:custGeom>
            <a:avLst/>
            <a:gdLst/>
            <a:ahLst/>
            <a:cxnLst/>
            <a:rect l="l" t="t" r="r" b="b"/>
            <a:pathLst>
              <a:path w="3790576" h="1143000">
                <a:moveTo>
                  <a:pt x="0" y="0"/>
                </a:moveTo>
                <a:lnTo>
                  <a:pt x="3790576" y="0"/>
                </a:lnTo>
                <a:lnTo>
                  <a:pt x="3790576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99647" y="3828238"/>
            <a:ext cx="37353" cy="1143000"/>
          </a:xfrm>
          <a:custGeom>
            <a:avLst/>
            <a:gdLst/>
            <a:ahLst/>
            <a:cxnLst/>
            <a:rect l="l" t="t" r="r" b="b"/>
            <a:pathLst>
              <a:path w="37353" h="1143000">
                <a:moveTo>
                  <a:pt x="0" y="0"/>
                </a:moveTo>
                <a:lnTo>
                  <a:pt x="37353" y="0"/>
                </a:lnTo>
                <a:lnTo>
                  <a:pt x="37353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16" name="Shape 14"/>
          <p:cNvSpPr/>
          <p:nvPr/>
        </p:nvSpPr>
        <p:spPr>
          <a:xfrm>
            <a:off x="570654" y="39805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17" name="Text 15"/>
          <p:cNvSpPr/>
          <p:nvPr/>
        </p:nvSpPr>
        <p:spPr>
          <a:xfrm>
            <a:off x="532554" y="3980569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9634" y="3999609"/>
            <a:ext cx="1943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组件B：社群隶属读取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0654" y="4361466"/>
            <a:ext cx="3543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模拟社交网络形成逻辑，将节点特征映射为</a:t>
            </a:r>
            <a:r>
              <a:rPr lang="en-US" sz="1200" dirty="0">
                <a:solidFill>
                  <a:srgbClr val="1F2937"/>
                </a:solidFill>
                <a:highlight>
                  <a:srgbClr val="1F2937">
                    <a:alpha val="2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社群隶属矩阵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9647" y="5085180"/>
            <a:ext cx="3790576" cy="914400"/>
          </a:xfrm>
          <a:custGeom>
            <a:avLst/>
            <a:gdLst/>
            <a:ahLst/>
            <a:cxnLst/>
            <a:rect l="l" t="t" r="r" b="b"/>
            <a:pathLst>
              <a:path w="3790576" h="914400">
                <a:moveTo>
                  <a:pt x="0" y="0"/>
                </a:moveTo>
                <a:lnTo>
                  <a:pt x="3790576" y="0"/>
                </a:lnTo>
                <a:lnTo>
                  <a:pt x="3790576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399647" y="5085180"/>
            <a:ext cx="37353" cy="914400"/>
          </a:xfrm>
          <a:custGeom>
            <a:avLst/>
            <a:gdLst/>
            <a:ahLst/>
            <a:cxnLst/>
            <a:rect l="l" t="t" r="r" b="b"/>
            <a:pathLst>
              <a:path w="37353" h="914400">
                <a:moveTo>
                  <a:pt x="0" y="0"/>
                </a:moveTo>
                <a:lnTo>
                  <a:pt x="37353" y="0"/>
                </a:lnTo>
                <a:lnTo>
                  <a:pt x="3735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22" name="Shape 20"/>
          <p:cNvSpPr/>
          <p:nvPr/>
        </p:nvSpPr>
        <p:spPr>
          <a:xfrm>
            <a:off x="570654" y="52375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23" name="Text 21"/>
          <p:cNvSpPr/>
          <p:nvPr/>
        </p:nvSpPr>
        <p:spPr>
          <a:xfrm>
            <a:off x="532554" y="523751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9634" y="5256551"/>
            <a:ext cx="2085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组件C：自适应K值搜索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0654" y="5618408"/>
            <a:ext cx="3543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引入</a:t>
            </a:r>
            <a:r>
              <a:rPr lang="en-US" sz="1200" dirty="0">
                <a:solidFill>
                  <a:srgbClr val="6B7280"/>
                </a:solidFill>
                <a:highlight>
                  <a:srgbClr val="6B7280">
                    <a:alpha val="2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组稀疏正则化 </a:t>
            </a: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，自动"裁减"无效社群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1456" y="1066674"/>
            <a:ext cx="7429500" cy="5715000"/>
          </a:xfrm>
          <a:custGeom>
            <a:avLst/>
            <a:gdLst/>
            <a:ahLst/>
            <a:cxnLst/>
            <a:rect l="l" t="t" r="r" b="b"/>
            <a:pathLst>
              <a:path w="7429500" h="5715000">
                <a:moveTo>
                  <a:pt x="0" y="0"/>
                </a:moveTo>
                <a:lnTo>
                  <a:pt x="7429500" y="0"/>
                </a:lnTo>
                <a:lnTo>
                  <a:pt x="74295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7" name="Shape 25"/>
          <p:cNvSpPr/>
          <p:nvPr/>
        </p:nvSpPr>
        <p:spPr>
          <a:xfrm>
            <a:off x="7268313" y="1066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4819592" y="1028560"/>
            <a:ext cx="6848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DAG框架架构图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81280" y="1418778"/>
            <a:ext cx="7029076" cy="1085476"/>
          </a:xfrm>
          <a:custGeom>
            <a:avLst/>
            <a:gdLst/>
            <a:ahLst/>
            <a:cxnLst/>
            <a:rect l="l" t="t" r="r" b="b"/>
            <a:pathLst>
              <a:path w="7029076" h="1085476">
                <a:moveTo>
                  <a:pt x="76200" y="0"/>
                </a:moveTo>
                <a:lnTo>
                  <a:pt x="6952876" y="0"/>
                </a:lnTo>
                <a:cubicBezTo>
                  <a:pt x="6994960" y="0"/>
                  <a:pt x="7029076" y="34116"/>
                  <a:pt x="7029076" y="76200"/>
                </a:cubicBezTo>
                <a:lnTo>
                  <a:pt x="7029076" y="1009276"/>
                </a:lnTo>
                <a:cubicBezTo>
                  <a:pt x="7029076" y="1051360"/>
                  <a:pt x="6994960" y="1085476"/>
                  <a:pt x="6952876" y="1085476"/>
                </a:cubicBezTo>
                <a:lnTo>
                  <a:pt x="76200" y="1085476"/>
                </a:lnTo>
                <a:cubicBezTo>
                  <a:pt x="34116" y="1085476"/>
                  <a:pt x="0" y="1051360"/>
                  <a:pt x="0" y="1009276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42948" y="1580448"/>
            <a:ext cx="647700" cy="304800"/>
          </a:xfrm>
          <a:custGeom>
            <a:avLst/>
            <a:gdLst/>
            <a:ahLst/>
            <a:cxnLst/>
            <a:rect l="l" t="t" r="r" b="b"/>
            <a:pathLst>
              <a:path w="647700" h="304800">
                <a:moveTo>
                  <a:pt x="0" y="0"/>
                </a:moveTo>
                <a:lnTo>
                  <a:pt x="647700" y="0"/>
                </a:lnTo>
                <a:lnTo>
                  <a:pt x="647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4742948" y="1580448"/>
            <a:ext cx="7239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组件A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014" y="1599488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掩码属性重构模块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42948" y="1999427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4" name="Text 32"/>
          <p:cNvSpPr/>
          <p:nvPr/>
        </p:nvSpPr>
        <p:spPr>
          <a:xfrm>
            <a:off x="4823858" y="2075592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输入图 G=(A,X)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51718" y="21041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6" name="Shape 34"/>
          <p:cNvSpPr/>
          <p:nvPr/>
        </p:nvSpPr>
        <p:spPr>
          <a:xfrm>
            <a:off x="6518307" y="1999427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7" name="Text 35"/>
          <p:cNvSpPr/>
          <p:nvPr/>
        </p:nvSpPr>
        <p:spPr>
          <a:xfrm>
            <a:off x="6599217" y="2075592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掩码操作 Mask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27150" y="21041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Shape 37"/>
          <p:cNvSpPr/>
          <p:nvPr/>
        </p:nvSpPr>
        <p:spPr>
          <a:xfrm>
            <a:off x="8293739" y="1999427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8374649" y="2075592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GAT编码器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802582" y="21041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2" name="Shape 40"/>
          <p:cNvSpPr/>
          <p:nvPr/>
        </p:nvSpPr>
        <p:spPr>
          <a:xfrm>
            <a:off x="10069171" y="1999427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43" name="Text 41"/>
          <p:cNvSpPr/>
          <p:nvPr/>
        </p:nvSpPr>
        <p:spPr>
          <a:xfrm>
            <a:off x="10150082" y="2075592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隐层表示 Z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991402" y="262749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45" name="Shape 43"/>
          <p:cNvSpPr/>
          <p:nvPr/>
        </p:nvSpPr>
        <p:spPr>
          <a:xfrm>
            <a:off x="4581280" y="3036846"/>
            <a:ext cx="7029076" cy="1085476"/>
          </a:xfrm>
          <a:custGeom>
            <a:avLst/>
            <a:gdLst/>
            <a:ahLst/>
            <a:cxnLst/>
            <a:rect l="l" t="t" r="r" b="b"/>
            <a:pathLst>
              <a:path w="7029076" h="1085476">
                <a:moveTo>
                  <a:pt x="76200" y="0"/>
                </a:moveTo>
                <a:lnTo>
                  <a:pt x="6952876" y="0"/>
                </a:lnTo>
                <a:cubicBezTo>
                  <a:pt x="6994960" y="0"/>
                  <a:pt x="7029076" y="34116"/>
                  <a:pt x="7029076" y="76200"/>
                </a:cubicBezTo>
                <a:lnTo>
                  <a:pt x="7029076" y="1009276"/>
                </a:lnTo>
                <a:cubicBezTo>
                  <a:pt x="7029076" y="1051360"/>
                  <a:pt x="6994960" y="1085476"/>
                  <a:pt x="6952876" y="1085476"/>
                </a:cubicBezTo>
                <a:lnTo>
                  <a:pt x="76200" y="1085476"/>
                </a:lnTo>
                <a:cubicBezTo>
                  <a:pt x="34116" y="1085476"/>
                  <a:pt x="0" y="1051360"/>
                  <a:pt x="0" y="1009276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4902">
            <a:solidFill>
              <a:srgbClr val="1F29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42948" y="3198514"/>
            <a:ext cx="638175" cy="304800"/>
          </a:xfrm>
          <a:custGeom>
            <a:avLst/>
            <a:gdLst/>
            <a:ahLst/>
            <a:cxnLst/>
            <a:rect l="l" t="t" r="r" b="b"/>
            <a:pathLst>
              <a:path w="638175" h="304800">
                <a:moveTo>
                  <a:pt x="0" y="0"/>
                </a:moveTo>
                <a:lnTo>
                  <a:pt x="638175" y="0"/>
                </a:lnTo>
                <a:lnTo>
                  <a:pt x="6381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47" name="Text 45"/>
          <p:cNvSpPr/>
          <p:nvPr/>
        </p:nvSpPr>
        <p:spPr>
          <a:xfrm>
            <a:off x="4742948" y="3198514"/>
            <a:ext cx="714375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组件B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98251" y="3217557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社群隶属读取模块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742948" y="3617495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0" name="Text 48"/>
          <p:cNvSpPr/>
          <p:nvPr/>
        </p:nvSpPr>
        <p:spPr>
          <a:xfrm>
            <a:off x="4823858" y="3693661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隐层表示 Z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51718" y="37221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52" name="Shape 50"/>
          <p:cNvSpPr/>
          <p:nvPr/>
        </p:nvSpPr>
        <p:spPr>
          <a:xfrm>
            <a:off x="6518307" y="3617495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>
              <a:alpha val="1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6599217" y="3693661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GCN读取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27150" y="37221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55" name="Shape 53"/>
          <p:cNvSpPr/>
          <p:nvPr/>
        </p:nvSpPr>
        <p:spPr>
          <a:xfrm>
            <a:off x="8293739" y="3617495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6" name="Text 54"/>
          <p:cNvSpPr/>
          <p:nvPr/>
        </p:nvSpPr>
        <p:spPr>
          <a:xfrm>
            <a:off x="8374649" y="3693661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隶属矩阵 F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802582" y="37221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58" name="Shape 56"/>
          <p:cNvSpPr/>
          <p:nvPr/>
        </p:nvSpPr>
        <p:spPr>
          <a:xfrm>
            <a:off x="10069171" y="3617495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9" name="Text 57"/>
          <p:cNvSpPr/>
          <p:nvPr/>
        </p:nvSpPr>
        <p:spPr>
          <a:xfrm>
            <a:off x="10150082" y="3693661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重构邻接矩阵 Â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991402" y="4245564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61" name="Shape 59"/>
          <p:cNvSpPr/>
          <p:nvPr/>
        </p:nvSpPr>
        <p:spPr>
          <a:xfrm>
            <a:off x="4581280" y="4654915"/>
            <a:ext cx="7029076" cy="1085476"/>
          </a:xfrm>
          <a:custGeom>
            <a:avLst/>
            <a:gdLst/>
            <a:ahLst/>
            <a:cxnLst/>
            <a:rect l="l" t="t" r="r" b="b"/>
            <a:pathLst>
              <a:path w="7029076" h="1085476">
                <a:moveTo>
                  <a:pt x="76200" y="0"/>
                </a:moveTo>
                <a:lnTo>
                  <a:pt x="6952876" y="0"/>
                </a:lnTo>
                <a:cubicBezTo>
                  <a:pt x="6994960" y="0"/>
                  <a:pt x="7029076" y="34116"/>
                  <a:pt x="7029076" y="76200"/>
                </a:cubicBezTo>
                <a:lnTo>
                  <a:pt x="7029076" y="1009276"/>
                </a:lnTo>
                <a:cubicBezTo>
                  <a:pt x="7029076" y="1051360"/>
                  <a:pt x="6994960" y="1085476"/>
                  <a:pt x="6952876" y="1085476"/>
                </a:cubicBezTo>
                <a:lnTo>
                  <a:pt x="76200" y="1085476"/>
                </a:lnTo>
                <a:cubicBezTo>
                  <a:pt x="34116" y="1085476"/>
                  <a:pt x="0" y="1051360"/>
                  <a:pt x="0" y="1009276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4902">
            <a:solidFill>
              <a:srgbClr val="6B72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42948" y="4816583"/>
            <a:ext cx="638175" cy="304800"/>
          </a:xfrm>
          <a:custGeom>
            <a:avLst/>
            <a:gdLst/>
            <a:ahLst/>
            <a:cxnLst/>
            <a:rect l="l" t="t" r="r" b="b"/>
            <a:pathLst>
              <a:path w="638175" h="304800">
                <a:moveTo>
                  <a:pt x="0" y="0"/>
                </a:moveTo>
                <a:lnTo>
                  <a:pt x="638175" y="0"/>
                </a:lnTo>
                <a:lnTo>
                  <a:pt x="6381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63" name="Text 61"/>
          <p:cNvSpPr/>
          <p:nvPr/>
        </p:nvSpPr>
        <p:spPr>
          <a:xfrm>
            <a:off x="4742948" y="4816583"/>
            <a:ext cx="714375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组件C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497302" y="4835623"/>
            <a:ext cx="1590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自适应K值搜索模块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742948" y="5235564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66" name="Text 64"/>
          <p:cNvSpPr/>
          <p:nvPr/>
        </p:nvSpPr>
        <p:spPr>
          <a:xfrm>
            <a:off x="4823858" y="5311729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预设K_max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51718" y="53402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68" name="Shape 66"/>
          <p:cNvSpPr/>
          <p:nvPr/>
        </p:nvSpPr>
        <p:spPr>
          <a:xfrm>
            <a:off x="6518307" y="5235564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10196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6599217" y="5311729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L2,1组稀疏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027150" y="53402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71" name="Shape 69"/>
          <p:cNvSpPr/>
          <p:nvPr/>
        </p:nvSpPr>
        <p:spPr>
          <a:xfrm>
            <a:off x="8293739" y="5235564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72" name="Text 70"/>
          <p:cNvSpPr/>
          <p:nvPr/>
        </p:nvSpPr>
        <p:spPr>
          <a:xfrm>
            <a:off x="8374649" y="5311729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自动关闭低权重列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802582" y="53402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74" name="Shape 72"/>
          <p:cNvSpPr/>
          <p:nvPr/>
        </p:nvSpPr>
        <p:spPr>
          <a:xfrm>
            <a:off x="10069171" y="5235564"/>
            <a:ext cx="1381125" cy="342900"/>
          </a:xfrm>
          <a:custGeom>
            <a:avLst/>
            <a:gdLst/>
            <a:ahLst/>
            <a:cxnLst/>
            <a:rect l="l" t="t" r="r" b="b"/>
            <a:pathLst>
              <a:path w="1381125" h="342900">
                <a:moveTo>
                  <a:pt x="0" y="0"/>
                </a:moveTo>
                <a:lnTo>
                  <a:pt x="1381125" y="0"/>
                </a:lnTo>
                <a:lnTo>
                  <a:pt x="13811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75" name="Text 73"/>
          <p:cNvSpPr/>
          <p:nvPr/>
        </p:nvSpPr>
        <p:spPr>
          <a:xfrm>
            <a:off x="10150082" y="5311729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输出最优K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571942" y="5863633"/>
            <a:ext cx="7048500" cy="457200"/>
          </a:xfrm>
          <a:custGeom>
            <a:avLst/>
            <a:gdLst/>
            <a:ahLst/>
            <a:cxnLst/>
            <a:rect l="l" t="t" r="r" b="b"/>
            <a:pathLst>
              <a:path w="7048500" h="457200">
                <a:moveTo>
                  <a:pt x="0" y="0"/>
                </a:moveTo>
                <a:lnTo>
                  <a:pt x="7048500" y="0"/>
                </a:lnTo>
                <a:lnTo>
                  <a:pt x="70485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78" name="Text 76"/>
          <p:cNvSpPr/>
          <p:nvPr/>
        </p:nvSpPr>
        <p:spPr>
          <a:xfrm>
            <a:off x="4895739" y="5977879"/>
            <a:ext cx="6648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24F898F9-A59E-1D8A-A741-8E2EE0A0E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616928"/>
              </p:ext>
            </p:extLst>
          </p:nvPr>
        </p:nvGraphicFramePr>
        <p:xfrm>
          <a:off x="5554604" y="5873632"/>
          <a:ext cx="5378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2689920" imgH="239040" progId="Equation.AxMath">
                  <p:embed/>
                </p:oleObj>
              </mc:Choice>
              <mc:Fallback>
                <p:oleObj name="AxMath" r:id="rId3" imgW="2689920" imgH="2390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4604" y="5873632"/>
                        <a:ext cx="537845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76" y="317477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核心模块一：掩码属性重构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7476" y="698422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33039" y="888895"/>
            <a:ext cx="4508189" cy="1111250"/>
          </a:xfrm>
          <a:custGeom>
            <a:avLst/>
            <a:gdLst/>
            <a:ahLst/>
            <a:cxnLst/>
            <a:rect l="l" t="t" r="r" b="b"/>
            <a:pathLst>
              <a:path w="4508189" h="1111250">
                <a:moveTo>
                  <a:pt x="0" y="0"/>
                </a:moveTo>
                <a:lnTo>
                  <a:pt x="4508189" y="0"/>
                </a:lnTo>
                <a:lnTo>
                  <a:pt x="4508189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33039" y="888895"/>
            <a:ext cx="31127" cy="1111250"/>
          </a:xfrm>
          <a:custGeom>
            <a:avLst/>
            <a:gdLst/>
            <a:ahLst/>
            <a:cxnLst/>
            <a:rect l="l" t="t" r="r" b="b"/>
            <a:pathLst>
              <a:path w="31127" h="1111250">
                <a:moveTo>
                  <a:pt x="0" y="0"/>
                </a:moveTo>
                <a:lnTo>
                  <a:pt x="31127" y="0"/>
                </a:lnTo>
                <a:lnTo>
                  <a:pt x="3112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531153" y="10793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840624" y="1047634"/>
            <a:ext cx="476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动机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341" y="1428519"/>
            <a:ext cx="423862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采用</a:t>
            </a:r>
            <a:r>
              <a:rPr lang="en-US" sz="1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生成式自监督学习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。如果模型能根据</a:t>
            </a:r>
            <a:r>
              <a:rPr lang="en-US" sz="1000" dirty="0">
                <a:solidFill>
                  <a:srgbClr val="8B0000"/>
                </a:solidFill>
                <a:highlight>
                  <a:srgbClr val="8B0000">
                    <a:alpha val="2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残缺信息还原完整信息 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，说明其深刻理解了数据的内在规律。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039" y="2126882"/>
            <a:ext cx="4508189" cy="2222500"/>
          </a:xfrm>
          <a:custGeom>
            <a:avLst/>
            <a:gdLst/>
            <a:ahLst/>
            <a:cxnLst/>
            <a:rect l="l" t="t" r="r" b="b"/>
            <a:pathLst>
              <a:path w="4508189" h="2222500">
                <a:moveTo>
                  <a:pt x="0" y="0"/>
                </a:moveTo>
                <a:lnTo>
                  <a:pt x="4508189" y="0"/>
                </a:lnTo>
                <a:lnTo>
                  <a:pt x="4508189" y="2222500"/>
                </a:lnTo>
                <a:lnTo>
                  <a:pt x="0" y="222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333039" y="2126882"/>
            <a:ext cx="31127" cy="2222500"/>
          </a:xfrm>
          <a:custGeom>
            <a:avLst/>
            <a:gdLst/>
            <a:ahLst/>
            <a:cxnLst/>
            <a:rect l="l" t="t" r="r" b="b"/>
            <a:pathLst>
              <a:path w="31127" h="2222500">
                <a:moveTo>
                  <a:pt x="0" y="0"/>
                </a:moveTo>
                <a:lnTo>
                  <a:pt x="31127" y="0"/>
                </a:lnTo>
                <a:lnTo>
                  <a:pt x="31127" y="2222500"/>
                </a:lnTo>
                <a:lnTo>
                  <a:pt x="0" y="22225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11" name="Shape 9"/>
          <p:cNvSpPr/>
          <p:nvPr/>
        </p:nvSpPr>
        <p:spPr>
          <a:xfrm>
            <a:off x="507341" y="231735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12" name="Text 10"/>
          <p:cNvSpPr/>
          <p:nvPr/>
        </p:nvSpPr>
        <p:spPr>
          <a:xfrm>
            <a:off x="840624" y="2285618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341" y="26982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14" name="Text 12"/>
          <p:cNvSpPr/>
          <p:nvPr/>
        </p:nvSpPr>
        <p:spPr>
          <a:xfrm>
            <a:off x="479560" y="269824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6491" y="2666504"/>
            <a:ext cx="1809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掩码操作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6491" y="2920448"/>
            <a:ext cx="1801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随机遮掩节点的部分原始属性X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341" y="323786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18" name="Text 16"/>
          <p:cNvSpPr/>
          <p:nvPr/>
        </p:nvSpPr>
        <p:spPr>
          <a:xfrm>
            <a:off x="479560" y="323786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6491" y="3206128"/>
            <a:ext cx="3333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GNN编码器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6491" y="3460072"/>
            <a:ext cx="3325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利用图注意力网络（GAT）聚合邻居信息，生成隐层表示Z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341" y="377748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22" name="Text 20"/>
          <p:cNvSpPr/>
          <p:nvPr/>
        </p:nvSpPr>
        <p:spPr>
          <a:xfrm>
            <a:off x="479560" y="3777486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6491" y="3745752"/>
            <a:ext cx="2532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重构解码器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6491" y="3999696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根据Z和图拓扑结构重构被遮掩的原始属性X̂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7476" y="4475849"/>
            <a:ext cx="4524375" cy="841375"/>
          </a:xfrm>
          <a:custGeom>
            <a:avLst/>
            <a:gdLst/>
            <a:ahLst/>
            <a:cxnLst/>
            <a:rect l="l" t="t" r="r" b="b"/>
            <a:pathLst>
              <a:path w="4524375" h="841375">
                <a:moveTo>
                  <a:pt x="0" y="0"/>
                </a:moveTo>
                <a:lnTo>
                  <a:pt x="4524375" y="0"/>
                </a:lnTo>
                <a:lnTo>
                  <a:pt x="4524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26" name="Shape 24"/>
          <p:cNvSpPr/>
          <p:nvPr/>
        </p:nvSpPr>
        <p:spPr>
          <a:xfrm>
            <a:off x="486135" y="466632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5"/>
          <p:cNvSpPr/>
          <p:nvPr/>
        </p:nvSpPr>
        <p:spPr>
          <a:xfrm>
            <a:off x="769857" y="4634585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模块价值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214" y="4952002"/>
            <a:ext cx="427037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强制模型捕捉</a:t>
            </a: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节点属性与拓扑结构间的深层关联</a:t>
            </a: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，提升特征鲁棒性。</a:t>
            </a:r>
            <a:endParaRPr lang="en-US" sz="16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5377180" y="12700"/>
            <a:ext cx="6381751" cy="6770989"/>
            <a:chOff x="8491" y="20"/>
            <a:chExt cx="10027" cy="10931"/>
          </a:xfrm>
        </p:grpSpPr>
        <p:sp>
          <p:nvSpPr>
            <p:cNvPr id="30" name="Shape 28"/>
            <p:cNvSpPr/>
            <p:nvPr/>
          </p:nvSpPr>
          <p:spPr>
            <a:xfrm>
              <a:off x="12096" y="70"/>
              <a:ext cx="241" cy="227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0" y="24805"/>
                  </a:moveTo>
                  <a:cubicBezTo>
                    <a:pt x="0" y="16588"/>
                    <a:pt x="6666" y="9922"/>
                    <a:pt x="14883" y="9922"/>
                  </a:cubicBezTo>
                  <a:lnTo>
                    <a:pt x="44648" y="9922"/>
                  </a:lnTo>
                  <a:cubicBezTo>
                    <a:pt x="52865" y="9922"/>
                    <a:pt x="59531" y="16588"/>
                    <a:pt x="59531" y="24805"/>
                  </a:cubicBezTo>
                  <a:lnTo>
                    <a:pt x="59531" y="29766"/>
                  </a:lnTo>
                  <a:lnTo>
                    <a:pt x="99219" y="29766"/>
                  </a:lnTo>
                  <a:lnTo>
                    <a:pt x="99219" y="24805"/>
                  </a:lnTo>
                  <a:cubicBezTo>
                    <a:pt x="99219" y="16588"/>
                    <a:pt x="105885" y="9922"/>
                    <a:pt x="114102" y="9922"/>
                  </a:cubicBezTo>
                  <a:lnTo>
                    <a:pt x="143867" y="9922"/>
                  </a:lnTo>
                  <a:cubicBezTo>
                    <a:pt x="152084" y="9922"/>
                    <a:pt x="158750" y="16588"/>
                    <a:pt x="158750" y="24805"/>
                  </a:cubicBezTo>
                  <a:lnTo>
                    <a:pt x="158750" y="54570"/>
                  </a:lnTo>
                  <a:cubicBezTo>
                    <a:pt x="158750" y="62787"/>
                    <a:pt x="152084" y="69453"/>
                    <a:pt x="143867" y="69453"/>
                  </a:cubicBezTo>
                  <a:lnTo>
                    <a:pt x="114102" y="69453"/>
                  </a:lnTo>
                  <a:cubicBezTo>
                    <a:pt x="105885" y="69453"/>
                    <a:pt x="99219" y="62787"/>
                    <a:pt x="99219" y="54570"/>
                  </a:cubicBezTo>
                  <a:lnTo>
                    <a:pt x="99219" y="49609"/>
                  </a:lnTo>
                  <a:lnTo>
                    <a:pt x="59531" y="49609"/>
                  </a:lnTo>
                  <a:lnTo>
                    <a:pt x="59531" y="54570"/>
                  </a:lnTo>
                  <a:cubicBezTo>
                    <a:pt x="59531" y="56834"/>
                    <a:pt x="59004" y="59004"/>
                    <a:pt x="58105" y="60927"/>
                  </a:cubicBezTo>
                  <a:lnTo>
                    <a:pt x="79375" y="89297"/>
                  </a:lnTo>
                  <a:lnTo>
                    <a:pt x="104180" y="89297"/>
                  </a:lnTo>
                  <a:cubicBezTo>
                    <a:pt x="112396" y="89297"/>
                    <a:pt x="119062" y="95963"/>
                    <a:pt x="119062" y="104180"/>
                  </a:cubicBezTo>
                  <a:lnTo>
                    <a:pt x="119062" y="133945"/>
                  </a:lnTo>
                  <a:cubicBezTo>
                    <a:pt x="119062" y="142162"/>
                    <a:pt x="112396" y="148828"/>
                    <a:pt x="104180" y="148828"/>
                  </a:cubicBezTo>
                  <a:lnTo>
                    <a:pt x="74414" y="148828"/>
                  </a:lnTo>
                  <a:cubicBezTo>
                    <a:pt x="66198" y="148828"/>
                    <a:pt x="59531" y="142162"/>
                    <a:pt x="59531" y="133945"/>
                  </a:cubicBezTo>
                  <a:lnTo>
                    <a:pt x="59531" y="104180"/>
                  </a:lnTo>
                  <a:cubicBezTo>
                    <a:pt x="59531" y="101916"/>
                    <a:pt x="60058" y="99746"/>
                    <a:pt x="60958" y="97823"/>
                  </a:cubicBezTo>
                  <a:lnTo>
                    <a:pt x="39688" y="69453"/>
                  </a:lnTo>
                  <a:lnTo>
                    <a:pt x="14883" y="69453"/>
                  </a:lnTo>
                  <a:cubicBezTo>
                    <a:pt x="6666" y="69453"/>
                    <a:pt x="0" y="62787"/>
                    <a:pt x="0" y="54570"/>
                  </a:cubicBezTo>
                  <a:lnTo>
                    <a:pt x="0" y="24805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31" name="Text 29"/>
            <p:cNvSpPr/>
            <p:nvPr/>
          </p:nvSpPr>
          <p:spPr>
            <a:xfrm>
              <a:off x="8793" y="20"/>
              <a:ext cx="9725" cy="3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掩码属性重构流程示意</a:t>
              </a:r>
              <a:endParaRPr lang="en-US" sz="16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503" y="531"/>
              <a:ext cx="9942" cy="1930"/>
            </a:xfrm>
            <a:custGeom>
              <a:avLst/>
              <a:gdLst/>
              <a:ahLst/>
              <a:cxnLst/>
              <a:rect l="l" t="t" r="r" b="b"/>
              <a:pathLst>
                <a:path w="6540189" h="1349064">
                  <a:moveTo>
                    <a:pt x="63500" y="0"/>
                  </a:moveTo>
                  <a:lnTo>
                    <a:pt x="6476688" y="0"/>
                  </a:lnTo>
                  <a:cubicBezTo>
                    <a:pt x="6511759" y="0"/>
                    <a:pt x="6540189" y="28430"/>
                    <a:pt x="6540189" y="63500"/>
                  </a:cubicBezTo>
                  <a:lnTo>
                    <a:pt x="6540189" y="1285563"/>
                  </a:lnTo>
                  <a:cubicBezTo>
                    <a:pt x="6540189" y="1320634"/>
                    <a:pt x="6511759" y="1349064"/>
                    <a:pt x="6476688" y="1349064"/>
                  </a:cubicBezTo>
                  <a:lnTo>
                    <a:pt x="63500" y="1349064"/>
                  </a:lnTo>
                  <a:cubicBezTo>
                    <a:pt x="28430" y="1349064"/>
                    <a:pt x="0" y="1320634"/>
                    <a:pt x="0" y="1285563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8B0000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12606" y="678"/>
              <a:ext cx="1732" cy="352"/>
            </a:xfrm>
            <a:custGeom>
              <a:avLst/>
              <a:gdLst/>
              <a:ahLst/>
              <a:cxnLst/>
              <a:rect l="l" t="t" r="r" b="b"/>
              <a:pathLst>
                <a:path w="1139435" h="246345">
                  <a:moveTo>
                    <a:pt x="0" y="0"/>
                  </a:moveTo>
                  <a:lnTo>
                    <a:pt x="1139435" y="0"/>
                  </a:lnTo>
                  <a:lnTo>
                    <a:pt x="1139435" y="246345"/>
                  </a:lnTo>
                  <a:lnTo>
                    <a:pt x="0" y="246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34" name="Text 32"/>
            <p:cNvSpPr/>
            <p:nvPr/>
          </p:nvSpPr>
          <p:spPr>
            <a:xfrm>
              <a:off x="12557" y="678"/>
              <a:ext cx="1829" cy="352"/>
            </a:xfrm>
            <a:prstGeom prst="rect">
              <a:avLst/>
            </a:prstGeom>
            <a:noFill/>
          </p:spPr>
          <p:txBody>
            <a:bodyPr wrap="square" lIns="127000" tIns="31750" rIns="127000" bIns="3175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原始属性矩阵 X</a:t>
              </a:r>
              <a:endParaRPr lang="en-US" sz="1600" dirty="0"/>
            </a:p>
          </p:txBody>
        </p:sp>
        <p:pic>
          <p:nvPicPr>
            <p:cNvPr id="35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1662" y="1132"/>
              <a:ext cx="3620" cy="1136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36" name="Shape 33"/>
            <p:cNvSpPr/>
            <p:nvPr/>
          </p:nvSpPr>
          <p:spPr>
            <a:xfrm>
              <a:off x="12564" y="2653"/>
              <a:ext cx="1810" cy="591"/>
            </a:xfrm>
            <a:custGeom>
              <a:avLst/>
              <a:gdLst/>
              <a:ahLst/>
              <a:cxnLst/>
              <a:rect l="l" t="t" r="r" b="b"/>
              <a:pathLst>
                <a:path w="1190625" h="412750">
                  <a:moveTo>
                    <a:pt x="0" y="0"/>
                  </a:moveTo>
                  <a:lnTo>
                    <a:pt x="1190625" y="0"/>
                  </a:lnTo>
                  <a:lnTo>
                    <a:pt x="1190625" y="412750"/>
                  </a:lnTo>
                  <a:lnTo>
                    <a:pt x="0" y="412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37" name="Shape 34"/>
            <p:cNvSpPr/>
            <p:nvPr/>
          </p:nvSpPr>
          <p:spPr>
            <a:xfrm>
              <a:off x="12864" y="2845"/>
              <a:ext cx="244" cy="204"/>
            </a:xfrm>
            <a:custGeom>
              <a:avLst/>
              <a:gdLst/>
              <a:ahLst/>
              <a:cxnLst/>
              <a:rect l="l" t="t" r="r" b="b"/>
              <a:pathLst>
                <a:path w="160734" h="142875">
                  <a:moveTo>
                    <a:pt x="80367" y="17859"/>
                  </a:moveTo>
                  <a:cubicBezTo>
                    <a:pt x="17859" y="17859"/>
                    <a:pt x="0" y="44648"/>
                    <a:pt x="0" y="75902"/>
                  </a:cubicBezTo>
                  <a:cubicBezTo>
                    <a:pt x="0" y="107156"/>
                    <a:pt x="22324" y="125016"/>
                    <a:pt x="49113" y="125016"/>
                  </a:cubicBezTo>
                  <a:lnTo>
                    <a:pt x="51457" y="125016"/>
                  </a:lnTo>
                  <a:cubicBezTo>
                    <a:pt x="58210" y="125016"/>
                    <a:pt x="64405" y="121193"/>
                    <a:pt x="67419" y="115137"/>
                  </a:cubicBezTo>
                  <a:lnTo>
                    <a:pt x="73893" y="102217"/>
                  </a:lnTo>
                  <a:cubicBezTo>
                    <a:pt x="75121" y="99761"/>
                    <a:pt x="77605" y="98227"/>
                    <a:pt x="80367" y="98227"/>
                  </a:cubicBezTo>
                  <a:cubicBezTo>
                    <a:pt x="83130" y="98227"/>
                    <a:pt x="85613" y="99761"/>
                    <a:pt x="86841" y="102217"/>
                  </a:cubicBezTo>
                  <a:lnTo>
                    <a:pt x="93315" y="115137"/>
                  </a:lnTo>
                  <a:cubicBezTo>
                    <a:pt x="96329" y="121193"/>
                    <a:pt x="102524" y="125016"/>
                    <a:pt x="109277" y="125016"/>
                  </a:cubicBezTo>
                  <a:lnTo>
                    <a:pt x="111621" y="125016"/>
                  </a:lnTo>
                  <a:cubicBezTo>
                    <a:pt x="138410" y="125016"/>
                    <a:pt x="160734" y="107156"/>
                    <a:pt x="160734" y="75902"/>
                  </a:cubicBezTo>
                  <a:cubicBezTo>
                    <a:pt x="160734" y="44648"/>
                    <a:pt x="142875" y="17859"/>
                    <a:pt x="80367" y="17859"/>
                  </a:cubicBezTo>
                  <a:close/>
                  <a:moveTo>
                    <a:pt x="26789" y="71438"/>
                  </a:moveTo>
                  <a:cubicBezTo>
                    <a:pt x="26789" y="61581"/>
                    <a:pt x="34792" y="53578"/>
                    <a:pt x="44648" y="53578"/>
                  </a:cubicBezTo>
                  <a:cubicBezTo>
                    <a:pt x="54505" y="53578"/>
                    <a:pt x="62508" y="61581"/>
                    <a:pt x="62508" y="71438"/>
                  </a:cubicBezTo>
                  <a:cubicBezTo>
                    <a:pt x="62508" y="81294"/>
                    <a:pt x="54505" y="89297"/>
                    <a:pt x="44648" y="89297"/>
                  </a:cubicBezTo>
                  <a:cubicBezTo>
                    <a:pt x="34792" y="89297"/>
                    <a:pt x="26789" y="81294"/>
                    <a:pt x="26789" y="71438"/>
                  </a:cubicBezTo>
                  <a:close/>
                  <a:moveTo>
                    <a:pt x="116086" y="53578"/>
                  </a:moveTo>
                  <a:cubicBezTo>
                    <a:pt x="125943" y="53578"/>
                    <a:pt x="133945" y="61581"/>
                    <a:pt x="133945" y="71438"/>
                  </a:cubicBezTo>
                  <a:cubicBezTo>
                    <a:pt x="133945" y="81294"/>
                    <a:pt x="125943" y="89297"/>
                    <a:pt x="116086" y="89297"/>
                  </a:cubicBezTo>
                  <a:cubicBezTo>
                    <a:pt x="106229" y="89297"/>
                    <a:pt x="98227" y="81294"/>
                    <a:pt x="98227" y="71438"/>
                  </a:cubicBezTo>
                  <a:cubicBezTo>
                    <a:pt x="98227" y="61581"/>
                    <a:pt x="106229" y="53578"/>
                    <a:pt x="116086" y="535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Text 35"/>
            <p:cNvSpPr/>
            <p:nvPr/>
          </p:nvSpPr>
          <p:spPr>
            <a:xfrm>
              <a:off x="12889" y="2653"/>
              <a:ext cx="1593" cy="591"/>
            </a:xfrm>
            <a:prstGeom prst="rect">
              <a:avLst/>
            </a:prstGeom>
            <a:noFill/>
          </p:spPr>
          <p:txBody>
            <a:bodyPr wrap="square" lIns="190500" tIns="95250" rIns="190500" bIns="95250" rtlCol="0" anchor="ctr"/>
            <a:lstStyle/>
            <a:p>
              <a:pPr>
                <a:lnSpc>
                  <a:spcPct val="130000"/>
                </a:lnSpc>
              </a:pPr>
              <a:r>
                <a:rPr lang="en-US" sz="112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掩码操作</a:t>
              </a:r>
              <a:endParaRPr lang="en-US" sz="1600" dirty="0"/>
            </a:p>
          </p:txBody>
        </p:sp>
        <p:sp>
          <p:nvSpPr>
            <p:cNvPr id="39" name="Shape 36"/>
            <p:cNvSpPr/>
            <p:nvPr/>
          </p:nvSpPr>
          <p:spPr>
            <a:xfrm>
              <a:off x="8503" y="3436"/>
              <a:ext cx="9942" cy="1930"/>
            </a:xfrm>
            <a:custGeom>
              <a:avLst/>
              <a:gdLst/>
              <a:ahLst/>
              <a:cxnLst/>
              <a:rect l="l" t="t" r="r" b="b"/>
              <a:pathLst>
                <a:path w="6540189" h="1349064">
                  <a:moveTo>
                    <a:pt x="63500" y="0"/>
                  </a:moveTo>
                  <a:lnTo>
                    <a:pt x="6476688" y="0"/>
                  </a:lnTo>
                  <a:cubicBezTo>
                    <a:pt x="6511759" y="0"/>
                    <a:pt x="6540189" y="28430"/>
                    <a:pt x="6540189" y="63500"/>
                  </a:cubicBezTo>
                  <a:lnTo>
                    <a:pt x="6540189" y="1285563"/>
                  </a:lnTo>
                  <a:cubicBezTo>
                    <a:pt x="6540189" y="1320634"/>
                    <a:pt x="6511759" y="1349064"/>
                    <a:pt x="6476688" y="1349064"/>
                  </a:cubicBezTo>
                  <a:lnTo>
                    <a:pt x="63500" y="1349064"/>
                  </a:lnTo>
                  <a:cubicBezTo>
                    <a:pt x="28430" y="1349064"/>
                    <a:pt x="0" y="1320634"/>
                    <a:pt x="0" y="1285563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1F2937"/>
              </a:solidFill>
              <a:prstDash val="solid"/>
            </a:ln>
          </p:spPr>
        </p:sp>
        <p:sp>
          <p:nvSpPr>
            <p:cNvPr id="40" name="Shape 37"/>
            <p:cNvSpPr/>
            <p:nvPr/>
          </p:nvSpPr>
          <p:spPr>
            <a:xfrm>
              <a:off x="12603" y="3584"/>
              <a:ext cx="1737" cy="352"/>
            </a:xfrm>
            <a:custGeom>
              <a:avLst/>
              <a:gdLst/>
              <a:ahLst/>
              <a:cxnLst/>
              <a:rect l="l" t="t" r="r" b="b"/>
              <a:pathLst>
                <a:path w="1142657" h="246345">
                  <a:moveTo>
                    <a:pt x="0" y="0"/>
                  </a:moveTo>
                  <a:lnTo>
                    <a:pt x="1142657" y="0"/>
                  </a:lnTo>
                  <a:lnTo>
                    <a:pt x="1142657" y="246345"/>
                  </a:lnTo>
                  <a:lnTo>
                    <a:pt x="0" y="246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41" name="Text 38"/>
            <p:cNvSpPr/>
            <p:nvPr/>
          </p:nvSpPr>
          <p:spPr>
            <a:xfrm>
              <a:off x="12555" y="3584"/>
              <a:ext cx="1833" cy="352"/>
            </a:xfrm>
            <a:prstGeom prst="rect">
              <a:avLst/>
            </a:prstGeom>
            <a:noFill/>
          </p:spPr>
          <p:txBody>
            <a:bodyPr wrap="square" lIns="127000" tIns="31750" rIns="127000" bIns="3175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残缺属性矩阵 X̃</a:t>
              </a:r>
              <a:endParaRPr lang="en-US" sz="1600" dirty="0"/>
            </a:p>
          </p:txBody>
        </p:sp>
        <p:pic>
          <p:nvPicPr>
            <p:cNvPr id="42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1662" y="4038"/>
              <a:ext cx="3620" cy="1136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43" name="Shape 39"/>
            <p:cNvSpPr/>
            <p:nvPr/>
          </p:nvSpPr>
          <p:spPr>
            <a:xfrm>
              <a:off x="13309" y="5559"/>
              <a:ext cx="326" cy="409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94543" y="280504"/>
                  </a:moveTo>
                  <a:cubicBezTo>
                    <a:pt x="101519" y="287480"/>
                    <a:pt x="112849" y="287480"/>
                    <a:pt x="119825" y="280504"/>
                  </a:cubicBezTo>
                  <a:lnTo>
                    <a:pt x="209122" y="191207"/>
                  </a:lnTo>
                  <a:cubicBezTo>
                    <a:pt x="216098" y="184231"/>
                    <a:pt x="216098" y="172901"/>
                    <a:pt x="209122" y="165925"/>
                  </a:cubicBezTo>
                  <a:cubicBezTo>
                    <a:pt x="202146" y="158948"/>
                    <a:pt x="190816" y="158948"/>
                    <a:pt x="183840" y="165925"/>
                  </a:cubicBezTo>
                  <a:lnTo>
                    <a:pt x="125016" y="224749"/>
                  </a:lnTo>
                  <a:lnTo>
                    <a:pt x="125016" y="17859"/>
                  </a:lnTo>
                  <a:cubicBezTo>
                    <a:pt x="125016" y="7981"/>
                    <a:pt x="117035" y="0"/>
                    <a:pt x="107156" y="0"/>
                  </a:cubicBezTo>
                  <a:cubicBezTo>
                    <a:pt x="97278" y="0"/>
                    <a:pt x="89297" y="7981"/>
                    <a:pt x="89297" y="17859"/>
                  </a:cubicBezTo>
                  <a:lnTo>
                    <a:pt x="89297" y="224749"/>
                  </a:lnTo>
                  <a:lnTo>
                    <a:pt x="30473" y="165925"/>
                  </a:lnTo>
                  <a:cubicBezTo>
                    <a:pt x="23496" y="158948"/>
                    <a:pt x="12167" y="158948"/>
                    <a:pt x="5190" y="165925"/>
                  </a:cubicBezTo>
                  <a:cubicBezTo>
                    <a:pt x="-1786" y="172901"/>
                    <a:pt x="-1786" y="184231"/>
                    <a:pt x="5190" y="191207"/>
                  </a:cubicBezTo>
                  <a:lnTo>
                    <a:pt x="94487" y="280504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44" name="Shape 40"/>
            <p:cNvSpPr/>
            <p:nvPr/>
          </p:nvSpPr>
          <p:spPr>
            <a:xfrm>
              <a:off x="8491" y="6149"/>
              <a:ext cx="9966" cy="1544"/>
            </a:xfrm>
            <a:custGeom>
              <a:avLst/>
              <a:gdLst/>
              <a:ahLst/>
              <a:cxnLst/>
              <a:rect l="l" t="t" r="r" b="b"/>
              <a:pathLst>
                <a:path w="6556375" h="1079500">
                  <a:moveTo>
                    <a:pt x="63496" y="0"/>
                  </a:moveTo>
                  <a:lnTo>
                    <a:pt x="6492879" y="0"/>
                  </a:lnTo>
                  <a:cubicBezTo>
                    <a:pt x="6527947" y="0"/>
                    <a:pt x="6556375" y="28428"/>
                    <a:pt x="6556375" y="63496"/>
                  </a:cubicBezTo>
                  <a:lnTo>
                    <a:pt x="6556375" y="1016004"/>
                  </a:lnTo>
                  <a:cubicBezTo>
                    <a:pt x="6556375" y="1051072"/>
                    <a:pt x="6527947" y="1079500"/>
                    <a:pt x="6492879" y="1079500"/>
                  </a:cubicBezTo>
                  <a:lnTo>
                    <a:pt x="63496" y="1079500"/>
                  </a:lnTo>
                  <a:cubicBezTo>
                    <a:pt x="28428" y="1079500"/>
                    <a:pt x="0" y="1051072"/>
                    <a:pt x="0" y="1016004"/>
                  </a:cubicBezTo>
                  <a:lnTo>
                    <a:pt x="0" y="63496"/>
                  </a:lnTo>
                  <a:cubicBezTo>
                    <a:pt x="0" y="28452"/>
                    <a:pt x="28452" y="0"/>
                    <a:pt x="63496" y="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45" name="Shape 41"/>
            <p:cNvSpPr/>
            <p:nvPr/>
          </p:nvSpPr>
          <p:spPr>
            <a:xfrm>
              <a:off x="12337" y="6286"/>
              <a:ext cx="2352" cy="352"/>
            </a:xfrm>
            <a:custGeom>
              <a:avLst/>
              <a:gdLst/>
              <a:ahLst/>
              <a:cxnLst/>
              <a:rect l="l" t="t" r="r" b="b"/>
              <a:pathLst>
                <a:path w="1434599" h="246345">
                  <a:moveTo>
                    <a:pt x="0" y="0"/>
                  </a:moveTo>
                  <a:lnTo>
                    <a:pt x="1434599" y="0"/>
                  </a:lnTo>
                  <a:lnTo>
                    <a:pt x="1434599" y="246345"/>
                  </a:lnTo>
                  <a:lnTo>
                    <a:pt x="0" y="246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</p:sp>
        <p:sp>
          <p:nvSpPr>
            <p:cNvPr id="46" name="Text 42"/>
            <p:cNvSpPr/>
            <p:nvPr/>
          </p:nvSpPr>
          <p:spPr>
            <a:xfrm>
              <a:off x="12159" y="6286"/>
              <a:ext cx="2685" cy="352"/>
            </a:xfrm>
            <a:prstGeom prst="rect">
              <a:avLst/>
            </a:prstGeom>
            <a:noFill/>
          </p:spPr>
          <p:txBody>
            <a:bodyPr wrap="square" lIns="127000" tIns="31750" rIns="127000" bIns="3175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GAT编码器 + 解码器</a:t>
              </a:r>
              <a:endParaRPr lang="en-US" sz="1600" dirty="0"/>
            </a:p>
          </p:txBody>
        </p:sp>
        <p:sp>
          <p:nvSpPr>
            <p:cNvPr id="47" name="Shape 43"/>
            <p:cNvSpPr/>
            <p:nvPr/>
          </p:nvSpPr>
          <p:spPr>
            <a:xfrm>
              <a:off x="11867" y="6740"/>
              <a:ext cx="1400" cy="500"/>
            </a:xfrm>
            <a:custGeom>
              <a:avLst/>
              <a:gdLst/>
              <a:ahLst/>
              <a:cxnLst/>
              <a:rect l="l" t="t" r="r" b="b"/>
              <a:pathLst>
                <a:path w="920750" h="349250">
                  <a:moveTo>
                    <a:pt x="0" y="0"/>
                  </a:moveTo>
                  <a:lnTo>
                    <a:pt x="920750" y="0"/>
                  </a:lnTo>
                  <a:lnTo>
                    <a:pt x="920750" y="349250"/>
                  </a:lnTo>
                  <a:lnTo>
                    <a:pt x="0" y="349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</p:sp>
        <p:sp>
          <p:nvSpPr>
            <p:cNvPr id="48" name="Text 44"/>
            <p:cNvSpPr/>
            <p:nvPr/>
          </p:nvSpPr>
          <p:spPr>
            <a:xfrm>
              <a:off x="12018" y="6876"/>
              <a:ext cx="1098" cy="22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聚合邻居信息</a:t>
              </a:r>
              <a:endParaRPr lang="en-US" sz="1600" dirty="0"/>
            </a:p>
          </p:txBody>
        </p:sp>
        <p:sp>
          <p:nvSpPr>
            <p:cNvPr id="49" name="Text 45"/>
            <p:cNvSpPr/>
            <p:nvPr/>
          </p:nvSpPr>
          <p:spPr>
            <a:xfrm>
              <a:off x="11831" y="7330"/>
              <a:ext cx="1472" cy="18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750" dirty="0">
                  <a:solidFill>
                    <a:srgbClr val="FFFFFF">
                      <a:alpha val="8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学习拓扑结构</a:t>
              </a:r>
              <a:endParaRPr lang="en-US" sz="1600" dirty="0"/>
            </a:p>
          </p:txBody>
        </p:sp>
        <p:sp>
          <p:nvSpPr>
            <p:cNvPr id="50" name="Shape 46"/>
            <p:cNvSpPr/>
            <p:nvPr/>
          </p:nvSpPr>
          <p:spPr>
            <a:xfrm>
              <a:off x="13514" y="6989"/>
              <a:ext cx="253" cy="273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95250" y="23812"/>
                  </a:moveTo>
                  <a:cubicBezTo>
                    <a:pt x="95250" y="17227"/>
                    <a:pt x="89929" y="11906"/>
                    <a:pt x="83344" y="11906"/>
                  </a:cubicBezTo>
                  <a:cubicBezTo>
                    <a:pt x="76758" y="11906"/>
                    <a:pt x="71438" y="17227"/>
                    <a:pt x="71438" y="23812"/>
                  </a:cubicBezTo>
                  <a:lnTo>
                    <a:pt x="71438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71438" y="107156"/>
                  </a:lnTo>
                  <a:lnTo>
                    <a:pt x="71438" y="166688"/>
                  </a:lnTo>
                  <a:cubicBezTo>
                    <a:pt x="71438" y="173273"/>
                    <a:pt x="76758" y="178594"/>
                    <a:pt x="83344" y="178594"/>
                  </a:cubicBezTo>
                  <a:cubicBezTo>
                    <a:pt x="89929" y="178594"/>
                    <a:pt x="95250" y="173273"/>
                    <a:pt x="95250" y="166688"/>
                  </a:cubicBezTo>
                  <a:lnTo>
                    <a:pt x="95250" y="107156"/>
                  </a:lnTo>
                  <a:lnTo>
                    <a:pt x="154781" y="107156"/>
                  </a:lnTo>
                  <a:cubicBezTo>
                    <a:pt x="161367" y="107156"/>
                    <a:pt x="166688" y="101836"/>
                    <a:pt x="166688" y="95250"/>
                  </a:cubicBezTo>
                  <a:cubicBezTo>
                    <a:pt x="166688" y="88664"/>
                    <a:pt x="161367" y="83344"/>
                    <a:pt x="154781" y="83344"/>
                  </a:cubicBezTo>
                  <a:lnTo>
                    <a:pt x="95250" y="83344"/>
                  </a:lnTo>
                  <a:lnTo>
                    <a:pt x="95250" y="238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Shape 47"/>
            <p:cNvSpPr/>
            <p:nvPr/>
          </p:nvSpPr>
          <p:spPr>
            <a:xfrm>
              <a:off x="14014" y="6740"/>
              <a:ext cx="1062" cy="500"/>
            </a:xfrm>
            <a:custGeom>
              <a:avLst/>
              <a:gdLst/>
              <a:ahLst/>
              <a:cxnLst/>
              <a:rect l="l" t="t" r="r" b="b"/>
              <a:pathLst>
                <a:path w="698500" h="349250">
                  <a:moveTo>
                    <a:pt x="0" y="0"/>
                  </a:moveTo>
                  <a:lnTo>
                    <a:pt x="698500" y="0"/>
                  </a:lnTo>
                  <a:lnTo>
                    <a:pt x="698500" y="349250"/>
                  </a:lnTo>
                  <a:lnTo>
                    <a:pt x="0" y="349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</p:sp>
        <p:sp>
          <p:nvSpPr>
            <p:cNvPr id="52" name="Text 48"/>
            <p:cNvSpPr/>
            <p:nvPr/>
          </p:nvSpPr>
          <p:spPr>
            <a:xfrm>
              <a:off x="14165" y="6876"/>
              <a:ext cx="760" cy="22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重构属性</a:t>
              </a:r>
              <a:endParaRPr lang="en-US" sz="1600" dirty="0"/>
            </a:p>
          </p:txBody>
        </p:sp>
        <p:sp>
          <p:nvSpPr>
            <p:cNvPr id="53" name="Text 49"/>
            <p:cNvSpPr/>
            <p:nvPr/>
          </p:nvSpPr>
          <p:spPr>
            <a:xfrm>
              <a:off x="13978" y="7330"/>
              <a:ext cx="1134" cy="18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750" dirty="0">
                  <a:solidFill>
                    <a:srgbClr val="FFFFFF">
                      <a:alpha val="8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学习语义信息</a:t>
              </a:r>
              <a:endParaRPr lang="en-US" sz="1600" dirty="0"/>
            </a:p>
          </p:txBody>
        </p:sp>
        <p:sp>
          <p:nvSpPr>
            <p:cNvPr id="54" name="Shape 50"/>
            <p:cNvSpPr/>
            <p:nvPr/>
          </p:nvSpPr>
          <p:spPr>
            <a:xfrm>
              <a:off x="13309" y="7714"/>
              <a:ext cx="326" cy="409"/>
            </a:xfrm>
            <a:custGeom>
              <a:avLst/>
              <a:gdLst/>
              <a:ahLst/>
              <a:cxnLst/>
              <a:rect l="l" t="t" r="r" b="b"/>
              <a:pathLst>
                <a:path w="214313" h="285750">
                  <a:moveTo>
                    <a:pt x="94543" y="280504"/>
                  </a:moveTo>
                  <a:cubicBezTo>
                    <a:pt x="101519" y="287480"/>
                    <a:pt x="112849" y="287480"/>
                    <a:pt x="119825" y="280504"/>
                  </a:cubicBezTo>
                  <a:lnTo>
                    <a:pt x="209122" y="191207"/>
                  </a:lnTo>
                  <a:cubicBezTo>
                    <a:pt x="216098" y="184231"/>
                    <a:pt x="216098" y="172901"/>
                    <a:pt x="209122" y="165925"/>
                  </a:cubicBezTo>
                  <a:cubicBezTo>
                    <a:pt x="202146" y="158948"/>
                    <a:pt x="190816" y="158948"/>
                    <a:pt x="183840" y="165925"/>
                  </a:cubicBezTo>
                  <a:lnTo>
                    <a:pt x="125016" y="224749"/>
                  </a:lnTo>
                  <a:lnTo>
                    <a:pt x="125016" y="17859"/>
                  </a:lnTo>
                  <a:cubicBezTo>
                    <a:pt x="125016" y="7981"/>
                    <a:pt x="117035" y="0"/>
                    <a:pt x="107156" y="0"/>
                  </a:cubicBezTo>
                  <a:cubicBezTo>
                    <a:pt x="97278" y="0"/>
                    <a:pt x="89297" y="7981"/>
                    <a:pt x="89297" y="17859"/>
                  </a:cubicBezTo>
                  <a:lnTo>
                    <a:pt x="89297" y="224749"/>
                  </a:lnTo>
                  <a:lnTo>
                    <a:pt x="30473" y="165925"/>
                  </a:lnTo>
                  <a:cubicBezTo>
                    <a:pt x="23496" y="158948"/>
                    <a:pt x="12167" y="158948"/>
                    <a:pt x="5190" y="165925"/>
                  </a:cubicBezTo>
                  <a:cubicBezTo>
                    <a:pt x="-1786" y="172901"/>
                    <a:pt x="-1786" y="184231"/>
                    <a:pt x="5190" y="191207"/>
                  </a:cubicBezTo>
                  <a:lnTo>
                    <a:pt x="94487" y="280504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55" name="Shape 51"/>
            <p:cNvSpPr/>
            <p:nvPr/>
          </p:nvSpPr>
          <p:spPr>
            <a:xfrm>
              <a:off x="8515" y="8284"/>
              <a:ext cx="9942" cy="1930"/>
            </a:xfrm>
            <a:custGeom>
              <a:avLst/>
              <a:gdLst/>
              <a:ahLst/>
              <a:cxnLst/>
              <a:rect l="l" t="t" r="r" b="b"/>
              <a:pathLst>
                <a:path w="6540189" h="1349064">
                  <a:moveTo>
                    <a:pt x="63500" y="0"/>
                  </a:moveTo>
                  <a:lnTo>
                    <a:pt x="6476688" y="0"/>
                  </a:lnTo>
                  <a:cubicBezTo>
                    <a:pt x="6511759" y="0"/>
                    <a:pt x="6540189" y="28430"/>
                    <a:pt x="6540189" y="63500"/>
                  </a:cubicBezTo>
                  <a:lnTo>
                    <a:pt x="6540189" y="1285563"/>
                  </a:lnTo>
                  <a:cubicBezTo>
                    <a:pt x="6540189" y="1320634"/>
                    <a:pt x="6511759" y="1349064"/>
                    <a:pt x="6476688" y="1349064"/>
                  </a:cubicBezTo>
                  <a:lnTo>
                    <a:pt x="63500" y="1349064"/>
                  </a:lnTo>
                  <a:cubicBezTo>
                    <a:pt x="28430" y="1349064"/>
                    <a:pt x="0" y="1320634"/>
                    <a:pt x="0" y="1285563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8B0000"/>
              </a:solidFill>
              <a:prstDash val="solid"/>
            </a:ln>
          </p:spPr>
        </p:sp>
        <p:sp>
          <p:nvSpPr>
            <p:cNvPr id="56" name="Shape 52"/>
            <p:cNvSpPr/>
            <p:nvPr/>
          </p:nvSpPr>
          <p:spPr>
            <a:xfrm>
              <a:off x="12615" y="8431"/>
              <a:ext cx="1737" cy="352"/>
            </a:xfrm>
            <a:custGeom>
              <a:avLst/>
              <a:gdLst/>
              <a:ahLst/>
              <a:cxnLst/>
              <a:rect l="l" t="t" r="r" b="b"/>
              <a:pathLst>
                <a:path w="1142657" h="246345">
                  <a:moveTo>
                    <a:pt x="0" y="0"/>
                  </a:moveTo>
                  <a:lnTo>
                    <a:pt x="1142657" y="0"/>
                  </a:lnTo>
                  <a:lnTo>
                    <a:pt x="1142657" y="246345"/>
                  </a:lnTo>
                  <a:lnTo>
                    <a:pt x="0" y="246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57" name="Text 53"/>
            <p:cNvSpPr/>
            <p:nvPr/>
          </p:nvSpPr>
          <p:spPr>
            <a:xfrm>
              <a:off x="12567" y="8431"/>
              <a:ext cx="1833" cy="352"/>
            </a:xfrm>
            <a:prstGeom prst="rect">
              <a:avLst/>
            </a:prstGeom>
            <a:noFill/>
          </p:spPr>
          <p:txBody>
            <a:bodyPr wrap="square" lIns="127000" tIns="31750" rIns="127000" bIns="3175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重构属性矩阵 X̂</a:t>
              </a:r>
              <a:endParaRPr lang="en-US" sz="1600" dirty="0"/>
            </a:p>
          </p:txBody>
        </p:sp>
        <p:pic>
          <p:nvPicPr>
            <p:cNvPr id="58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1674" y="8885"/>
              <a:ext cx="3620" cy="1136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59" name="Shape 54"/>
            <p:cNvSpPr/>
            <p:nvPr/>
          </p:nvSpPr>
          <p:spPr>
            <a:xfrm>
              <a:off x="8503" y="10406"/>
              <a:ext cx="9966" cy="545"/>
            </a:xfrm>
            <a:custGeom>
              <a:avLst/>
              <a:gdLst/>
              <a:ahLst/>
              <a:cxnLst/>
              <a:rect l="l" t="t" r="r" b="b"/>
              <a:pathLst>
                <a:path w="6556375" h="381000">
                  <a:moveTo>
                    <a:pt x="0" y="0"/>
                  </a:moveTo>
                  <a:lnTo>
                    <a:pt x="6556375" y="0"/>
                  </a:lnTo>
                  <a:lnTo>
                    <a:pt x="655637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196"/>
              </a:srgbClr>
            </a:solidFill>
          </p:spPr>
        </p:sp>
        <p:sp>
          <p:nvSpPr>
            <p:cNvPr id="60" name="Shape 55"/>
            <p:cNvSpPr/>
            <p:nvPr/>
          </p:nvSpPr>
          <p:spPr>
            <a:xfrm>
              <a:off x="10817" y="10587"/>
              <a:ext cx="193" cy="182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127000"/>
                  </a:moveTo>
                  <a:cubicBezTo>
                    <a:pt x="98547" y="127000"/>
                    <a:pt x="127000" y="98547"/>
                    <a:pt x="127000" y="63500"/>
                  </a:cubicBezTo>
                  <a:cubicBezTo>
                    <a:pt x="127000" y="28453"/>
                    <a:pt x="98547" y="0"/>
                    <a:pt x="63500" y="0"/>
                  </a:cubicBezTo>
                  <a:cubicBezTo>
                    <a:pt x="28453" y="0"/>
                    <a:pt x="0" y="28453"/>
                    <a:pt x="0" y="63500"/>
                  </a:cubicBezTo>
                  <a:cubicBezTo>
                    <a:pt x="0" y="98547"/>
                    <a:pt x="28453" y="127000"/>
                    <a:pt x="63500" y="127000"/>
                  </a:cubicBezTo>
                  <a:close/>
                  <a:moveTo>
                    <a:pt x="84435" y="52760"/>
                  </a:moveTo>
                  <a:lnTo>
                    <a:pt x="64591" y="84510"/>
                  </a:lnTo>
                  <a:cubicBezTo>
                    <a:pt x="63550" y="86171"/>
                    <a:pt x="61764" y="87213"/>
                    <a:pt x="59804" y="87313"/>
                  </a:cubicBezTo>
                  <a:cubicBezTo>
                    <a:pt x="57845" y="87412"/>
                    <a:pt x="55959" y="86519"/>
                    <a:pt x="54794" y="84931"/>
                  </a:cubicBezTo>
                  <a:lnTo>
                    <a:pt x="42887" y="69056"/>
                  </a:lnTo>
                  <a:cubicBezTo>
                    <a:pt x="40903" y="66427"/>
                    <a:pt x="41449" y="62706"/>
                    <a:pt x="44078" y="60722"/>
                  </a:cubicBezTo>
                  <a:cubicBezTo>
                    <a:pt x="46707" y="58737"/>
                    <a:pt x="50428" y="59283"/>
                    <a:pt x="52412" y="61913"/>
                  </a:cubicBezTo>
                  <a:lnTo>
                    <a:pt x="59110" y="70842"/>
                  </a:lnTo>
                  <a:lnTo>
                    <a:pt x="74340" y="46459"/>
                  </a:lnTo>
                  <a:cubicBezTo>
                    <a:pt x="76076" y="43681"/>
                    <a:pt x="79747" y="42813"/>
                    <a:pt x="82550" y="44574"/>
                  </a:cubicBezTo>
                  <a:cubicBezTo>
                    <a:pt x="85353" y="46335"/>
                    <a:pt x="86196" y="49981"/>
                    <a:pt x="84435" y="52784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61" name="Text 56"/>
            <p:cNvSpPr/>
            <p:nvPr/>
          </p:nvSpPr>
          <p:spPr>
            <a:xfrm>
              <a:off x="8901" y="10543"/>
              <a:ext cx="9471" cy="27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"填空题"式训练：模型必须理解数据内在规律才能正确重构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784" y="379785"/>
            <a:ext cx="11603290" cy="379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核心模块二：社群隶属读取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79784" y="835498"/>
            <a:ext cx="911551" cy="37981"/>
          </a:xfrm>
          <a:custGeom>
            <a:avLst/>
            <a:gdLst/>
            <a:ahLst/>
            <a:cxnLst/>
            <a:rect l="l" t="t" r="r" b="b"/>
            <a:pathLst>
              <a:path w="911551" h="37981">
                <a:moveTo>
                  <a:pt x="0" y="0"/>
                </a:moveTo>
                <a:lnTo>
                  <a:pt x="911551" y="0"/>
                </a:lnTo>
                <a:lnTo>
                  <a:pt x="911551" y="37981"/>
                </a:lnTo>
                <a:lnTo>
                  <a:pt x="0" y="3798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98402" y="1063354"/>
            <a:ext cx="4547889" cy="1329346"/>
          </a:xfrm>
          <a:custGeom>
            <a:avLst/>
            <a:gdLst/>
            <a:ahLst/>
            <a:cxnLst/>
            <a:rect l="l" t="t" r="r" b="b"/>
            <a:pathLst>
              <a:path w="4547889" h="1329346">
                <a:moveTo>
                  <a:pt x="0" y="0"/>
                </a:moveTo>
                <a:lnTo>
                  <a:pt x="4547889" y="0"/>
                </a:lnTo>
                <a:lnTo>
                  <a:pt x="4547889" y="1329346"/>
                </a:lnTo>
                <a:lnTo>
                  <a:pt x="0" y="1329346"/>
                </a:lnTo>
                <a:lnTo>
                  <a:pt x="0" y="0"/>
                </a:lnTo>
                <a:close/>
              </a:path>
            </a:pathLst>
          </a:custGeom>
          <a:solidFill>
            <a:srgbClr val="1F2937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98402" y="1063354"/>
            <a:ext cx="37237" cy="1329346"/>
          </a:xfrm>
          <a:custGeom>
            <a:avLst/>
            <a:gdLst/>
            <a:ahLst/>
            <a:cxnLst/>
            <a:rect l="l" t="t" r="r" b="b"/>
            <a:pathLst>
              <a:path w="37237" h="1329346">
                <a:moveTo>
                  <a:pt x="0" y="0"/>
                </a:moveTo>
                <a:lnTo>
                  <a:pt x="37237" y="0"/>
                </a:lnTo>
                <a:lnTo>
                  <a:pt x="37237" y="1329346"/>
                </a:lnTo>
                <a:lnTo>
                  <a:pt x="0" y="1329346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6" name="Shape 4"/>
          <p:cNvSpPr/>
          <p:nvPr/>
        </p:nvSpPr>
        <p:spPr>
          <a:xfrm>
            <a:off x="663885" y="1291209"/>
            <a:ext cx="170916" cy="227888"/>
          </a:xfrm>
          <a:custGeom>
            <a:avLst/>
            <a:gdLst/>
            <a:ahLst/>
            <a:cxnLst/>
            <a:rect l="l" t="t" r="r" b="b"/>
            <a:pathLst>
              <a:path w="170916" h="227888">
                <a:moveTo>
                  <a:pt x="130368" y="170916"/>
                </a:moveTo>
                <a:cubicBezTo>
                  <a:pt x="133617" y="160990"/>
                  <a:pt x="140115" y="151999"/>
                  <a:pt x="147459" y="144255"/>
                </a:cubicBezTo>
                <a:cubicBezTo>
                  <a:pt x="162014" y="128944"/>
                  <a:pt x="170916" y="108247"/>
                  <a:pt x="170916" y="85458"/>
                </a:cubicBezTo>
                <a:cubicBezTo>
                  <a:pt x="170916" y="38278"/>
                  <a:pt x="132638" y="0"/>
                  <a:pt x="85458" y="0"/>
                </a:cubicBezTo>
                <a:cubicBezTo>
                  <a:pt x="38278" y="0"/>
                  <a:pt x="0" y="38278"/>
                  <a:pt x="0" y="85458"/>
                </a:cubicBezTo>
                <a:cubicBezTo>
                  <a:pt x="0" y="108247"/>
                  <a:pt x="8902" y="128944"/>
                  <a:pt x="23456" y="144255"/>
                </a:cubicBezTo>
                <a:cubicBezTo>
                  <a:pt x="30800" y="151999"/>
                  <a:pt x="37343" y="160990"/>
                  <a:pt x="40548" y="170916"/>
                </a:cubicBezTo>
                <a:lnTo>
                  <a:pt x="130323" y="170916"/>
                </a:lnTo>
                <a:close/>
                <a:moveTo>
                  <a:pt x="128187" y="192280"/>
                </a:moveTo>
                <a:lnTo>
                  <a:pt x="42729" y="192280"/>
                </a:lnTo>
                <a:lnTo>
                  <a:pt x="42729" y="199402"/>
                </a:lnTo>
                <a:cubicBezTo>
                  <a:pt x="42729" y="219075"/>
                  <a:pt x="58663" y="235009"/>
                  <a:pt x="78336" y="235009"/>
                </a:cubicBezTo>
                <a:lnTo>
                  <a:pt x="92579" y="235009"/>
                </a:lnTo>
                <a:cubicBezTo>
                  <a:pt x="112253" y="235009"/>
                  <a:pt x="128187" y="219075"/>
                  <a:pt x="128187" y="199402"/>
                </a:cubicBezTo>
                <a:lnTo>
                  <a:pt x="128187" y="192280"/>
                </a:lnTo>
                <a:close/>
                <a:moveTo>
                  <a:pt x="81897" y="49850"/>
                </a:moveTo>
                <a:cubicBezTo>
                  <a:pt x="64182" y="49850"/>
                  <a:pt x="49850" y="64182"/>
                  <a:pt x="49850" y="81897"/>
                </a:cubicBezTo>
                <a:cubicBezTo>
                  <a:pt x="49850" y="87817"/>
                  <a:pt x="45088" y="92579"/>
                  <a:pt x="39168" y="92579"/>
                </a:cubicBezTo>
                <a:cubicBezTo>
                  <a:pt x="33248" y="92579"/>
                  <a:pt x="28486" y="87817"/>
                  <a:pt x="28486" y="81897"/>
                </a:cubicBezTo>
                <a:cubicBezTo>
                  <a:pt x="28486" y="52387"/>
                  <a:pt x="52387" y="28486"/>
                  <a:pt x="81897" y="28486"/>
                </a:cubicBezTo>
                <a:cubicBezTo>
                  <a:pt x="87817" y="28486"/>
                  <a:pt x="92579" y="33248"/>
                  <a:pt x="92579" y="39168"/>
                </a:cubicBezTo>
                <a:cubicBezTo>
                  <a:pt x="92579" y="45088"/>
                  <a:pt x="87817" y="49850"/>
                  <a:pt x="81897" y="4985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7" name="Text 5"/>
          <p:cNvSpPr/>
          <p:nvPr/>
        </p:nvSpPr>
        <p:spPr>
          <a:xfrm>
            <a:off x="1005606" y="1253246"/>
            <a:ext cx="1025495" cy="303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设计灵感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6913" y="1708883"/>
            <a:ext cx="4234916" cy="4937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模拟社交网络的生成过程——</a:t>
            </a:r>
            <a:r>
              <a:rPr lang="en-US" sz="119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两个人成为好友是因为他们同时属于某个共同社群</a:t>
            </a:r>
            <a:r>
              <a:rPr lang="en-US" sz="119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8402" y="2544305"/>
            <a:ext cx="4547889" cy="2867589"/>
          </a:xfrm>
          <a:custGeom>
            <a:avLst/>
            <a:gdLst/>
            <a:ahLst/>
            <a:cxnLst/>
            <a:rect l="l" t="t" r="r" b="b"/>
            <a:pathLst>
              <a:path w="4547889" h="2867589">
                <a:moveTo>
                  <a:pt x="0" y="0"/>
                </a:moveTo>
                <a:lnTo>
                  <a:pt x="4547889" y="0"/>
                </a:lnTo>
                <a:lnTo>
                  <a:pt x="4547889" y="2867589"/>
                </a:lnTo>
                <a:lnTo>
                  <a:pt x="0" y="28675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398402" y="2544305"/>
            <a:ext cx="37237" cy="2867589"/>
          </a:xfrm>
          <a:custGeom>
            <a:avLst/>
            <a:gdLst/>
            <a:ahLst/>
            <a:cxnLst/>
            <a:rect l="l" t="t" r="r" b="b"/>
            <a:pathLst>
              <a:path w="37237" h="2867589">
                <a:moveTo>
                  <a:pt x="0" y="0"/>
                </a:moveTo>
                <a:lnTo>
                  <a:pt x="37237" y="0"/>
                </a:lnTo>
                <a:lnTo>
                  <a:pt x="37237" y="2867589"/>
                </a:lnTo>
                <a:lnTo>
                  <a:pt x="0" y="286758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Shape 9"/>
          <p:cNvSpPr/>
          <p:nvPr/>
        </p:nvSpPr>
        <p:spPr>
          <a:xfrm>
            <a:off x="606913" y="2772160"/>
            <a:ext cx="284860" cy="227888"/>
          </a:xfrm>
          <a:custGeom>
            <a:avLst/>
            <a:gdLst/>
            <a:ahLst/>
            <a:cxnLst/>
            <a:rect l="l" t="t" r="r" b="b"/>
            <a:pathLst>
              <a:path w="284860" h="227888">
                <a:moveTo>
                  <a:pt x="185114" y="93692"/>
                </a:moveTo>
                <a:cubicBezTo>
                  <a:pt x="190545" y="92223"/>
                  <a:pt x="196242" y="94805"/>
                  <a:pt x="198690" y="99834"/>
                </a:cubicBezTo>
                <a:lnTo>
                  <a:pt x="206968" y="116570"/>
                </a:lnTo>
                <a:cubicBezTo>
                  <a:pt x="211553" y="117193"/>
                  <a:pt x="216048" y="118439"/>
                  <a:pt x="220277" y="120175"/>
                </a:cubicBezTo>
                <a:lnTo>
                  <a:pt x="235855" y="109805"/>
                </a:lnTo>
                <a:cubicBezTo>
                  <a:pt x="240529" y="106689"/>
                  <a:pt x="246715" y="107312"/>
                  <a:pt x="250677" y="111273"/>
                </a:cubicBezTo>
                <a:lnTo>
                  <a:pt x="259222" y="119819"/>
                </a:lnTo>
                <a:cubicBezTo>
                  <a:pt x="263184" y="123780"/>
                  <a:pt x="263807" y="130012"/>
                  <a:pt x="260691" y="134641"/>
                </a:cubicBezTo>
                <a:lnTo>
                  <a:pt x="250321" y="150175"/>
                </a:lnTo>
                <a:cubicBezTo>
                  <a:pt x="251166" y="152266"/>
                  <a:pt x="251923" y="154447"/>
                  <a:pt x="252546" y="156717"/>
                </a:cubicBezTo>
                <a:cubicBezTo>
                  <a:pt x="253169" y="158987"/>
                  <a:pt x="253570" y="161213"/>
                  <a:pt x="253881" y="163483"/>
                </a:cubicBezTo>
                <a:lnTo>
                  <a:pt x="270661" y="171762"/>
                </a:lnTo>
                <a:cubicBezTo>
                  <a:pt x="275691" y="174254"/>
                  <a:pt x="278272" y="179951"/>
                  <a:pt x="276804" y="185337"/>
                </a:cubicBezTo>
                <a:lnTo>
                  <a:pt x="273688" y="196998"/>
                </a:lnTo>
                <a:cubicBezTo>
                  <a:pt x="272219" y="202384"/>
                  <a:pt x="267190" y="206034"/>
                  <a:pt x="261581" y="205678"/>
                </a:cubicBezTo>
                <a:lnTo>
                  <a:pt x="242887" y="204476"/>
                </a:lnTo>
                <a:cubicBezTo>
                  <a:pt x="240083" y="208081"/>
                  <a:pt x="236834" y="211419"/>
                  <a:pt x="233140" y="214268"/>
                </a:cubicBezTo>
                <a:lnTo>
                  <a:pt x="234342" y="232917"/>
                </a:lnTo>
                <a:cubicBezTo>
                  <a:pt x="234698" y="238526"/>
                  <a:pt x="231048" y="243600"/>
                  <a:pt x="225662" y="245024"/>
                </a:cubicBezTo>
                <a:lnTo>
                  <a:pt x="214001" y="248140"/>
                </a:lnTo>
                <a:cubicBezTo>
                  <a:pt x="208571" y="249608"/>
                  <a:pt x="202918" y="247027"/>
                  <a:pt x="200426" y="241997"/>
                </a:cubicBezTo>
                <a:lnTo>
                  <a:pt x="192147" y="225262"/>
                </a:lnTo>
                <a:cubicBezTo>
                  <a:pt x="187562" y="224639"/>
                  <a:pt x="183067" y="223392"/>
                  <a:pt x="178839" y="221657"/>
                </a:cubicBezTo>
                <a:lnTo>
                  <a:pt x="163260" y="232027"/>
                </a:lnTo>
                <a:cubicBezTo>
                  <a:pt x="158587" y="235143"/>
                  <a:pt x="152400" y="234520"/>
                  <a:pt x="148439" y="230558"/>
                </a:cubicBezTo>
                <a:lnTo>
                  <a:pt x="139893" y="222013"/>
                </a:lnTo>
                <a:cubicBezTo>
                  <a:pt x="135932" y="218051"/>
                  <a:pt x="135308" y="211864"/>
                  <a:pt x="138424" y="207191"/>
                </a:cubicBezTo>
                <a:lnTo>
                  <a:pt x="148795" y="191613"/>
                </a:lnTo>
                <a:cubicBezTo>
                  <a:pt x="147949" y="189521"/>
                  <a:pt x="147192" y="187340"/>
                  <a:pt x="146569" y="185070"/>
                </a:cubicBezTo>
                <a:cubicBezTo>
                  <a:pt x="145946" y="182800"/>
                  <a:pt x="145546" y="180530"/>
                  <a:pt x="145234" y="178304"/>
                </a:cubicBezTo>
                <a:lnTo>
                  <a:pt x="128454" y="170026"/>
                </a:lnTo>
                <a:cubicBezTo>
                  <a:pt x="123424" y="167533"/>
                  <a:pt x="120887" y="161836"/>
                  <a:pt x="122312" y="156450"/>
                </a:cubicBezTo>
                <a:lnTo>
                  <a:pt x="125427" y="144789"/>
                </a:lnTo>
                <a:cubicBezTo>
                  <a:pt x="126896" y="139403"/>
                  <a:pt x="131926" y="135754"/>
                  <a:pt x="137534" y="136110"/>
                </a:cubicBezTo>
                <a:lnTo>
                  <a:pt x="156183" y="137311"/>
                </a:lnTo>
                <a:cubicBezTo>
                  <a:pt x="158987" y="133706"/>
                  <a:pt x="162237" y="130368"/>
                  <a:pt x="165931" y="127519"/>
                </a:cubicBezTo>
                <a:lnTo>
                  <a:pt x="164729" y="108914"/>
                </a:lnTo>
                <a:cubicBezTo>
                  <a:pt x="164373" y="103306"/>
                  <a:pt x="168023" y="98232"/>
                  <a:pt x="173408" y="96808"/>
                </a:cubicBezTo>
                <a:lnTo>
                  <a:pt x="185070" y="93692"/>
                </a:lnTo>
                <a:close/>
                <a:moveTo>
                  <a:pt x="199580" y="151332"/>
                </a:moveTo>
                <a:cubicBezTo>
                  <a:pt x="188771" y="151344"/>
                  <a:pt x="180006" y="160129"/>
                  <a:pt x="180018" y="170938"/>
                </a:cubicBezTo>
                <a:cubicBezTo>
                  <a:pt x="180030" y="181747"/>
                  <a:pt x="188816" y="190512"/>
                  <a:pt x="199624" y="190500"/>
                </a:cubicBezTo>
                <a:cubicBezTo>
                  <a:pt x="210433" y="190488"/>
                  <a:pt x="219199" y="181702"/>
                  <a:pt x="219186" y="170894"/>
                </a:cubicBezTo>
                <a:cubicBezTo>
                  <a:pt x="219174" y="160085"/>
                  <a:pt x="210389" y="151319"/>
                  <a:pt x="199580" y="151332"/>
                </a:cubicBezTo>
                <a:close/>
                <a:moveTo>
                  <a:pt x="100102" y="-20252"/>
                </a:moveTo>
                <a:lnTo>
                  <a:pt x="111763" y="-17136"/>
                </a:lnTo>
                <a:cubicBezTo>
                  <a:pt x="117149" y="-15667"/>
                  <a:pt x="120798" y="-10593"/>
                  <a:pt x="120442" y="-5030"/>
                </a:cubicBezTo>
                <a:lnTo>
                  <a:pt x="119241" y="13575"/>
                </a:lnTo>
                <a:cubicBezTo>
                  <a:pt x="122935" y="16424"/>
                  <a:pt x="126184" y="19718"/>
                  <a:pt x="128988" y="23367"/>
                </a:cubicBezTo>
                <a:lnTo>
                  <a:pt x="147682" y="22166"/>
                </a:lnTo>
                <a:cubicBezTo>
                  <a:pt x="153246" y="21810"/>
                  <a:pt x="158320" y="25459"/>
                  <a:pt x="159789" y="30845"/>
                </a:cubicBezTo>
                <a:lnTo>
                  <a:pt x="162904" y="42506"/>
                </a:lnTo>
                <a:cubicBezTo>
                  <a:pt x="164329" y="47892"/>
                  <a:pt x="161791" y="53589"/>
                  <a:pt x="156762" y="56082"/>
                </a:cubicBezTo>
                <a:lnTo>
                  <a:pt x="139982" y="64361"/>
                </a:lnTo>
                <a:cubicBezTo>
                  <a:pt x="139670" y="66630"/>
                  <a:pt x="139225" y="68900"/>
                  <a:pt x="138647" y="71126"/>
                </a:cubicBezTo>
                <a:cubicBezTo>
                  <a:pt x="138068" y="73351"/>
                  <a:pt x="137267" y="75577"/>
                  <a:pt x="136421" y="77669"/>
                </a:cubicBezTo>
                <a:lnTo>
                  <a:pt x="146792" y="93247"/>
                </a:lnTo>
                <a:cubicBezTo>
                  <a:pt x="149907" y="97921"/>
                  <a:pt x="149284" y="104107"/>
                  <a:pt x="145323" y="108069"/>
                </a:cubicBezTo>
                <a:lnTo>
                  <a:pt x="136777" y="116614"/>
                </a:lnTo>
                <a:cubicBezTo>
                  <a:pt x="132816" y="120576"/>
                  <a:pt x="126629" y="121199"/>
                  <a:pt x="121956" y="118083"/>
                </a:cubicBezTo>
                <a:lnTo>
                  <a:pt x="106377" y="107713"/>
                </a:lnTo>
                <a:cubicBezTo>
                  <a:pt x="102149" y="109448"/>
                  <a:pt x="97654" y="110695"/>
                  <a:pt x="93069" y="111318"/>
                </a:cubicBezTo>
                <a:lnTo>
                  <a:pt x="84790" y="128053"/>
                </a:lnTo>
                <a:cubicBezTo>
                  <a:pt x="82298" y="133083"/>
                  <a:pt x="76601" y="135620"/>
                  <a:pt x="71215" y="134196"/>
                </a:cubicBezTo>
                <a:lnTo>
                  <a:pt x="59554" y="131080"/>
                </a:lnTo>
                <a:cubicBezTo>
                  <a:pt x="54123" y="129611"/>
                  <a:pt x="50518" y="124537"/>
                  <a:pt x="50874" y="118973"/>
                </a:cubicBezTo>
                <a:lnTo>
                  <a:pt x="52076" y="100324"/>
                </a:lnTo>
                <a:cubicBezTo>
                  <a:pt x="48382" y="97475"/>
                  <a:pt x="45132" y="94182"/>
                  <a:pt x="42328" y="90532"/>
                </a:cubicBezTo>
                <a:lnTo>
                  <a:pt x="23634" y="91734"/>
                </a:lnTo>
                <a:cubicBezTo>
                  <a:pt x="18071" y="92090"/>
                  <a:pt x="12997" y="88440"/>
                  <a:pt x="11528" y="83054"/>
                </a:cubicBezTo>
                <a:lnTo>
                  <a:pt x="8412" y="71393"/>
                </a:lnTo>
                <a:cubicBezTo>
                  <a:pt x="6988" y="66007"/>
                  <a:pt x="9525" y="60310"/>
                  <a:pt x="14555" y="57818"/>
                </a:cubicBezTo>
                <a:lnTo>
                  <a:pt x="31335" y="49539"/>
                </a:lnTo>
                <a:cubicBezTo>
                  <a:pt x="31646" y="47269"/>
                  <a:pt x="32091" y="45043"/>
                  <a:pt x="32670" y="42773"/>
                </a:cubicBezTo>
                <a:cubicBezTo>
                  <a:pt x="33293" y="40504"/>
                  <a:pt x="34005" y="38323"/>
                  <a:pt x="34895" y="36231"/>
                </a:cubicBezTo>
                <a:lnTo>
                  <a:pt x="24525" y="20697"/>
                </a:lnTo>
                <a:cubicBezTo>
                  <a:pt x="21409" y="16023"/>
                  <a:pt x="22032" y="9837"/>
                  <a:pt x="25993" y="5875"/>
                </a:cubicBezTo>
                <a:lnTo>
                  <a:pt x="34539" y="-2671"/>
                </a:lnTo>
                <a:cubicBezTo>
                  <a:pt x="38501" y="-6632"/>
                  <a:pt x="44687" y="-7255"/>
                  <a:pt x="49361" y="-4139"/>
                </a:cubicBezTo>
                <a:lnTo>
                  <a:pt x="64939" y="6231"/>
                </a:lnTo>
                <a:cubicBezTo>
                  <a:pt x="69168" y="4495"/>
                  <a:pt x="73663" y="3249"/>
                  <a:pt x="78247" y="2626"/>
                </a:cubicBezTo>
                <a:lnTo>
                  <a:pt x="86526" y="-14109"/>
                </a:lnTo>
                <a:cubicBezTo>
                  <a:pt x="89019" y="-19139"/>
                  <a:pt x="94671" y="-21676"/>
                  <a:pt x="100102" y="-20252"/>
                </a:cubicBezTo>
                <a:close/>
                <a:moveTo>
                  <a:pt x="85636" y="37388"/>
                </a:moveTo>
                <a:cubicBezTo>
                  <a:pt x="74827" y="37388"/>
                  <a:pt x="66052" y="46163"/>
                  <a:pt x="66052" y="56972"/>
                </a:cubicBezTo>
                <a:cubicBezTo>
                  <a:pt x="66052" y="67781"/>
                  <a:pt x="74827" y="76556"/>
                  <a:pt x="85636" y="76556"/>
                </a:cubicBezTo>
                <a:cubicBezTo>
                  <a:pt x="96445" y="76556"/>
                  <a:pt x="105220" y="67781"/>
                  <a:pt x="105220" y="56972"/>
                </a:cubicBezTo>
                <a:cubicBezTo>
                  <a:pt x="105220" y="46163"/>
                  <a:pt x="96445" y="37388"/>
                  <a:pt x="85636" y="3738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1005606" y="2734198"/>
            <a:ext cx="1025495" cy="303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6585" y="3236383"/>
            <a:ext cx="149551" cy="170916"/>
          </a:xfrm>
          <a:custGeom>
            <a:avLst/>
            <a:gdLst/>
            <a:ahLst/>
            <a:cxnLst/>
            <a:rect l="l" t="t" r="r" b="b"/>
            <a:pathLst>
              <a:path w="149551" h="170916">
                <a:moveTo>
                  <a:pt x="85458" y="53411"/>
                </a:moveTo>
                <a:lnTo>
                  <a:pt x="85458" y="85458"/>
                </a:lnTo>
                <a:lnTo>
                  <a:pt x="128187" y="85458"/>
                </a:lnTo>
                <a:lnTo>
                  <a:pt x="128187" y="53411"/>
                </a:lnTo>
                <a:lnTo>
                  <a:pt x="85458" y="53411"/>
                </a:lnTo>
                <a:close/>
                <a:moveTo>
                  <a:pt x="64093" y="53411"/>
                </a:moveTo>
                <a:lnTo>
                  <a:pt x="21364" y="53411"/>
                </a:lnTo>
                <a:lnTo>
                  <a:pt x="21364" y="85458"/>
                </a:lnTo>
                <a:lnTo>
                  <a:pt x="64093" y="85458"/>
                </a:lnTo>
                <a:lnTo>
                  <a:pt x="64093" y="53411"/>
                </a:lnTo>
                <a:close/>
                <a:moveTo>
                  <a:pt x="0" y="106822"/>
                </a:moveTo>
                <a:lnTo>
                  <a:pt x="0" y="32047"/>
                </a:lnTo>
                <a:cubicBezTo>
                  <a:pt x="0" y="20263"/>
                  <a:pt x="9581" y="10682"/>
                  <a:pt x="21364" y="10682"/>
                </a:cubicBezTo>
                <a:lnTo>
                  <a:pt x="128187" y="10682"/>
                </a:lnTo>
                <a:cubicBezTo>
                  <a:pt x="139971" y="10682"/>
                  <a:pt x="149551" y="20263"/>
                  <a:pt x="149551" y="32047"/>
                </a:cubicBezTo>
                <a:lnTo>
                  <a:pt x="149551" y="138869"/>
                </a:lnTo>
                <a:cubicBezTo>
                  <a:pt x="149551" y="150653"/>
                  <a:pt x="139971" y="160234"/>
                  <a:pt x="128187" y="160234"/>
                </a:cubicBezTo>
                <a:lnTo>
                  <a:pt x="21364" y="160234"/>
                </a:lnTo>
                <a:cubicBezTo>
                  <a:pt x="9581" y="160234"/>
                  <a:pt x="0" y="150653"/>
                  <a:pt x="0" y="138869"/>
                </a:cubicBezTo>
                <a:lnTo>
                  <a:pt x="0" y="106822"/>
                </a:lnTo>
                <a:close/>
                <a:moveTo>
                  <a:pt x="128187" y="106822"/>
                </a:moveTo>
                <a:lnTo>
                  <a:pt x="85458" y="106822"/>
                </a:lnTo>
                <a:lnTo>
                  <a:pt x="85458" y="138869"/>
                </a:lnTo>
                <a:lnTo>
                  <a:pt x="128187" y="138869"/>
                </a:lnTo>
                <a:lnTo>
                  <a:pt x="128187" y="106822"/>
                </a:lnTo>
                <a:close/>
                <a:moveTo>
                  <a:pt x="64093" y="138869"/>
                </a:moveTo>
                <a:lnTo>
                  <a:pt x="64093" y="106822"/>
                </a:lnTo>
                <a:lnTo>
                  <a:pt x="21364" y="106822"/>
                </a:lnTo>
                <a:lnTo>
                  <a:pt x="21364" y="138869"/>
                </a:lnTo>
                <a:lnTo>
                  <a:pt x="64093" y="13886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872604" y="3189839"/>
            <a:ext cx="3978720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隶属矩阵 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6913" y="3531587"/>
            <a:ext cx="4234916" cy="455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将节点表示Z转换为隶属矩阵F，代表</a:t>
            </a:r>
            <a:r>
              <a:rPr lang="en-US" sz="1195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节点对各社群的参与度 </a:t>
            </a:r>
            <a:r>
              <a:rPr lang="en-US" sz="119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1567" y="4105841"/>
            <a:ext cx="4149272" cy="1110767"/>
          </a:xfrm>
          <a:custGeom>
            <a:avLst/>
            <a:gdLst/>
            <a:ahLst/>
            <a:cxnLst/>
            <a:rect l="l" t="t" r="r" b="b"/>
            <a:pathLst>
              <a:path w="4149272" h="1110767">
                <a:moveTo>
                  <a:pt x="0" y="0"/>
                </a:moveTo>
                <a:lnTo>
                  <a:pt x="4149272" y="0"/>
                </a:lnTo>
                <a:lnTo>
                  <a:pt x="4149272" y="1110767"/>
                </a:lnTo>
                <a:lnTo>
                  <a:pt x="0" y="11107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6386" y="4308896"/>
            <a:ext cx="192280" cy="170916"/>
          </a:xfrm>
          <a:custGeom>
            <a:avLst/>
            <a:gdLst/>
            <a:ahLst/>
            <a:cxnLst/>
            <a:rect l="l" t="t" r="r" b="b"/>
            <a:pathLst>
              <a:path w="192280" h="170916">
                <a:moveTo>
                  <a:pt x="140038" y="32047"/>
                </a:moveTo>
                <a:cubicBezTo>
                  <a:pt x="134496" y="32047"/>
                  <a:pt x="129122" y="33549"/>
                  <a:pt x="124415" y="36286"/>
                </a:cubicBezTo>
                <a:cubicBezTo>
                  <a:pt x="119140" y="30945"/>
                  <a:pt x="112998" y="26472"/>
                  <a:pt x="106222" y="23100"/>
                </a:cubicBezTo>
                <a:cubicBezTo>
                  <a:pt x="115635" y="15089"/>
                  <a:pt x="127619" y="10682"/>
                  <a:pt x="140038" y="10682"/>
                </a:cubicBezTo>
                <a:cubicBezTo>
                  <a:pt x="168880" y="10682"/>
                  <a:pt x="192280" y="34050"/>
                  <a:pt x="192280" y="62925"/>
                </a:cubicBezTo>
                <a:cubicBezTo>
                  <a:pt x="192280" y="76779"/>
                  <a:pt x="186772" y="90065"/>
                  <a:pt x="176991" y="99846"/>
                </a:cubicBezTo>
                <a:lnTo>
                  <a:pt x="153257" y="123580"/>
                </a:lnTo>
                <a:cubicBezTo>
                  <a:pt x="143476" y="133361"/>
                  <a:pt x="130190" y="138869"/>
                  <a:pt x="116336" y="138869"/>
                </a:cubicBezTo>
                <a:cubicBezTo>
                  <a:pt x="87494" y="138869"/>
                  <a:pt x="64093" y="115502"/>
                  <a:pt x="64093" y="86626"/>
                </a:cubicBezTo>
                <a:cubicBezTo>
                  <a:pt x="64093" y="86126"/>
                  <a:pt x="64093" y="85625"/>
                  <a:pt x="64127" y="85124"/>
                </a:cubicBezTo>
                <a:cubicBezTo>
                  <a:pt x="64294" y="79216"/>
                  <a:pt x="69201" y="74575"/>
                  <a:pt x="75110" y="74742"/>
                </a:cubicBezTo>
                <a:cubicBezTo>
                  <a:pt x="81018" y="74909"/>
                  <a:pt x="85658" y="79816"/>
                  <a:pt x="85491" y="85725"/>
                </a:cubicBezTo>
                <a:cubicBezTo>
                  <a:pt x="85491" y="86025"/>
                  <a:pt x="85491" y="86326"/>
                  <a:pt x="85491" y="86593"/>
                </a:cubicBezTo>
                <a:cubicBezTo>
                  <a:pt x="85491" y="103651"/>
                  <a:pt x="99311" y="117471"/>
                  <a:pt x="116370" y="117471"/>
                </a:cubicBezTo>
                <a:cubicBezTo>
                  <a:pt x="124548" y="117471"/>
                  <a:pt x="132393" y="114233"/>
                  <a:pt x="138202" y="108425"/>
                </a:cubicBezTo>
                <a:lnTo>
                  <a:pt x="161936" y="84690"/>
                </a:lnTo>
                <a:cubicBezTo>
                  <a:pt x="167711" y="78915"/>
                  <a:pt x="170983" y="71037"/>
                  <a:pt x="170983" y="62858"/>
                </a:cubicBezTo>
                <a:cubicBezTo>
                  <a:pt x="170983" y="45800"/>
                  <a:pt x="157163" y="31980"/>
                  <a:pt x="140104" y="31980"/>
                </a:cubicBezTo>
                <a:close/>
                <a:moveTo>
                  <a:pt x="91867" y="57851"/>
                </a:moveTo>
                <a:cubicBezTo>
                  <a:pt x="91233" y="57584"/>
                  <a:pt x="90599" y="57217"/>
                  <a:pt x="90031" y="56816"/>
                </a:cubicBezTo>
                <a:cubicBezTo>
                  <a:pt x="85825" y="54646"/>
                  <a:pt x="81018" y="53411"/>
                  <a:pt x="75977" y="53411"/>
                </a:cubicBezTo>
                <a:cubicBezTo>
                  <a:pt x="67799" y="53411"/>
                  <a:pt x="59954" y="56649"/>
                  <a:pt x="54146" y="62458"/>
                </a:cubicBezTo>
                <a:lnTo>
                  <a:pt x="30411" y="86192"/>
                </a:lnTo>
                <a:cubicBezTo>
                  <a:pt x="24636" y="91967"/>
                  <a:pt x="21364" y="99846"/>
                  <a:pt x="21364" y="108024"/>
                </a:cubicBezTo>
                <a:cubicBezTo>
                  <a:pt x="21364" y="125082"/>
                  <a:pt x="35185" y="138903"/>
                  <a:pt x="52243" y="138903"/>
                </a:cubicBezTo>
                <a:cubicBezTo>
                  <a:pt x="57751" y="138903"/>
                  <a:pt x="63125" y="137434"/>
                  <a:pt x="67832" y="134696"/>
                </a:cubicBezTo>
                <a:cubicBezTo>
                  <a:pt x="73107" y="140038"/>
                  <a:pt x="79249" y="144511"/>
                  <a:pt x="86059" y="147882"/>
                </a:cubicBezTo>
                <a:cubicBezTo>
                  <a:pt x="76645" y="155861"/>
                  <a:pt x="64694" y="160300"/>
                  <a:pt x="52243" y="160300"/>
                </a:cubicBezTo>
                <a:cubicBezTo>
                  <a:pt x="23401" y="160300"/>
                  <a:pt x="0" y="136933"/>
                  <a:pt x="0" y="108058"/>
                </a:cubicBezTo>
                <a:cubicBezTo>
                  <a:pt x="0" y="94204"/>
                  <a:pt x="5508" y="80918"/>
                  <a:pt x="15289" y="71137"/>
                </a:cubicBezTo>
                <a:lnTo>
                  <a:pt x="39024" y="47402"/>
                </a:lnTo>
                <a:cubicBezTo>
                  <a:pt x="48804" y="37622"/>
                  <a:pt x="62091" y="32113"/>
                  <a:pt x="75944" y="32113"/>
                </a:cubicBezTo>
                <a:cubicBezTo>
                  <a:pt x="104853" y="32113"/>
                  <a:pt x="128187" y="55681"/>
                  <a:pt x="128187" y="84490"/>
                </a:cubicBezTo>
                <a:cubicBezTo>
                  <a:pt x="128187" y="84924"/>
                  <a:pt x="128187" y="85358"/>
                  <a:pt x="128187" y="85792"/>
                </a:cubicBezTo>
                <a:cubicBezTo>
                  <a:pt x="128053" y="91700"/>
                  <a:pt x="123146" y="96340"/>
                  <a:pt x="117238" y="96207"/>
                </a:cubicBezTo>
                <a:cubicBezTo>
                  <a:pt x="111329" y="96073"/>
                  <a:pt x="106689" y="91166"/>
                  <a:pt x="106822" y="85258"/>
                </a:cubicBezTo>
                <a:cubicBezTo>
                  <a:pt x="106822" y="84991"/>
                  <a:pt x="106822" y="84757"/>
                  <a:pt x="106822" y="84490"/>
                </a:cubicBezTo>
                <a:cubicBezTo>
                  <a:pt x="106822" y="73240"/>
                  <a:pt x="100814" y="63359"/>
                  <a:pt x="91867" y="5791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1033769" y="4262352"/>
            <a:ext cx="3655878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生成逻辑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8077" y="4604100"/>
            <a:ext cx="3912075" cy="455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利用节点间的隶属关系重构邻接矩阵A。如果两个节点在多个社群中有</a:t>
            </a:r>
            <a:r>
              <a:rPr lang="en-US" sz="1195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高隶属度 </a:t>
            </a:r>
            <a:r>
              <a:rPr lang="en-US" sz="119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，它们产生连接的概率越大。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784" y="5562725"/>
            <a:ext cx="4567252" cy="1291364"/>
          </a:xfrm>
          <a:custGeom>
            <a:avLst/>
            <a:gdLst/>
            <a:ahLst/>
            <a:cxnLst/>
            <a:rect l="l" t="t" r="r" b="b"/>
            <a:pathLst>
              <a:path w="4567252" h="1291364">
                <a:moveTo>
                  <a:pt x="0" y="0"/>
                </a:moveTo>
                <a:lnTo>
                  <a:pt x="4567252" y="0"/>
                </a:lnTo>
                <a:lnTo>
                  <a:pt x="4567252" y="1291364"/>
                </a:lnTo>
                <a:lnTo>
                  <a:pt x="0" y="1291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Shape 19"/>
          <p:cNvSpPr/>
          <p:nvPr/>
        </p:nvSpPr>
        <p:spPr>
          <a:xfrm>
            <a:off x="581545" y="5790580"/>
            <a:ext cx="213645" cy="189907"/>
          </a:xfrm>
          <a:custGeom>
            <a:avLst/>
            <a:gdLst/>
            <a:ahLst/>
            <a:cxnLst/>
            <a:rect l="l" t="t" r="r" b="b"/>
            <a:pathLst>
              <a:path w="213645" h="189907">
                <a:moveTo>
                  <a:pt x="114797" y="-7010"/>
                </a:moveTo>
                <a:cubicBezTo>
                  <a:pt x="113276" y="-9978"/>
                  <a:pt x="110198" y="-11869"/>
                  <a:pt x="106860" y="-11869"/>
                </a:cubicBezTo>
                <a:cubicBezTo>
                  <a:pt x="103521" y="-11869"/>
                  <a:pt x="100443" y="-9978"/>
                  <a:pt x="98922" y="-7010"/>
                </a:cubicBezTo>
                <a:lnTo>
                  <a:pt x="71623" y="46475"/>
                </a:lnTo>
                <a:lnTo>
                  <a:pt x="12314" y="55896"/>
                </a:lnTo>
                <a:cubicBezTo>
                  <a:pt x="9013" y="56416"/>
                  <a:pt x="6268" y="58752"/>
                  <a:pt x="5230" y="61942"/>
                </a:cubicBezTo>
                <a:cubicBezTo>
                  <a:pt x="4191" y="65132"/>
                  <a:pt x="5044" y="68619"/>
                  <a:pt x="7381" y="70992"/>
                </a:cubicBezTo>
                <a:lnTo>
                  <a:pt x="49813" y="113462"/>
                </a:lnTo>
                <a:lnTo>
                  <a:pt x="40466" y="172770"/>
                </a:lnTo>
                <a:cubicBezTo>
                  <a:pt x="39947" y="176072"/>
                  <a:pt x="41320" y="179410"/>
                  <a:pt x="44027" y="181376"/>
                </a:cubicBezTo>
                <a:cubicBezTo>
                  <a:pt x="46735" y="183341"/>
                  <a:pt x="50296" y="183638"/>
                  <a:pt x="53300" y="182117"/>
                </a:cubicBezTo>
                <a:lnTo>
                  <a:pt x="106860" y="154893"/>
                </a:lnTo>
                <a:lnTo>
                  <a:pt x="160382" y="182117"/>
                </a:lnTo>
                <a:cubicBezTo>
                  <a:pt x="163349" y="183638"/>
                  <a:pt x="166947" y="183341"/>
                  <a:pt x="169655" y="181376"/>
                </a:cubicBezTo>
                <a:cubicBezTo>
                  <a:pt x="172362" y="179410"/>
                  <a:pt x="173735" y="176109"/>
                  <a:pt x="173216" y="172770"/>
                </a:cubicBezTo>
                <a:lnTo>
                  <a:pt x="163831" y="113462"/>
                </a:lnTo>
                <a:lnTo>
                  <a:pt x="206264" y="70992"/>
                </a:lnTo>
                <a:cubicBezTo>
                  <a:pt x="208638" y="68619"/>
                  <a:pt x="209454" y="65132"/>
                  <a:pt x="208415" y="61942"/>
                </a:cubicBezTo>
                <a:cubicBezTo>
                  <a:pt x="207376" y="58752"/>
                  <a:pt x="204669" y="56416"/>
                  <a:pt x="201331" y="55896"/>
                </a:cubicBezTo>
                <a:lnTo>
                  <a:pt x="142059" y="46475"/>
                </a:lnTo>
                <a:lnTo>
                  <a:pt x="114797" y="-701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920951" y="5752617"/>
            <a:ext cx="854579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模块优势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8162" y="6169563"/>
            <a:ext cx="132935" cy="151925"/>
          </a:xfrm>
          <a:custGeom>
            <a:avLst/>
            <a:gdLst/>
            <a:ahLst/>
            <a:cxnLst/>
            <a:rect l="l" t="t" r="r" b="b"/>
            <a:pathLst>
              <a:path w="132935" h="151925">
                <a:moveTo>
                  <a:pt x="129018" y="20801"/>
                </a:moveTo>
                <a:cubicBezTo>
                  <a:pt x="133261" y="23887"/>
                  <a:pt x="134211" y="29821"/>
                  <a:pt x="131125" y="34064"/>
                </a:cubicBezTo>
                <a:lnTo>
                  <a:pt x="55162" y="138513"/>
                </a:lnTo>
                <a:cubicBezTo>
                  <a:pt x="53530" y="140768"/>
                  <a:pt x="51008" y="142163"/>
                  <a:pt x="48218" y="142400"/>
                </a:cubicBezTo>
                <a:cubicBezTo>
                  <a:pt x="45429" y="142638"/>
                  <a:pt x="42729" y="141599"/>
                  <a:pt x="40771" y="139641"/>
                </a:cubicBezTo>
                <a:lnTo>
                  <a:pt x="2789" y="101659"/>
                </a:lnTo>
                <a:cubicBezTo>
                  <a:pt x="-920" y="97950"/>
                  <a:pt x="-920" y="91927"/>
                  <a:pt x="2789" y="88218"/>
                </a:cubicBezTo>
                <a:cubicBezTo>
                  <a:pt x="6498" y="84508"/>
                  <a:pt x="12522" y="84508"/>
                  <a:pt x="16231" y="88218"/>
                </a:cubicBezTo>
                <a:lnTo>
                  <a:pt x="46349" y="118336"/>
                </a:lnTo>
                <a:lnTo>
                  <a:pt x="115784" y="22878"/>
                </a:lnTo>
                <a:cubicBezTo>
                  <a:pt x="118870" y="18635"/>
                  <a:pt x="124804" y="17685"/>
                  <a:pt x="129047" y="2077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816377" y="6132328"/>
            <a:ext cx="4016701" cy="227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完美建模"重叠社区"现象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162" y="6473349"/>
            <a:ext cx="132935" cy="151925"/>
          </a:xfrm>
          <a:custGeom>
            <a:avLst/>
            <a:gdLst/>
            <a:ahLst/>
            <a:cxnLst/>
            <a:rect l="l" t="t" r="r" b="b"/>
            <a:pathLst>
              <a:path w="132935" h="151925">
                <a:moveTo>
                  <a:pt x="129018" y="20801"/>
                </a:moveTo>
                <a:cubicBezTo>
                  <a:pt x="133261" y="23887"/>
                  <a:pt x="134211" y="29821"/>
                  <a:pt x="131125" y="34064"/>
                </a:cubicBezTo>
                <a:lnTo>
                  <a:pt x="55162" y="138513"/>
                </a:lnTo>
                <a:cubicBezTo>
                  <a:pt x="53530" y="140768"/>
                  <a:pt x="51008" y="142163"/>
                  <a:pt x="48218" y="142400"/>
                </a:cubicBezTo>
                <a:cubicBezTo>
                  <a:pt x="45429" y="142638"/>
                  <a:pt x="42729" y="141599"/>
                  <a:pt x="40771" y="139641"/>
                </a:cubicBezTo>
                <a:lnTo>
                  <a:pt x="2789" y="101659"/>
                </a:lnTo>
                <a:cubicBezTo>
                  <a:pt x="-920" y="97950"/>
                  <a:pt x="-920" y="91927"/>
                  <a:pt x="2789" y="88218"/>
                </a:cubicBezTo>
                <a:cubicBezTo>
                  <a:pt x="6498" y="84508"/>
                  <a:pt x="12522" y="84508"/>
                  <a:pt x="16231" y="88218"/>
                </a:cubicBezTo>
                <a:lnTo>
                  <a:pt x="46349" y="118336"/>
                </a:lnTo>
                <a:lnTo>
                  <a:pt x="115784" y="22878"/>
                </a:lnTo>
                <a:cubicBezTo>
                  <a:pt x="118870" y="18635"/>
                  <a:pt x="124804" y="17685"/>
                  <a:pt x="129047" y="2077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16377" y="6436109"/>
            <a:ext cx="4016701" cy="227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将离散聚类转化为连续可微的概率学习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40902" y="1063354"/>
            <a:ext cx="6665720" cy="5792150"/>
          </a:xfrm>
          <a:custGeom>
            <a:avLst/>
            <a:gdLst/>
            <a:ahLst/>
            <a:cxnLst/>
            <a:rect l="l" t="t" r="r" b="b"/>
            <a:pathLst>
              <a:path w="6665720" h="5792150">
                <a:moveTo>
                  <a:pt x="0" y="0"/>
                </a:moveTo>
                <a:lnTo>
                  <a:pt x="6665720" y="0"/>
                </a:lnTo>
                <a:lnTo>
                  <a:pt x="6665720" y="5792150"/>
                </a:lnTo>
                <a:lnTo>
                  <a:pt x="0" y="57921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8" name="Shape 26"/>
          <p:cNvSpPr/>
          <p:nvPr/>
        </p:nvSpPr>
        <p:spPr>
          <a:xfrm>
            <a:off x="7177161" y="1295136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0" y="29673"/>
                </a:moveTo>
                <a:cubicBezTo>
                  <a:pt x="0" y="19844"/>
                  <a:pt x="7975" y="11869"/>
                  <a:pt x="17804" y="11869"/>
                </a:cubicBezTo>
                <a:lnTo>
                  <a:pt x="53411" y="11869"/>
                </a:lnTo>
                <a:cubicBezTo>
                  <a:pt x="63240" y="11869"/>
                  <a:pt x="71215" y="19844"/>
                  <a:pt x="71215" y="29673"/>
                </a:cubicBezTo>
                <a:lnTo>
                  <a:pt x="71215" y="35607"/>
                </a:lnTo>
                <a:lnTo>
                  <a:pt x="118692" y="35607"/>
                </a:lnTo>
                <a:lnTo>
                  <a:pt x="118692" y="29673"/>
                </a:lnTo>
                <a:cubicBezTo>
                  <a:pt x="118692" y="19844"/>
                  <a:pt x="126666" y="11869"/>
                  <a:pt x="136495" y="11869"/>
                </a:cubicBezTo>
                <a:lnTo>
                  <a:pt x="172103" y="11869"/>
                </a:lnTo>
                <a:cubicBezTo>
                  <a:pt x="181932" y="11869"/>
                  <a:pt x="189907" y="19844"/>
                  <a:pt x="189907" y="29673"/>
                </a:cubicBezTo>
                <a:lnTo>
                  <a:pt x="189907" y="65280"/>
                </a:lnTo>
                <a:cubicBezTo>
                  <a:pt x="189907" y="75110"/>
                  <a:pt x="181932" y="83084"/>
                  <a:pt x="172103" y="83084"/>
                </a:cubicBezTo>
                <a:lnTo>
                  <a:pt x="136495" y="83084"/>
                </a:lnTo>
                <a:cubicBezTo>
                  <a:pt x="126666" y="83084"/>
                  <a:pt x="118692" y="75110"/>
                  <a:pt x="118692" y="65280"/>
                </a:cubicBezTo>
                <a:lnTo>
                  <a:pt x="118692" y="59346"/>
                </a:lnTo>
                <a:lnTo>
                  <a:pt x="71215" y="59346"/>
                </a:lnTo>
                <a:lnTo>
                  <a:pt x="71215" y="65280"/>
                </a:lnTo>
                <a:cubicBezTo>
                  <a:pt x="71215" y="67988"/>
                  <a:pt x="70584" y="70584"/>
                  <a:pt x="69509" y="72884"/>
                </a:cubicBezTo>
                <a:lnTo>
                  <a:pt x="94953" y="106822"/>
                </a:lnTo>
                <a:lnTo>
                  <a:pt x="124626" y="106822"/>
                </a:lnTo>
                <a:cubicBezTo>
                  <a:pt x="134455" y="106822"/>
                  <a:pt x="142430" y="114797"/>
                  <a:pt x="142430" y="124626"/>
                </a:cubicBezTo>
                <a:lnTo>
                  <a:pt x="142430" y="160234"/>
                </a:lnTo>
                <a:cubicBezTo>
                  <a:pt x="142430" y="170063"/>
                  <a:pt x="134455" y="178037"/>
                  <a:pt x="124626" y="178037"/>
                </a:cubicBezTo>
                <a:lnTo>
                  <a:pt x="89019" y="178037"/>
                </a:lnTo>
                <a:cubicBezTo>
                  <a:pt x="79190" y="178037"/>
                  <a:pt x="71215" y="170063"/>
                  <a:pt x="71215" y="160234"/>
                </a:cubicBezTo>
                <a:lnTo>
                  <a:pt x="71215" y="124626"/>
                </a:lnTo>
                <a:cubicBezTo>
                  <a:pt x="71215" y="121919"/>
                  <a:pt x="71846" y="119322"/>
                  <a:pt x="72921" y="117022"/>
                </a:cubicBezTo>
                <a:lnTo>
                  <a:pt x="47477" y="83084"/>
                </a:lnTo>
                <a:lnTo>
                  <a:pt x="17804" y="83084"/>
                </a:lnTo>
                <a:cubicBezTo>
                  <a:pt x="7975" y="83084"/>
                  <a:pt x="0" y="75110"/>
                  <a:pt x="0" y="65280"/>
                </a:cubicBezTo>
                <a:lnTo>
                  <a:pt x="0" y="2967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5577495" y="1253246"/>
            <a:ext cx="6086682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社群隶属网络（CAN）示意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40103" y="1680229"/>
            <a:ext cx="3047628" cy="2297497"/>
          </a:xfrm>
          <a:custGeom>
            <a:avLst/>
            <a:gdLst/>
            <a:ahLst/>
            <a:cxnLst/>
            <a:rect l="l" t="t" r="r" b="b"/>
            <a:pathLst>
              <a:path w="3047628" h="2297497">
                <a:moveTo>
                  <a:pt x="0" y="0"/>
                </a:moveTo>
                <a:lnTo>
                  <a:pt x="3047628" y="0"/>
                </a:lnTo>
                <a:lnTo>
                  <a:pt x="3047628" y="2297497"/>
                </a:lnTo>
                <a:lnTo>
                  <a:pt x="0" y="22974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4902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8582" y="1826703"/>
            <a:ext cx="892151" cy="266765"/>
          </a:xfrm>
          <a:custGeom>
            <a:avLst/>
            <a:gdLst/>
            <a:ahLst/>
            <a:cxnLst/>
            <a:rect l="l" t="t" r="r" b="b"/>
            <a:pathLst>
              <a:path w="892151" h="266765">
                <a:moveTo>
                  <a:pt x="0" y="0"/>
                </a:moveTo>
                <a:lnTo>
                  <a:pt x="892151" y="0"/>
                </a:lnTo>
                <a:lnTo>
                  <a:pt x="892151" y="266765"/>
                </a:lnTo>
                <a:lnTo>
                  <a:pt x="0" y="26676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32" name="Text 30"/>
          <p:cNvSpPr/>
          <p:nvPr/>
        </p:nvSpPr>
        <p:spPr>
          <a:xfrm>
            <a:off x="6385348" y="1826703"/>
            <a:ext cx="958618" cy="266765"/>
          </a:xfrm>
          <a:prstGeom prst="rect">
            <a:avLst/>
          </a:prstGeom>
          <a:noFill/>
        </p:spPr>
        <p:txBody>
          <a:bodyPr wrap="square" lIns="113944" tIns="37981" rIns="113944" bIns="37981" rtlCol="0" anchor="ctr"/>
          <a:lstStyle/>
          <a:p>
            <a:pPr algn="ctr">
              <a:lnSpc>
                <a:spcPct val="120000"/>
              </a:lnSpc>
            </a:pPr>
            <a:r>
              <a:rPr lang="en-US" sz="104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传统硬划分</a:t>
            </a:r>
            <a:endParaRPr lang="en-US" sz="16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915089" y="2183139"/>
            <a:ext cx="1899065" cy="1329346"/>
          </a:xfrm>
          <a:prstGeom prst="roundRect">
            <a:avLst>
              <a:gd name="adj" fmla="val 0"/>
            </a:avLst>
          </a:prstGeom>
        </p:spPr>
      </p:pic>
      <p:sp>
        <p:nvSpPr>
          <p:cNvPr id="34" name="Text 31"/>
          <p:cNvSpPr/>
          <p:nvPr/>
        </p:nvSpPr>
        <p:spPr>
          <a:xfrm>
            <a:off x="5468034" y="3626350"/>
            <a:ext cx="2791626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5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每个节点只能属于一个社群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559685" y="1680229"/>
            <a:ext cx="3047628" cy="2297497"/>
          </a:xfrm>
          <a:custGeom>
            <a:avLst/>
            <a:gdLst/>
            <a:ahLst/>
            <a:cxnLst/>
            <a:rect l="l" t="t" r="r" b="b"/>
            <a:pathLst>
              <a:path w="3047628" h="2297497">
                <a:moveTo>
                  <a:pt x="0" y="0"/>
                </a:moveTo>
                <a:lnTo>
                  <a:pt x="3047628" y="0"/>
                </a:lnTo>
                <a:lnTo>
                  <a:pt x="3047628" y="2297497"/>
                </a:lnTo>
                <a:lnTo>
                  <a:pt x="0" y="22974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618746" y="1826703"/>
            <a:ext cx="930987" cy="266765"/>
          </a:xfrm>
          <a:custGeom>
            <a:avLst/>
            <a:gdLst/>
            <a:ahLst/>
            <a:cxnLst/>
            <a:rect l="l" t="t" r="r" b="b"/>
            <a:pathLst>
              <a:path w="930987" h="266765">
                <a:moveTo>
                  <a:pt x="0" y="0"/>
                </a:moveTo>
                <a:lnTo>
                  <a:pt x="930987" y="0"/>
                </a:lnTo>
                <a:lnTo>
                  <a:pt x="930987" y="266765"/>
                </a:lnTo>
                <a:lnTo>
                  <a:pt x="0" y="26676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7" name="Text 34"/>
          <p:cNvSpPr/>
          <p:nvPr/>
        </p:nvSpPr>
        <p:spPr>
          <a:xfrm>
            <a:off x="9585512" y="1826703"/>
            <a:ext cx="997454" cy="266765"/>
          </a:xfrm>
          <a:prstGeom prst="rect">
            <a:avLst/>
          </a:prstGeom>
          <a:noFill/>
        </p:spPr>
        <p:txBody>
          <a:bodyPr wrap="square" lIns="113944" tIns="37981" rIns="113944" bIns="37981" rtlCol="0" anchor="ctr"/>
          <a:lstStyle/>
          <a:p>
            <a:pPr algn="ctr">
              <a:lnSpc>
                <a:spcPct val="120000"/>
              </a:lnSpc>
            </a:pPr>
            <a:r>
              <a:rPr lang="en-US" sz="104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DAG软建模</a:t>
            </a:r>
            <a:endParaRPr lang="en-US" sz="16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134670" y="2183139"/>
            <a:ext cx="1899065" cy="1329346"/>
          </a:xfrm>
          <a:prstGeom prst="roundRect">
            <a:avLst>
              <a:gd name="adj" fmla="val 0"/>
            </a:avLst>
          </a:prstGeom>
        </p:spPr>
      </p:pic>
      <p:sp>
        <p:nvSpPr>
          <p:cNvPr id="39" name="Text 35"/>
          <p:cNvSpPr/>
          <p:nvPr/>
        </p:nvSpPr>
        <p:spPr>
          <a:xfrm>
            <a:off x="8687616" y="3626350"/>
            <a:ext cx="2791626" cy="189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5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节点可同时属于多个社群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5335449" y="4143224"/>
            <a:ext cx="6276225" cy="1832412"/>
          </a:xfrm>
          <a:custGeom>
            <a:avLst/>
            <a:gdLst/>
            <a:ahLst/>
            <a:cxnLst/>
            <a:rect l="l" t="t" r="r" b="b"/>
            <a:pathLst>
              <a:path w="6276225" h="1832412">
                <a:moveTo>
                  <a:pt x="0" y="0"/>
                </a:moveTo>
                <a:lnTo>
                  <a:pt x="6276225" y="0"/>
                </a:lnTo>
                <a:lnTo>
                  <a:pt x="6276225" y="1832412"/>
                </a:lnTo>
                <a:lnTo>
                  <a:pt x="0" y="18324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449230" y="4299735"/>
            <a:ext cx="6048523" cy="2658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隶属矩阵F示意</a:t>
            </a:r>
            <a:endParaRPr lang="en-US" sz="160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6575425" y="4730750"/>
            <a:ext cx="3797935" cy="1087755"/>
          </a:xfrm>
          <a:prstGeom prst="roundRect">
            <a:avLst>
              <a:gd name="adj" fmla="val 0"/>
            </a:avLst>
          </a:prstGeom>
        </p:spPr>
      </p:pic>
      <p:sp>
        <p:nvSpPr>
          <p:cNvPr id="43" name="Shape 38"/>
          <p:cNvSpPr/>
          <p:nvPr/>
        </p:nvSpPr>
        <p:spPr>
          <a:xfrm>
            <a:off x="5330794" y="6131893"/>
            <a:ext cx="6285907" cy="531738"/>
          </a:xfrm>
          <a:custGeom>
            <a:avLst/>
            <a:gdLst/>
            <a:ahLst/>
            <a:cxnLst/>
            <a:rect l="l" t="t" r="r" b="b"/>
            <a:pathLst>
              <a:path w="6285907" h="531738">
                <a:moveTo>
                  <a:pt x="0" y="0"/>
                </a:moveTo>
                <a:lnTo>
                  <a:pt x="6285907" y="0"/>
                </a:lnTo>
                <a:lnTo>
                  <a:pt x="6285907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44" name="Shape 39"/>
          <p:cNvSpPr/>
          <p:nvPr/>
        </p:nvSpPr>
        <p:spPr>
          <a:xfrm>
            <a:off x="6213136" y="632098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66467" y="47477"/>
                </a:moveTo>
                <a:cubicBezTo>
                  <a:pt x="66467" y="42236"/>
                  <a:pt x="70722" y="37981"/>
                  <a:pt x="75963" y="37981"/>
                </a:cubicBezTo>
                <a:cubicBezTo>
                  <a:pt x="81203" y="37981"/>
                  <a:pt x="85458" y="42236"/>
                  <a:pt x="85458" y="47477"/>
                </a:cubicBezTo>
                <a:cubicBezTo>
                  <a:pt x="85458" y="52717"/>
                  <a:pt x="81203" y="56972"/>
                  <a:pt x="75963" y="56972"/>
                </a:cubicBezTo>
                <a:cubicBezTo>
                  <a:pt x="70722" y="56972"/>
                  <a:pt x="66467" y="52717"/>
                  <a:pt x="66467" y="47477"/>
                </a:cubicBezTo>
                <a:close/>
                <a:moveTo>
                  <a:pt x="64093" y="66467"/>
                </a:moveTo>
                <a:lnTo>
                  <a:pt x="78336" y="66467"/>
                </a:lnTo>
                <a:cubicBezTo>
                  <a:pt x="82283" y="66467"/>
                  <a:pt x="85458" y="69642"/>
                  <a:pt x="85458" y="73589"/>
                </a:cubicBezTo>
                <a:lnTo>
                  <a:pt x="85458" y="99701"/>
                </a:lnTo>
                <a:lnTo>
                  <a:pt x="87832" y="99701"/>
                </a:lnTo>
                <a:cubicBezTo>
                  <a:pt x="91778" y="99701"/>
                  <a:pt x="94953" y="102876"/>
                  <a:pt x="94953" y="106822"/>
                </a:cubicBezTo>
                <a:cubicBezTo>
                  <a:pt x="94953" y="110769"/>
                  <a:pt x="91778" y="113944"/>
                  <a:pt x="87832" y="113944"/>
                </a:cubicBezTo>
                <a:lnTo>
                  <a:pt x="64093" y="113944"/>
                </a:lnTo>
                <a:cubicBezTo>
                  <a:pt x="60147" y="113944"/>
                  <a:pt x="56972" y="110769"/>
                  <a:pt x="56972" y="106822"/>
                </a:cubicBezTo>
                <a:cubicBezTo>
                  <a:pt x="56972" y="102876"/>
                  <a:pt x="60147" y="99701"/>
                  <a:pt x="64093" y="99701"/>
                </a:cubicBezTo>
                <a:lnTo>
                  <a:pt x="71215" y="99701"/>
                </a:lnTo>
                <a:lnTo>
                  <a:pt x="71215" y="80710"/>
                </a:lnTo>
                <a:lnTo>
                  <a:pt x="64093" y="80710"/>
                </a:lnTo>
                <a:cubicBezTo>
                  <a:pt x="60147" y="80710"/>
                  <a:pt x="56972" y="77535"/>
                  <a:pt x="56972" y="73589"/>
                </a:cubicBezTo>
                <a:cubicBezTo>
                  <a:pt x="56972" y="69642"/>
                  <a:pt x="60147" y="66467"/>
                  <a:pt x="64093" y="6646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5" name="Text 40"/>
          <p:cNvSpPr/>
          <p:nvPr/>
        </p:nvSpPr>
        <p:spPr>
          <a:xfrm>
            <a:off x="5691369" y="6283748"/>
            <a:ext cx="5811318" cy="227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基于BPR损失优化：最大化正样本边概率，最小化负样本边概率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5249545" y="-635"/>
            <a:ext cx="6500495" cy="6858635"/>
          </a:xfrm>
          <a:custGeom>
            <a:avLst/>
            <a:gdLst/>
            <a:ahLst/>
            <a:cxnLst/>
            <a:rect l="l" t="t" r="r" b="b"/>
            <a:pathLst>
              <a:path w="6778625" h="6953250">
                <a:moveTo>
                  <a:pt x="0" y="0"/>
                </a:moveTo>
                <a:lnTo>
                  <a:pt x="6778625" y="0"/>
                </a:lnTo>
                <a:lnTo>
                  <a:pt x="6778625" y="6953250"/>
                </a:lnTo>
                <a:lnTo>
                  <a:pt x="0" y="695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" name="Text 0"/>
          <p:cNvSpPr/>
          <p:nvPr/>
        </p:nvSpPr>
        <p:spPr>
          <a:xfrm>
            <a:off x="317476" y="317477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核心模块三：自适应K值搜索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7476" y="698422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33039" y="888895"/>
            <a:ext cx="4603439" cy="1111250"/>
          </a:xfrm>
          <a:custGeom>
            <a:avLst/>
            <a:gdLst/>
            <a:ahLst/>
            <a:cxnLst/>
            <a:rect l="l" t="t" r="r" b="b"/>
            <a:pathLst>
              <a:path w="4603439" h="1111250">
                <a:moveTo>
                  <a:pt x="0" y="0"/>
                </a:moveTo>
                <a:lnTo>
                  <a:pt x="4603439" y="0"/>
                </a:lnTo>
                <a:lnTo>
                  <a:pt x="4603439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33039" y="888895"/>
            <a:ext cx="31127" cy="1111250"/>
          </a:xfrm>
          <a:custGeom>
            <a:avLst/>
            <a:gdLst/>
            <a:ahLst/>
            <a:cxnLst/>
            <a:rect l="l" t="t" r="r" b="b"/>
            <a:pathLst>
              <a:path w="31127" h="1111250">
                <a:moveTo>
                  <a:pt x="0" y="0"/>
                </a:moveTo>
                <a:lnTo>
                  <a:pt x="31127" y="0"/>
                </a:lnTo>
                <a:lnTo>
                  <a:pt x="3112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531153" y="10793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840624" y="1047634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341" y="1428521"/>
            <a:ext cx="433387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K是离散整数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，无法直接通过</a:t>
            </a:r>
            <a:r>
              <a:rPr lang="en-US" sz="1000" dirty="0">
                <a:solidFill>
                  <a:srgbClr val="8B0000"/>
                </a:solidFill>
                <a:highlight>
                  <a:srgbClr val="8B0000">
                    <a:alpha val="2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反向传播优化 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。传统方法需要人工预设K值，无法自适应学习。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039" y="2126882"/>
            <a:ext cx="4603439" cy="1968500"/>
          </a:xfrm>
          <a:custGeom>
            <a:avLst/>
            <a:gdLst/>
            <a:ahLst/>
            <a:cxnLst/>
            <a:rect l="l" t="t" r="r" b="b"/>
            <a:pathLst>
              <a:path w="4603439" h="1968500">
                <a:moveTo>
                  <a:pt x="0" y="0"/>
                </a:moveTo>
                <a:lnTo>
                  <a:pt x="4603439" y="0"/>
                </a:lnTo>
                <a:lnTo>
                  <a:pt x="4603439" y="1968500"/>
                </a:lnTo>
                <a:lnTo>
                  <a:pt x="0" y="196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333039" y="2126882"/>
            <a:ext cx="31127" cy="1968500"/>
          </a:xfrm>
          <a:custGeom>
            <a:avLst/>
            <a:gdLst/>
            <a:ahLst/>
            <a:cxnLst/>
            <a:rect l="l" t="t" r="r" b="b"/>
            <a:pathLst>
              <a:path w="31127" h="1968500">
                <a:moveTo>
                  <a:pt x="0" y="0"/>
                </a:moveTo>
                <a:lnTo>
                  <a:pt x="31127" y="0"/>
                </a:lnTo>
                <a:lnTo>
                  <a:pt x="31127" y="1968500"/>
                </a:lnTo>
                <a:lnTo>
                  <a:pt x="0" y="19685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11" name="Shape 9"/>
          <p:cNvSpPr/>
          <p:nvPr/>
        </p:nvSpPr>
        <p:spPr>
          <a:xfrm>
            <a:off x="507341" y="231735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12" name="Text 10"/>
          <p:cNvSpPr/>
          <p:nvPr/>
        </p:nvSpPr>
        <p:spPr>
          <a:xfrm>
            <a:off x="840624" y="228562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技术手段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216" y="270541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27248" y="62508"/>
                </a:moveTo>
                <a:lnTo>
                  <a:pt x="87064" y="62508"/>
                </a:lnTo>
                <a:cubicBezTo>
                  <a:pt x="83353" y="62508"/>
                  <a:pt x="80367" y="59522"/>
                  <a:pt x="80367" y="55811"/>
                </a:cubicBezTo>
                <a:lnTo>
                  <a:pt x="80367" y="15627"/>
                </a:lnTo>
                <a:cubicBezTo>
                  <a:pt x="80367" y="12920"/>
                  <a:pt x="81986" y="10464"/>
                  <a:pt x="84497" y="9432"/>
                </a:cubicBezTo>
                <a:cubicBezTo>
                  <a:pt x="87009" y="8399"/>
                  <a:pt x="89883" y="8985"/>
                  <a:pt x="91808" y="10883"/>
                </a:cubicBezTo>
                <a:lnTo>
                  <a:pt x="102970" y="22045"/>
                </a:lnTo>
                <a:lnTo>
                  <a:pt x="123453" y="1563"/>
                </a:lnTo>
                <a:cubicBezTo>
                  <a:pt x="124458" y="558"/>
                  <a:pt x="125825" y="0"/>
                  <a:pt x="127248" y="0"/>
                </a:cubicBezTo>
                <a:cubicBezTo>
                  <a:pt x="128671" y="0"/>
                  <a:pt x="130039" y="558"/>
                  <a:pt x="131071" y="1591"/>
                </a:cubicBezTo>
                <a:lnTo>
                  <a:pt x="141312" y="11832"/>
                </a:lnTo>
                <a:cubicBezTo>
                  <a:pt x="142317" y="12836"/>
                  <a:pt x="142875" y="14204"/>
                  <a:pt x="142875" y="15627"/>
                </a:cubicBezTo>
                <a:cubicBezTo>
                  <a:pt x="142875" y="17050"/>
                  <a:pt x="142317" y="18417"/>
                  <a:pt x="141284" y="19450"/>
                </a:cubicBezTo>
                <a:lnTo>
                  <a:pt x="120830" y="39905"/>
                </a:lnTo>
                <a:lnTo>
                  <a:pt x="131992" y="51067"/>
                </a:lnTo>
                <a:cubicBezTo>
                  <a:pt x="133917" y="52992"/>
                  <a:pt x="134476" y="55866"/>
                  <a:pt x="133443" y="58378"/>
                </a:cubicBezTo>
                <a:cubicBezTo>
                  <a:pt x="132411" y="60889"/>
                  <a:pt x="129955" y="62508"/>
                  <a:pt x="127248" y="62508"/>
                </a:cubicBezTo>
                <a:close/>
                <a:moveTo>
                  <a:pt x="127248" y="80367"/>
                </a:moveTo>
                <a:cubicBezTo>
                  <a:pt x="129955" y="80367"/>
                  <a:pt x="132411" y="81986"/>
                  <a:pt x="133443" y="84497"/>
                </a:cubicBezTo>
                <a:cubicBezTo>
                  <a:pt x="134476" y="87009"/>
                  <a:pt x="133917" y="89883"/>
                  <a:pt x="131992" y="91808"/>
                </a:cubicBezTo>
                <a:lnTo>
                  <a:pt x="120830" y="102970"/>
                </a:lnTo>
                <a:lnTo>
                  <a:pt x="141312" y="123453"/>
                </a:lnTo>
                <a:cubicBezTo>
                  <a:pt x="142317" y="124458"/>
                  <a:pt x="142903" y="125825"/>
                  <a:pt x="142903" y="127276"/>
                </a:cubicBezTo>
                <a:cubicBezTo>
                  <a:pt x="142903" y="128727"/>
                  <a:pt x="142345" y="130066"/>
                  <a:pt x="141312" y="131099"/>
                </a:cubicBezTo>
                <a:lnTo>
                  <a:pt x="131071" y="141340"/>
                </a:lnTo>
                <a:cubicBezTo>
                  <a:pt x="130039" y="142317"/>
                  <a:pt x="128671" y="142875"/>
                  <a:pt x="127248" y="142875"/>
                </a:cubicBezTo>
                <a:cubicBezTo>
                  <a:pt x="125825" y="142875"/>
                  <a:pt x="124458" y="142317"/>
                  <a:pt x="123425" y="141284"/>
                </a:cubicBezTo>
                <a:lnTo>
                  <a:pt x="102970" y="120830"/>
                </a:lnTo>
                <a:lnTo>
                  <a:pt x="91808" y="131992"/>
                </a:lnTo>
                <a:cubicBezTo>
                  <a:pt x="89883" y="133917"/>
                  <a:pt x="87009" y="134476"/>
                  <a:pt x="84497" y="133443"/>
                </a:cubicBezTo>
                <a:cubicBezTo>
                  <a:pt x="81986" y="132411"/>
                  <a:pt x="80367" y="129955"/>
                  <a:pt x="80367" y="127248"/>
                </a:cubicBezTo>
                <a:lnTo>
                  <a:pt x="80367" y="87064"/>
                </a:lnTo>
                <a:cubicBezTo>
                  <a:pt x="80367" y="83353"/>
                  <a:pt x="83353" y="80367"/>
                  <a:pt x="87064" y="80367"/>
                </a:cubicBezTo>
                <a:lnTo>
                  <a:pt x="127248" y="80367"/>
                </a:lnTo>
                <a:close/>
                <a:moveTo>
                  <a:pt x="55811" y="80367"/>
                </a:moveTo>
                <a:cubicBezTo>
                  <a:pt x="59522" y="80367"/>
                  <a:pt x="62508" y="83353"/>
                  <a:pt x="62508" y="87064"/>
                </a:cubicBezTo>
                <a:lnTo>
                  <a:pt x="62508" y="127248"/>
                </a:lnTo>
                <a:cubicBezTo>
                  <a:pt x="62508" y="129955"/>
                  <a:pt x="60889" y="132411"/>
                  <a:pt x="58378" y="133443"/>
                </a:cubicBezTo>
                <a:cubicBezTo>
                  <a:pt x="55866" y="134476"/>
                  <a:pt x="52992" y="133917"/>
                  <a:pt x="51067" y="131992"/>
                </a:cubicBezTo>
                <a:lnTo>
                  <a:pt x="39905" y="120830"/>
                </a:lnTo>
                <a:lnTo>
                  <a:pt x="19422" y="141312"/>
                </a:lnTo>
                <a:cubicBezTo>
                  <a:pt x="18417" y="142317"/>
                  <a:pt x="17050" y="142875"/>
                  <a:pt x="15627" y="142875"/>
                </a:cubicBezTo>
                <a:cubicBezTo>
                  <a:pt x="14204" y="142875"/>
                  <a:pt x="12836" y="142317"/>
                  <a:pt x="11804" y="141284"/>
                </a:cubicBezTo>
                <a:lnTo>
                  <a:pt x="1591" y="131071"/>
                </a:lnTo>
                <a:cubicBezTo>
                  <a:pt x="558" y="130039"/>
                  <a:pt x="0" y="128671"/>
                  <a:pt x="0" y="127248"/>
                </a:cubicBezTo>
                <a:cubicBezTo>
                  <a:pt x="0" y="125825"/>
                  <a:pt x="558" y="124458"/>
                  <a:pt x="1591" y="123425"/>
                </a:cubicBezTo>
                <a:lnTo>
                  <a:pt x="22045" y="102970"/>
                </a:lnTo>
                <a:lnTo>
                  <a:pt x="10883" y="91808"/>
                </a:lnTo>
                <a:cubicBezTo>
                  <a:pt x="8958" y="89883"/>
                  <a:pt x="8399" y="87009"/>
                  <a:pt x="9432" y="84497"/>
                </a:cubicBezTo>
                <a:cubicBezTo>
                  <a:pt x="10464" y="81986"/>
                  <a:pt x="12920" y="80367"/>
                  <a:pt x="15627" y="80367"/>
                </a:cubicBezTo>
                <a:lnTo>
                  <a:pt x="55811" y="80367"/>
                </a:lnTo>
                <a:close/>
                <a:moveTo>
                  <a:pt x="15627" y="62508"/>
                </a:moveTo>
                <a:cubicBezTo>
                  <a:pt x="12920" y="62508"/>
                  <a:pt x="10464" y="60889"/>
                  <a:pt x="9432" y="58378"/>
                </a:cubicBezTo>
                <a:cubicBezTo>
                  <a:pt x="8399" y="55866"/>
                  <a:pt x="8985" y="52992"/>
                  <a:pt x="10883" y="51067"/>
                </a:cubicBezTo>
                <a:lnTo>
                  <a:pt x="22045" y="39905"/>
                </a:lnTo>
                <a:lnTo>
                  <a:pt x="1591" y="19450"/>
                </a:lnTo>
                <a:cubicBezTo>
                  <a:pt x="558" y="18417"/>
                  <a:pt x="0" y="17050"/>
                  <a:pt x="0" y="15627"/>
                </a:cubicBezTo>
                <a:cubicBezTo>
                  <a:pt x="0" y="14204"/>
                  <a:pt x="558" y="12836"/>
                  <a:pt x="1591" y="11804"/>
                </a:cubicBezTo>
                <a:lnTo>
                  <a:pt x="11804" y="1591"/>
                </a:lnTo>
                <a:cubicBezTo>
                  <a:pt x="12836" y="558"/>
                  <a:pt x="14204" y="0"/>
                  <a:pt x="15627" y="0"/>
                </a:cubicBezTo>
                <a:cubicBezTo>
                  <a:pt x="17050" y="0"/>
                  <a:pt x="18417" y="558"/>
                  <a:pt x="19450" y="1591"/>
                </a:cubicBezTo>
                <a:lnTo>
                  <a:pt x="39905" y="22045"/>
                </a:lnTo>
                <a:lnTo>
                  <a:pt x="51067" y="10883"/>
                </a:lnTo>
                <a:cubicBezTo>
                  <a:pt x="52992" y="8958"/>
                  <a:pt x="55866" y="8399"/>
                  <a:pt x="58378" y="9432"/>
                </a:cubicBezTo>
                <a:cubicBezTo>
                  <a:pt x="60889" y="10464"/>
                  <a:pt x="62508" y="12920"/>
                  <a:pt x="62508" y="15627"/>
                </a:cubicBezTo>
                <a:lnTo>
                  <a:pt x="62508" y="55811"/>
                </a:lnTo>
                <a:cubicBezTo>
                  <a:pt x="62508" y="59522"/>
                  <a:pt x="59522" y="62508"/>
                  <a:pt x="55811" y="62508"/>
                </a:cubicBezTo>
                <a:lnTo>
                  <a:pt x="15627" y="6250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721653" y="2666504"/>
            <a:ext cx="4127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组稀疏正则化 (L2,1范数)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341" y="2952184"/>
            <a:ext cx="433387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先预设较大上限</a:t>
            </a:r>
            <a:r>
              <a:rPr lang="en-US" sz="10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Kmax</a:t>
            </a:r>
            <a:r>
              <a:rPr lang="en-US" sz="100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，通过</a:t>
            </a:r>
            <a:r>
              <a:rPr lang="en-US" sz="1000" dirty="0">
                <a:solidFill>
                  <a:srgbClr val="1F2937"/>
                </a:solidFill>
                <a:highlight>
                  <a:srgbClr val="1F2937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L2,1范数 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对隶属矩阵F的每一列进行约束。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1232" y="3257623"/>
            <a:ext cx="4270219" cy="674532"/>
          </a:xfrm>
          <a:custGeom>
            <a:avLst/>
            <a:gdLst/>
            <a:ahLst/>
            <a:cxnLst/>
            <a:rect l="l" t="t" r="r" b="b"/>
            <a:pathLst>
              <a:path w="4270219" h="674532">
                <a:moveTo>
                  <a:pt x="0" y="0"/>
                </a:moveTo>
                <a:lnTo>
                  <a:pt x="4270219" y="0"/>
                </a:lnTo>
                <a:lnTo>
                  <a:pt x="4270219" y="674532"/>
                </a:lnTo>
                <a:lnTo>
                  <a:pt x="0" y="6745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064" y="3388456"/>
            <a:ext cx="4071938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如果某个社区内所有节点的隶属度都</a:t>
            </a:r>
            <a:r>
              <a:rPr lang="en-US" sz="10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极低 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，该列权重被强制降为0（即"关闭"或"合并"该社区）。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7476" y="4221541"/>
            <a:ext cx="4619625" cy="841375"/>
          </a:xfrm>
          <a:custGeom>
            <a:avLst/>
            <a:gdLst/>
            <a:ahLst/>
            <a:cxnLst/>
            <a:rect l="l" t="t" r="r" b="b"/>
            <a:pathLst>
              <a:path w="4619625" h="841375">
                <a:moveTo>
                  <a:pt x="0" y="0"/>
                </a:moveTo>
                <a:lnTo>
                  <a:pt x="4619625" y="0"/>
                </a:lnTo>
                <a:lnTo>
                  <a:pt x="461962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19" name="Shape 17"/>
          <p:cNvSpPr/>
          <p:nvPr/>
        </p:nvSpPr>
        <p:spPr>
          <a:xfrm>
            <a:off x="486135" y="441201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769857" y="4380279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模块价值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214" y="4697694"/>
            <a:ext cx="43656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摆脱人工调参，让模型最终</a:t>
            </a: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自发收敛到一个最优的真实社群数量</a:t>
            </a: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</a:t>
            </a:r>
            <a:endParaRPr lang="en-US" sz="1600" dirty="0"/>
          </a:p>
        </p:txBody>
      </p:sp>
      <p:grpSp>
        <p:nvGrpSpPr>
          <p:cNvPr id="48" name="组合 47"/>
          <p:cNvGrpSpPr/>
          <p:nvPr/>
        </p:nvGrpSpPr>
        <p:grpSpPr>
          <a:xfrm>
            <a:off x="5250180" y="111760"/>
            <a:ext cx="6500495" cy="6632575"/>
            <a:chOff x="8280" y="1650"/>
            <a:chExt cx="10237" cy="10445"/>
          </a:xfrm>
        </p:grpSpPr>
        <p:sp>
          <p:nvSpPr>
            <p:cNvPr id="23" name="Shape 21"/>
            <p:cNvSpPr/>
            <p:nvPr/>
          </p:nvSpPr>
          <p:spPr>
            <a:xfrm>
              <a:off x="11940" y="1705"/>
              <a:ext cx="250" cy="2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9922" y="19844"/>
                  </a:moveTo>
                  <a:cubicBezTo>
                    <a:pt x="5922" y="19844"/>
                    <a:pt x="2294" y="22262"/>
                    <a:pt x="744" y="25983"/>
                  </a:cubicBezTo>
                  <a:cubicBezTo>
                    <a:pt x="-806" y="29704"/>
                    <a:pt x="62" y="33951"/>
                    <a:pt x="2915" y="36773"/>
                  </a:cubicBezTo>
                  <a:lnTo>
                    <a:pt x="59531" y="93421"/>
                  </a:lnTo>
                  <a:lnTo>
                    <a:pt x="59531" y="128984"/>
                  </a:lnTo>
                  <a:cubicBezTo>
                    <a:pt x="59531" y="131620"/>
                    <a:pt x="60585" y="134131"/>
                    <a:pt x="62446" y="135992"/>
                  </a:cubicBezTo>
                  <a:lnTo>
                    <a:pt x="82290" y="155835"/>
                  </a:lnTo>
                  <a:cubicBezTo>
                    <a:pt x="85142" y="158688"/>
                    <a:pt x="89390" y="159525"/>
                    <a:pt x="93111" y="157975"/>
                  </a:cubicBezTo>
                  <a:cubicBezTo>
                    <a:pt x="96831" y="156425"/>
                    <a:pt x="99219" y="152828"/>
                    <a:pt x="99219" y="148828"/>
                  </a:cubicBezTo>
                  <a:lnTo>
                    <a:pt x="99219" y="93421"/>
                  </a:lnTo>
                  <a:lnTo>
                    <a:pt x="155835" y="36804"/>
                  </a:lnTo>
                  <a:cubicBezTo>
                    <a:pt x="158688" y="33951"/>
                    <a:pt x="159525" y="29704"/>
                    <a:pt x="157975" y="25983"/>
                  </a:cubicBezTo>
                  <a:cubicBezTo>
                    <a:pt x="156425" y="22262"/>
                    <a:pt x="152828" y="19844"/>
                    <a:pt x="148828" y="19844"/>
                  </a:cubicBezTo>
                  <a:lnTo>
                    <a:pt x="9922" y="19844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8592" y="1650"/>
              <a:ext cx="9925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组稀疏正则化动态过程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292" y="2212"/>
              <a:ext cx="10150" cy="2225"/>
            </a:xfrm>
            <a:custGeom>
              <a:avLst/>
              <a:gdLst/>
              <a:ahLst/>
              <a:cxnLst/>
              <a:rect l="l" t="t" r="r" b="b"/>
              <a:pathLst>
                <a:path w="6444939" h="1412564">
                  <a:moveTo>
                    <a:pt x="0" y="0"/>
                  </a:moveTo>
                  <a:lnTo>
                    <a:pt x="6444939" y="0"/>
                  </a:lnTo>
                  <a:lnTo>
                    <a:pt x="6444939" y="1412564"/>
                  </a:lnTo>
                  <a:lnTo>
                    <a:pt x="0" y="14125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6B7280">
                  <a:alpha val="30196"/>
                </a:srgbClr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11944" y="2374"/>
              <a:ext cx="2842" cy="388"/>
            </a:xfrm>
            <a:custGeom>
              <a:avLst/>
              <a:gdLst/>
              <a:ahLst/>
              <a:cxnLst/>
              <a:rect l="l" t="t" r="r" b="b"/>
              <a:pathLst>
                <a:path w="1804359" h="246345">
                  <a:moveTo>
                    <a:pt x="0" y="0"/>
                  </a:moveTo>
                  <a:lnTo>
                    <a:pt x="1804359" y="0"/>
                  </a:lnTo>
                  <a:lnTo>
                    <a:pt x="1804359" y="246345"/>
                  </a:lnTo>
                  <a:lnTo>
                    <a:pt x="0" y="246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11894" y="2374"/>
              <a:ext cx="2942" cy="388"/>
            </a:xfrm>
            <a:prstGeom prst="rect">
              <a:avLst/>
            </a:prstGeom>
            <a:noFill/>
          </p:spPr>
          <p:txBody>
            <a:bodyPr wrap="square" lIns="127000" tIns="31750" rIns="127000" bIns="3175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初始状态：预设K_max=10</a:t>
              </a:r>
              <a:endParaRPr lang="en-US" sz="1600" dirty="0"/>
            </a:p>
          </p:txBody>
        </p:sp>
        <p:pic>
          <p:nvPicPr>
            <p:cNvPr id="28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0" y="2874"/>
              <a:ext cx="6250" cy="1000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29" name="Text 26"/>
            <p:cNvSpPr/>
            <p:nvPr/>
          </p:nvSpPr>
          <p:spPr>
            <a:xfrm>
              <a:off x="8461" y="3974"/>
              <a:ext cx="9813" cy="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10列均有值，所有社群都活跃</a:t>
              </a:r>
              <a:endParaRPr lang="en-US" sz="16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13227" y="4598"/>
              <a:ext cx="281" cy="375"/>
            </a:xfrm>
            <a:custGeom>
              <a:avLst/>
              <a:gdLst/>
              <a:ahLst/>
              <a:cxnLst/>
              <a:rect l="l" t="t" r="r" b="b"/>
              <a:pathLst>
                <a:path w="178594" h="238125">
                  <a:moveTo>
                    <a:pt x="78786" y="233753"/>
                  </a:moveTo>
                  <a:cubicBezTo>
                    <a:pt x="84599" y="239567"/>
                    <a:pt x="94041" y="239567"/>
                    <a:pt x="99854" y="233753"/>
                  </a:cubicBezTo>
                  <a:lnTo>
                    <a:pt x="174268" y="159339"/>
                  </a:lnTo>
                  <a:cubicBezTo>
                    <a:pt x="180082" y="153526"/>
                    <a:pt x="180082" y="144084"/>
                    <a:pt x="174268" y="138271"/>
                  </a:cubicBezTo>
                  <a:cubicBezTo>
                    <a:pt x="168455" y="132457"/>
                    <a:pt x="159014" y="132457"/>
                    <a:pt x="153200" y="138271"/>
                  </a:cubicBezTo>
                  <a:lnTo>
                    <a:pt x="104180" y="187291"/>
                  </a:lnTo>
                  <a:lnTo>
                    <a:pt x="104180" y="14883"/>
                  </a:lnTo>
                  <a:cubicBezTo>
                    <a:pt x="104180" y="6651"/>
                    <a:pt x="97529" y="0"/>
                    <a:pt x="89297" y="0"/>
                  </a:cubicBezTo>
                  <a:cubicBezTo>
                    <a:pt x="81065" y="0"/>
                    <a:pt x="74414" y="6651"/>
                    <a:pt x="74414" y="14883"/>
                  </a:cubicBezTo>
                  <a:lnTo>
                    <a:pt x="74414" y="187291"/>
                  </a:lnTo>
                  <a:lnTo>
                    <a:pt x="25394" y="138271"/>
                  </a:lnTo>
                  <a:cubicBezTo>
                    <a:pt x="19580" y="132457"/>
                    <a:pt x="10139" y="132457"/>
                    <a:pt x="4325" y="138271"/>
                  </a:cubicBezTo>
                  <a:cubicBezTo>
                    <a:pt x="-1488" y="144084"/>
                    <a:pt x="-1488" y="153526"/>
                    <a:pt x="4325" y="159339"/>
                  </a:cubicBezTo>
                  <a:lnTo>
                    <a:pt x="78739" y="233753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31" name="Shape 28"/>
            <p:cNvSpPr/>
            <p:nvPr/>
          </p:nvSpPr>
          <p:spPr>
            <a:xfrm>
              <a:off x="8292" y="5135"/>
              <a:ext cx="10150" cy="3275"/>
            </a:xfrm>
            <a:custGeom>
              <a:avLst/>
              <a:gdLst/>
              <a:ahLst/>
              <a:cxnLst/>
              <a:rect l="l" t="t" r="r" b="b"/>
              <a:pathLst>
                <a:path w="6444939" h="2079314">
                  <a:moveTo>
                    <a:pt x="0" y="0"/>
                  </a:moveTo>
                  <a:lnTo>
                    <a:pt x="6444939" y="0"/>
                  </a:lnTo>
                  <a:lnTo>
                    <a:pt x="6444939" y="2079314"/>
                  </a:lnTo>
                  <a:lnTo>
                    <a:pt x="0" y="2079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1F2937"/>
              </a:solidFill>
              <a:prstDash val="solid"/>
            </a:ln>
          </p:spPr>
        </p:sp>
        <p:sp>
          <p:nvSpPr>
            <p:cNvPr id="32" name="Shape 29"/>
            <p:cNvSpPr/>
            <p:nvPr/>
          </p:nvSpPr>
          <p:spPr>
            <a:xfrm>
              <a:off x="11962" y="5298"/>
              <a:ext cx="2806" cy="388"/>
            </a:xfrm>
            <a:custGeom>
              <a:avLst/>
              <a:gdLst/>
              <a:ahLst/>
              <a:cxnLst/>
              <a:rect l="l" t="t" r="r" b="b"/>
              <a:pathLst>
                <a:path w="1781925" h="246345">
                  <a:moveTo>
                    <a:pt x="0" y="0"/>
                  </a:moveTo>
                  <a:lnTo>
                    <a:pt x="1781925" y="0"/>
                  </a:lnTo>
                  <a:lnTo>
                    <a:pt x="1781925" y="246345"/>
                  </a:lnTo>
                  <a:lnTo>
                    <a:pt x="0" y="246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33" name="Text 30"/>
            <p:cNvSpPr/>
            <p:nvPr/>
          </p:nvSpPr>
          <p:spPr>
            <a:xfrm>
              <a:off x="11912" y="5298"/>
              <a:ext cx="2906" cy="388"/>
            </a:xfrm>
            <a:prstGeom prst="rect">
              <a:avLst/>
            </a:prstGeom>
            <a:noFill/>
          </p:spPr>
          <p:txBody>
            <a:bodyPr wrap="square" lIns="127000" tIns="31750" rIns="127000" bIns="3175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训练过程：L2,1正则化约束</a:t>
              </a:r>
              <a:endParaRPr lang="en-US" sz="16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8504" y="5836"/>
              <a:ext cx="9725" cy="900"/>
            </a:xfrm>
            <a:custGeom>
              <a:avLst/>
              <a:gdLst/>
              <a:ahLst/>
              <a:cxnLst/>
              <a:rect l="l" t="t" r="r" b="b"/>
              <a:pathLst>
                <a:path w="6175375" h="571500">
                  <a:moveTo>
                    <a:pt x="0" y="0"/>
                  </a:moveTo>
                  <a:lnTo>
                    <a:pt x="6175375" y="0"/>
                  </a:lnTo>
                  <a:lnTo>
                    <a:pt x="617537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35" name="Text 32"/>
            <p:cNvSpPr/>
            <p:nvPr/>
          </p:nvSpPr>
          <p:spPr>
            <a:xfrm>
              <a:off x="8604" y="5947"/>
              <a:ext cx="952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endParaRPr lang="en-US" sz="16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8611" y="6574"/>
              <a:ext cx="9513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对每列求L2范数，再求L1范数</a:t>
              </a:r>
              <a:endParaRPr lang="en-US" sz="1600" dirty="0"/>
            </a:p>
          </p:txBody>
        </p:sp>
        <p:pic>
          <p:nvPicPr>
            <p:cNvPr id="37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240" y="6847"/>
              <a:ext cx="6250" cy="1000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38" name="Text 34"/>
            <p:cNvSpPr/>
            <p:nvPr/>
          </p:nvSpPr>
          <p:spPr>
            <a:xfrm>
              <a:off x="8461" y="7947"/>
              <a:ext cx="9813" cy="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低权重列（灰色）逐渐被压缩</a:t>
              </a:r>
              <a:endParaRPr lang="en-US" sz="1600" dirty="0"/>
            </a:p>
          </p:txBody>
        </p:sp>
        <p:sp>
          <p:nvSpPr>
            <p:cNvPr id="39" name="Shape 35"/>
            <p:cNvSpPr/>
            <p:nvPr/>
          </p:nvSpPr>
          <p:spPr>
            <a:xfrm>
              <a:off x="13227" y="8571"/>
              <a:ext cx="281" cy="375"/>
            </a:xfrm>
            <a:custGeom>
              <a:avLst/>
              <a:gdLst/>
              <a:ahLst/>
              <a:cxnLst/>
              <a:rect l="l" t="t" r="r" b="b"/>
              <a:pathLst>
                <a:path w="178594" h="238125">
                  <a:moveTo>
                    <a:pt x="78786" y="233753"/>
                  </a:moveTo>
                  <a:cubicBezTo>
                    <a:pt x="84599" y="239567"/>
                    <a:pt x="94041" y="239567"/>
                    <a:pt x="99854" y="233753"/>
                  </a:cubicBezTo>
                  <a:lnTo>
                    <a:pt x="174268" y="159339"/>
                  </a:lnTo>
                  <a:cubicBezTo>
                    <a:pt x="180082" y="153526"/>
                    <a:pt x="180082" y="144084"/>
                    <a:pt x="174268" y="138271"/>
                  </a:cubicBezTo>
                  <a:cubicBezTo>
                    <a:pt x="168455" y="132457"/>
                    <a:pt x="159014" y="132457"/>
                    <a:pt x="153200" y="138271"/>
                  </a:cubicBezTo>
                  <a:lnTo>
                    <a:pt x="104180" y="187291"/>
                  </a:lnTo>
                  <a:lnTo>
                    <a:pt x="104180" y="14883"/>
                  </a:lnTo>
                  <a:cubicBezTo>
                    <a:pt x="104180" y="6651"/>
                    <a:pt x="97529" y="0"/>
                    <a:pt x="89297" y="0"/>
                  </a:cubicBezTo>
                  <a:cubicBezTo>
                    <a:pt x="81065" y="0"/>
                    <a:pt x="74414" y="6651"/>
                    <a:pt x="74414" y="14883"/>
                  </a:cubicBezTo>
                  <a:lnTo>
                    <a:pt x="74414" y="187291"/>
                  </a:lnTo>
                  <a:lnTo>
                    <a:pt x="25394" y="138271"/>
                  </a:lnTo>
                  <a:cubicBezTo>
                    <a:pt x="19580" y="132457"/>
                    <a:pt x="10139" y="132457"/>
                    <a:pt x="4325" y="138271"/>
                  </a:cubicBezTo>
                  <a:cubicBezTo>
                    <a:pt x="-1488" y="144084"/>
                    <a:pt x="-1488" y="153526"/>
                    <a:pt x="4325" y="159339"/>
                  </a:cubicBezTo>
                  <a:lnTo>
                    <a:pt x="78739" y="233753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40" name="Shape 36"/>
            <p:cNvSpPr/>
            <p:nvPr/>
          </p:nvSpPr>
          <p:spPr>
            <a:xfrm>
              <a:off x="8292" y="9109"/>
              <a:ext cx="10150" cy="2225"/>
            </a:xfrm>
            <a:custGeom>
              <a:avLst/>
              <a:gdLst/>
              <a:ahLst/>
              <a:cxnLst/>
              <a:rect l="l" t="t" r="r" b="b"/>
              <a:pathLst>
                <a:path w="6444939" h="1412564">
                  <a:moveTo>
                    <a:pt x="0" y="0"/>
                  </a:moveTo>
                  <a:lnTo>
                    <a:pt x="6444939" y="0"/>
                  </a:lnTo>
                  <a:lnTo>
                    <a:pt x="6444939" y="1412564"/>
                  </a:lnTo>
                  <a:lnTo>
                    <a:pt x="0" y="14125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8B0000"/>
              </a:solidFill>
              <a:prstDash val="solid"/>
            </a:ln>
          </p:spPr>
        </p:sp>
        <p:sp>
          <p:nvSpPr>
            <p:cNvPr id="41" name="Shape 37"/>
            <p:cNvSpPr/>
            <p:nvPr/>
          </p:nvSpPr>
          <p:spPr>
            <a:xfrm>
              <a:off x="12469" y="9271"/>
              <a:ext cx="1792" cy="388"/>
            </a:xfrm>
            <a:custGeom>
              <a:avLst/>
              <a:gdLst/>
              <a:ahLst/>
              <a:cxnLst/>
              <a:rect l="l" t="t" r="r" b="b"/>
              <a:pathLst>
                <a:path w="1137915" h="246345">
                  <a:moveTo>
                    <a:pt x="0" y="0"/>
                  </a:moveTo>
                  <a:lnTo>
                    <a:pt x="1137915" y="0"/>
                  </a:lnTo>
                  <a:lnTo>
                    <a:pt x="1137915" y="246345"/>
                  </a:lnTo>
                  <a:lnTo>
                    <a:pt x="0" y="246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42" name="Text 38"/>
            <p:cNvSpPr/>
            <p:nvPr/>
          </p:nvSpPr>
          <p:spPr>
            <a:xfrm>
              <a:off x="12419" y="9271"/>
              <a:ext cx="1892" cy="388"/>
            </a:xfrm>
            <a:prstGeom prst="rect">
              <a:avLst/>
            </a:prstGeom>
            <a:noFill/>
          </p:spPr>
          <p:txBody>
            <a:bodyPr wrap="square" lIns="127000" tIns="31750" rIns="127000" bIns="3175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收敛结果：K=5</a:t>
              </a:r>
              <a:endParaRPr lang="en-US" sz="1600" dirty="0"/>
            </a:p>
          </p:txBody>
        </p:sp>
        <p:pic>
          <p:nvPicPr>
            <p:cNvPr id="43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0240" y="9771"/>
              <a:ext cx="6250" cy="1000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44" name="Text 39"/>
            <p:cNvSpPr/>
            <p:nvPr/>
          </p:nvSpPr>
          <p:spPr>
            <a:xfrm>
              <a:off x="8461" y="10870"/>
              <a:ext cx="9813" cy="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5" b="1" dirty="0">
                  <a:solidFill>
                    <a:srgbClr val="8B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5列保持活跃（彩色），5列被关闭（灰色=0）</a:t>
              </a:r>
              <a:endParaRPr lang="en-US" sz="1600" dirty="0"/>
            </a:p>
          </p:txBody>
        </p:sp>
        <p:sp>
          <p:nvSpPr>
            <p:cNvPr id="45" name="Shape 40"/>
            <p:cNvSpPr/>
            <p:nvPr/>
          </p:nvSpPr>
          <p:spPr>
            <a:xfrm>
              <a:off x="8280" y="11495"/>
              <a:ext cx="10175" cy="600"/>
            </a:xfrm>
            <a:custGeom>
              <a:avLst/>
              <a:gdLst/>
              <a:ahLst/>
              <a:cxnLst/>
              <a:rect l="l" t="t" r="r" b="b"/>
              <a:pathLst>
                <a:path w="6461125" h="381000">
                  <a:moveTo>
                    <a:pt x="0" y="0"/>
                  </a:moveTo>
                  <a:lnTo>
                    <a:pt x="6461125" y="0"/>
                  </a:lnTo>
                  <a:lnTo>
                    <a:pt x="64611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196"/>
              </a:srgbClr>
            </a:solidFill>
          </p:spPr>
        </p:sp>
        <p:sp>
          <p:nvSpPr>
            <p:cNvPr id="46" name="Shape 41"/>
            <p:cNvSpPr/>
            <p:nvPr/>
          </p:nvSpPr>
          <p:spPr>
            <a:xfrm>
              <a:off x="10591" y="11694"/>
              <a:ext cx="200" cy="2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98847" y="3026"/>
                  </a:moveTo>
                  <a:lnTo>
                    <a:pt x="76969" y="24904"/>
                  </a:lnTo>
                  <a:lnTo>
                    <a:pt x="102096" y="50031"/>
                  </a:lnTo>
                  <a:lnTo>
                    <a:pt x="123974" y="28153"/>
                  </a:lnTo>
                  <a:cubicBezTo>
                    <a:pt x="125909" y="26194"/>
                    <a:pt x="127000" y="23564"/>
                    <a:pt x="127000" y="20836"/>
                  </a:cubicBezTo>
                  <a:cubicBezTo>
                    <a:pt x="127000" y="18107"/>
                    <a:pt x="125909" y="15478"/>
                    <a:pt x="123974" y="13519"/>
                  </a:cubicBezTo>
                  <a:lnTo>
                    <a:pt x="113481" y="3026"/>
                  </a:lnTo>
                  <a:cubicBezTo>
                    <a:pt x="111522" y="1091"/>
                    <a:pt x="108893" y="0"/>
                    <a:pt x="106164" y="0"/>
                  </a:cubicBezTo>
                  <a:cubicBezTo>
                    <a:pt x="103436" y="0"/>
                    <a:pt x="100806" y="1091"/>
                    <a:pt x="98847" y="3026"/>
                  </a:cubicBezTo>
                  <a:close/>
                  <a:moveTo>
                    <a:pt x="68560" y="33313"/>
                  </a:moveTo>
                  <a:lnTo>
                    <a:pt x="3026" y="98847"/>
                  </a:lnTo>
                  <a:cubicBezTo>
                    <a:pt x="1091" y="100806"/>
                    <a:pt x="0" y="103436"/>
                    <a:pt x="0" y="106164"/>
                  </a:cubicBezTo>
                  <a:cubicBezTo>
                    <a:pt x="0" y="108893"/>
                    <a:pt x="1091" y="111522"/>
                    <a:pt x="3026" y="113481"/>
                  </a:cubicBezTo>
                  <a:lnTo>
                    <a:pt x="13519" y="123974"/>
                  </a:lnTo>
                  <a:cubicBezTo>
                    <a:pt x="15478" y="125909"/>
                    <a:pt x="18107" y="127000"/>
                    <a:pt x="20836" y="127000"/>
                  </a:cubicBezTo>
                  <a:cubicBezTo>
                    <a:pt x="23564" y="127000"/>
                    <a:pt x="26194" y="125909"/>
                    <a:pt x="28153" y="123974"/>
                  </a:cubicBezTo>
                  <a:lnTo>
                    <a:pt x="93687" y="58440"/>
                  </a:lnTo>
                  <a:lnTo>
                    <a:pt x="68560" y="33313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47" name="Text 42"/>
            <p:cNvSpPr/>
            <p:nvPr/>
          </p:nvSpPr>
          <p:spPr>
            <a:xfrm>
              <a:off x="8692" y="11645"/>
              <a:ext cx="9663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端到端自适应：模型自动学习最优社群数量，无需人工干预</a:t>
              </a:r>
              <a:endParaRPr lang="en-US" sz="1600" dirty="0"/>
            </a:p>
          </p:txBody>
        </p:sp>
      </p:grp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5FCD564B-ED1F-10C8-B4B7-DE3B59719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384495"/>
              </p:ext>
            </p:extLst>
          </p:nvPr>
        </p:nvGraphicFramePr>
        <p:xfrm>
          <a:off x="7132131" y="2697028"/>
          <a:ext cx="2736416" cy="633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2159280" imgH="500040" progId="Equation.AxMath">
                  <p:embed/>
                </p:oleObj>
              </mc:Choice>
              <mc:Fallback>
                <p:oleObj name="AxMath" r:id="rId9" imgW="2159280" imgH="5000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32131" y="2697028"/>
                        <a:ext cx="2736416" cy="633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485" y="361486"/>
            <a:ext cx="11631656" cy="361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评估指标革新：EDGE指标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1485" y="795239"/>
            <a:ext cx="867629" cy="36151"/>
          </a:xfrm>
          <a:custGeom>
            <a:avLst/>
            <a:gdLst/>
            <a:ahLst/>
            <a:cxnLst/>
            <a:rect l="l" t="t" r="r" b="b"/>
            <a:pathLst>
              <a:path w="867629" h="36151">
                <a:moveTo>
                  <a:pt x="0" y="0"/>
                </a:moveTo>
                <a:lnTo>
                  <a:pt x="867629" y="0"/>
                </a:lnTo>
                <a:lnTo>
                  <a:pt x="867629" y="36151"/>
                </a:lnTo>
                <a:lnTo>
                  <a:pt x="0" y="3615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79206" y="1012115"/>
            <a:ext cx="5630199" cy="2602888"/>
          </a:xfrm>
          <a:custGeom>
            <a:avLst/>
            <a:gdLst/>
            <a:ahLst/>
            <a:cxnLst/>
            <a:rect l="l" t="t" r="r" b="b"/>
            <a:pathLst>
              <a:path w="5630199" h="2602888">
                <a:moveTo>
                  <a:pt x="0" y="0"/>
                </a:moveTo>
                <a:lnTo>
                  <a:pt x="5630199" y="0"/>
                </a:lnTo>
                <a:lnTo>
                  <a:pt x="5630199" y="2602888"/>
                </a:lnTo>
                <a:lnTo>
                  <a:pt x="0" y="2602888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79206" y="1012115"/>
            <a:ext cx="35442" cy="2602888"/>
          </a:xfrm>
          <a:custGeom>
            <a:avLst/>
            <a:gdLst/>
            <a:ahLst/>
            <a:cxnLst/>
            <a:rect l="l" t="t" r="r" b="b"/>
            <a:pathLst>
              <a:path w="35442" h="2602888">
                <a:moveTo>
                  <a:pt x="0" y="0"/>
                </a:moveTo>
                <a:lnTo>
                  <a:pt x="35442" y="0"/>
                </a:lnTo>
                <a:lnTo>
                  <a:pt x="35442" y="2602888"/>
                </a:lnTo>
                <a:lnTo>
                  <a:pt x="0" y="2602888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6" name="Shape 4"/>
          <p:cNvSpPr/>
          <p:nvPr/>
        </p:nvSpPr>
        <p:spPr>
          <a:xfrm>
            <a:off x="604783" y="1228992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108454" y="216907"/>
                </a:moveTo>
                <a:cubicBezTo>
                  <a:pt x="168311" y="216907"/>
                  <a:pt x="216907" y="168311"/>
                  <a:pt x="216907" y="108454"/>
                </a:cubicBezTo>
                <a:cubicBezTo>
                  <a:pt x="216907" y="48596"/>
                  <a:pt x="168311" y="0"/>
                  <a:pt x="108454" y="0"/>
                </a:cubicBezTo>
                <a:cubicBezTo>
                  <a:pt x="48596" y="0"/>
                  <a:pt x="0" y="48596"/>
                  <a:pt x="0" y="108454"/>
                </a:cubicBezTo>
                <a:cubicBezTo>
                  <a:pt x="0" y="168311"/>
                  <a:pt x="48596" y="216907"/>
                  <a:pt x="108454" y="216907"/>
                </a:cubicBezTo>
                <a:close/>
                <a:moveTo>
                  <a:pt x="70749" y="70749"/>
                </a:moveTo>
                <a:cubicBezTo>
                  <a:pt x="74731" y="66767"/>
                  <a:pt x="81171" y="66767"/>
                  <a:pt x="85111" y="70749"/>
                </a:cubicBezTo>
                <a:lnTo>
                  <a:pt x="108411" y="94050"/>
                </a:lnTo>
                <a:lnTo>
                  <a:pt x="131712" y="70749"/>
                </a:lnTo>
                <a:cubicBezTo>
                  <a:pt x="135694" y="66767"/>
                  <a:pt x="142134" y="66767"/>
                  <a:pt x="146074" y="70749"/>
                </a:cubicBezTo>
                <a:cubicBezTo>
                  <a:pt x="150013" y="74731"/>
                  <a:pt x="150056" y="81171"/>
                  <a:pt x="146074" y="85111"/>
                </a:cubicBezTo>
                <a:lnTo>
                  <a:pt x="122773" y="108411"/>
                </a:lnTo>
                <a:lnTo>
                  <a:pt x="146074" y="131712"/>
                </a:lnTo>
                <a:cubicBezTo>
                  <a:pt x="150056" y="135694"/>
                  <a:pt x="150056" y="142134"/>
                  <a:pt x="146074" y="146074"/>
                </a:cubicBezTo>
                <a:cubicBezTo>
                  <a:pt x="142091" y="150013"/>
                  <a:pt x="135652" y="150056"/>
                  <a:pt x="131712" y="146074"/>
                </a:cubicBezTo>
                <a:lnTo>
                  <a:pt x="108411" y="122773"/>
                </a:lnTo>
                <a:lnTo>
                  <a:pt x="85111" y="146074"/>
                </a:lnTo>
                <a:cubicBezTo>
                  <a:pt x="81128" y="150056"/>
                  <a:pt x="74689" y="150056"/>
                  <a:pt x="70749" y="146074"/>
                </a:cubicBezTo>
                <a:cubicBezTo>
                  <a:pt x="66809" y="142091"/>
                  <a:pt x="66767" y="135652"/>
                  <a:pt x="70749" y="131712"/>
                </a:cubicBezTo>
                <a:lnTo>
                  <a:pt x="94050" y="108411"/>
                </a:lnTo>
                <a:lnTo>
                  <a:pt x="70749" y="85111"/>
                </a:lnTo>
                <a:cubicBezTo>
                  <a:pt x="66767" y="81128"/>
                  <a:pt x="66767" y="74689"/>
                  <a:pt x="70749" y="70749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7" name="Text 5"/>
          <p:cNvSpPr/>
          <p:nvPr/>
        </p:nvSpPr>
        <p:spPr>
          <a:xfrm>
            <a:off x="957152" y="1192858"/>
            <a:ext cx="162680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传统指标局限性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099" y="1630971"/>
            <a:ext cx="5241750" cy="840339"/>
          </a:xfrm>
          <a:custGeom>
            <a:avLst/>
            <a:gdLst/>
            <a:ahLst/>
            <a:cxnLst/>
            <a:rect l="l" t="t" r="r" b="b"/>
            <a:pathLst>
              <a:path w="5241750" h="840339">
                <a:moveTo>
                  <a:pt x="0" y="0"/>
                </a:moveTo>
                <a:lnTo>
                  <a:pt x="5241750" y="0"/>
                </a:lnTo>
                <a:lnTo>
                  <a:pt x="5241750" y="840339"/>
                </a:lnTo>
                <a:lnTo>
                  <a:pt x="0" y="8403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144" y="1824242"/>
            <a:ext cx="162681" cy="162681"/>
          </a:xfrm>
          <a:custGeom>
            <a:avLst/>
            <a:gdLst/>
            <a:ahLst/>
            <a:cxnLst/>
            <a:rect l="l" t="t" r="r" b="b"/>
            <a:pathLst>
              <a:path w="162681" h="162681">
                <a:moveTo>
                  <a:pt x="10326" y="30503"/>
                </a:moveTo>
                <a:lnTo>
                  <a:pt x="10326" y="78004"/>
                </a:lnTo>
                <a:cubicBezTo>
                  <a:pt x="10326" y="83406"/>
                  <a:pt x="12455" y="88585"/>
                  <a:pt x="16268" y="92397"/>
                </a:cubicBezTo>
                <a:lnTo>
                  <a:pt x="77273" y="153403"/>
                </a:lnTo>
                <a:cubicBezTo>
                  <a:pt x="85217" y="161346"/>
                  <a:pt x="98085" y="161346"/>
                  <a:pt x="106028" y="153403"/>
                </a:cubicBezTo>
                <a:lnTo>
                  <a:pt x="153530" y="105901"/>
                </a:lnTo>
                <a:cubicBezTo>
                  <a:pt x="161473" y="97958"/>
                  <a:pt x="161473" y="85090"/>
                  <a:pt x="153530" y="77146"/>
                </a:cubicBezTo>
                <a:lnTo>
                  <a:pt x="92525" y="16141"/>
                </a:lnTo>
                <a:cubicBezTo>
                  <a:pt x="88712" y="12296"/>
                  <a:pt x="83564" y="10168"/>
                  <a:pt x="78163" y="10168"/>
                </a:cubicBezTo>
                <a:lnTo>
                  <a:pt x="30661" y="10168"/>
                </a:lnTo>
                <a:cubicBezTo>
                  <a:pt x="19445" y="10168"/>
                  <a:pt x="10326" y="19287"/>
                  <a:pt x="10326" y="30503"/>
                </a:cubicBezTo>
                <a:close/>
                <a:moveTo>
                  <a:pt x="45913" y="35586"/>
                </a:moveTo>
                <a:cubicBezTo>
                  <a:pt x="51524" y="35586"/>
                  <a:pt x="56080" y="40142"/>
                  <a:pt x="56080" y="45754"/>
                </a:cubicBezTo>
                <a:cubicBezTo>
                  <a:pt x="56080" y="51366"/>
                  <a:pt x="51524" y="55921"/>
                  <a:pt x="45913" y="55921"/>
                </a:cubicBezTo>
                <a:cubicBezTo>
                  <a:pt x="40301" y="55921"/>
                  <a:pt x="35745" y="51366"/>
                  <a:pt x="35745" y="45754"/>
                </a:cubicBezTo>
                <a:cubicBezTo>
                  <a:pt x="35745" y="40142"/>
                  <a:pt x="40301" y="35586"/>
                  <a:pt x="45913" y="35586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10" name="Text 8"/>
          <p:cNvSpPr/>
          <p:nvPr/>
        </p:nvSpPr>
        <p:spPr>
          <a:xfrm>
            <a:off x="981353" y="1779940"/>
            <a:ext cx="4774735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NMI/ARI指标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068" y="2105222"/>
            <a:ext cx="5015982" cy="216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依赖</a:t>
            </a:r>
            <a:r>
              <a:rPr lang="en-US" sz="1140" dirty="0">
                <a:solidFill>
                  <a:srgbClr val="6B7280"/>
                </a:solidFill>
                <a:highlight>
                  <a:srgbClr val="6B728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Ground Truth标签 </a:t>
            </a:r>
            <a:r>
              <a:rPr lang="en-US" sz="11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，在K值不一致时难以公正评价。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099" y="2588334"/>
            <a:ext cx="5241750" cy="840339"/>
          </a:xfrm>
          <a:custGeom>
            <a:avLst/>
            <a:gdLst/>
            <a:ahLst/>
            <a:cxnLst/>
            <a:rect l="l" t="t" r="r" b="b"/>
            <a:pathLst>
              <a:path w="5241750" h="840339">
                <a:moveTo>
                  <a:pt x="0" y="0"/>
                </a:moveTo>
                <a:lnTo>
                  <a:pt x="5241750" y="0"/>
                </a:lnTo>
                <a:lnTo>
                  <a:pt x="5241750" y="840339"/>
                </a:lnTo>
                <a:lnTo>
                  <a:pt x="0" y="8403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144" y="2781605"/>
            <a:ext cx="162681" cy="162681"/>
          </a:xfrm>
          <a:custGeom>
            <a:avLst/>
            <a:gdLst/>
            <a:ahLst/>
            <a:cxnLst/>
            <a:rect l="l" t="t" r="r" b="b"/>
            <a:pathLst>
              <a:path w="162681" h="162681">
                <a:moveTo>
                  <a:pt x="81340" y="0"/>
                </a:moveTo>
                <a:cubicBezTo>
                  <a:pt x="86011" y="0"/>
                  <a:pt x="90300" y="2574"/>
                  <a:pt x="92525" y="6672"/>
                </a:cubicBezTo>
                <a:lnTo>
                  <a:pt x="161155" y="133767"/>
                </a:lnTo>
                <a:cubicBezTo>
                  <a:pt x="163284" y="137707"/>
                  <a:pt x="163189" y="142473"/>
                  <a:pt x="160901" y="146317"/>
                </a:cubicBezTo>
                <a:cubicBezTo>
                  <a:pt x="158613" y="150162"/>
                  <a:pt x="154451" y="152513"/>
                  <a:pt x="149971" y="152513"/>
                </a:cubicBezTo>
                <a:lnTo>
                  <a:pt x="12709" y="152513"/>
                </a:lnTo>
                <a:cubicBezTo>
                  <a:pt x="8229" y="152513"/>
                  <a:pt x="4099" y="150162"/>
                  <a:pt x="1779" y="146317"/>
                </a:cubicBezTo>
                <a:cubicBezTo>
                  <a:pt x="-540" y="142473"/>
                  <a:pt x="-604" y="137707"/>
                  <a:pt x="1525" y="133767"/>
                </a:cubicBezTo>
                <a:lnTo>
                  <a:pt x="70156" y="6672"/>
                </a:lnTo>
                <a:cubicBezTo>
                  <a:pt x="72380" y="2574"/>
                  <a:pt x="76670" y="0"/>
                  <a:pt x="81340" y="0"/>
                </a:cubicBezTo>
                <a:close/>
                <a:moveTo>
                  <a:pt x="81340" y="53380"/>
                </a:moveTo>
                <a:cubicBezTo>
                  <a:pt x="77114" y="53380"/>
                  <a:pt x="73715" y="56779"/>
                  <a:pt x="73715" y="61005"/>
                </a:cubicBezTo>
                <a:lnTo>
                  <a:pt x="73715" y="96592"/>
                </a:lnTo>
                <a:cubicBezTo>
                  <a:pt x="73715" y="100817"/>
                  <a:pt x="77114" y="104217"/>
                  <a:pt x="81340" y="104217"/>
                </a:cubicBezTo>
                <a:cubicBezTo>
                  <a:pt x="85566" y="104217"/>
                  <a:pt x="88966" y="100817"/>
                  <a:pt x="88966" y="96592"/>
                </a:cubicBezTo>
                <a:lnTo>
                  <a:pt x="88966" y="61005"/>
                </a:lnTo>
                <a:cubicBezTo>
                  <a:pt x="88966" y="56779"/>
                  <a:pt x="85566" y="53380"/>
                  <a:pt x="81340" y="53380"/>
                </a:cubicBezTo>
                <a:close/>
                <a:moveTo>
                  <a:pt x="89824" y="122010"/>
                </a:moveTo>
                <a:cubicBezTo>
                  <a:pt x="90017" y="118861"/>
                  <a:pt x="88446" y="115865"/>
                  <a:pt x="85747" y="114233"/>
                </a:cubicBezTo>
                <a:cubicBezTo>
                  <a:pt x="83047" y="112600"/>
                  <a:pt x="79665" y="112600"/>
                  <a:pt x="76965" y="114233"/>
                </a:cubicBezTo>
                <a:cubicBezTo>
                  <a:pt x="74266" y="115865"/>
                  <a:pt x="72696" y="118861"/>
                  <a:pt x="72888" y="122010"/>
                </a:cubicBezTo>
                <a:cubicBezTo>
                  <a:pt x="72696" y="125159"/>
                  <a:pt x="74266" y="128155"/>
                  <a:pt x="76965" y="129788"/>
                </a:cubicBezTo>
                <a:cubicBezTo>
                  <a:pt x="79665" y="131421"/>
                  <a:pt x="83047" y="131421"/>
                  <a:pt x="85747" y="129788"/>
                </a:cubicBezTo>
                <a:cubicBezTo>
                  <a:pt x="88446" y="128155"/>
                  <a:pt x="90017" y="125159"/>
                  <a:pt x="89824" y="12201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14" name="Text 12"/>
          <p:cNvSpPr/>
          <p:nvPr/>
        </p:nvSpPr>
        <p:spPr>
          <a:xfrm>
            <a:off x="981353" y="2737299"/>
            <a:ext cx="4774735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工业场景不适用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068" y="3062581"/>
            <a:ext cx="5015982" cy="216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真实社交网络中，用户隐私导致</a:t>
            </a:r>
            <a:r>
              <a:rPr lang="en-US" sz="1140" dirty="0">
                <a:solidFill>
                  <a:srgbClr val="6B7280"/>
                </a:solidFill>
                <a:highlight>
                  <a:srgbClr val="6B728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社群标签不可获取 </a:t>
            </a:r>
            <a:r>
              <a:rPr lang="en-US" sz="11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9206" y="3758139"/>
            <a:ext cx="5630199" cy="1879864"/>
          </a:xfrm>
          <a:custGeom>
            <a:avLst/>
            <a:gdLst/>
            <a:ahLst/>
            <a:cxnLst/>
            <a:rect l="l" t="t" r="r" b="b"/>
            <a:pathLst>
              <a:path w="5630199" h="1879864">
                <a:moveTo>
                  <a:pt x="0" y="0"/>
                </a:moveTo>
                <a:lnTo>
                  <a:pt x="5630199" y="0"/>
                </a:lnTo>
                <a:lnTo>
                  <a:pt x="5630199" y="1879864"/>
                </a:lnTo>
                <a:lnTo>
                  <a:pt x="0" y="18798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79206" y="3758139"/>
            <a:ext cx="35442" cy="1879864"/>
          </a:xfrm>
          <a:custGeom>
            <a:avLst/>
            <a:gdLst/>
            <a:ahLst/>
            <a:cxnLst/>
            <a:rect l="l" t="t" r="r" b="b"/>
            <a:pathLst>
              <a:path w="35442" h="1879864">
                <a:moveTo>
                  <a:pt x="0" y="0"/>
                </a:moveTo>
                <a:lnTo>
                  <a:pt x="35442" y="0"/>
                </a:lnTo>
                <a:lnTo>
                  <a:pt x="35442" y="1879864"/>
                </a:lnTo>
                <a:lnTo>
                  <a:pt x="0" y="18798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Shape 16"/>
          <p:cNvSpPr/>
          <p:nvPr/>
        </p:nvSpPr>
        <p:spPr>
          <a:xfrm>
            <a:off x="631896" y="3975015"/>
            <a:ext cx="162681" cy="216907"/>
          </a:xfrm>
          <a:custGeom>
            <a:avLst/>
            <a:gdLst/>
            <a:ahLst/>
            <a:cxnLst/>
            <a:rect l="l" t="t" r="r" b="b"/>
            <a:pathLst>
              <a:path w="162681" h="216907">
                <a:moveTo>
                  <a:pt x="124086" y="162681"/>
                </a:moveTo>
                <a:cubicBezTo>
                  <a:pt x="127179" y="153233"/>
                  <a:pt x="133364" y="144676"/>
                  <a:pt x="140354" y="137304"/>
                </a:cubicBezTo>
                <a:cubicBezTo>
                  <a:pt x="154208" y="122731"/>
                  <a:pt x="162681" y="103031"/>
                  <a:pt x="162681" y="81340"/>
                </a:cubicBezTo>
                <a:cubicBezTo>
                  <a:pt x="162681" y="36434"/>
                  <a:pt x="126247" y="0"/>
                  <a:pt x="81340" y="0"/>
                </a:cubicBezTo>
                <a:cubicBezTo>
                  <a:pt x="36434" y="0"/>
                  <a:pt x="0" y="36434"/>
                  <a:pt x="0" y="81340"/>
                </a:cubicBezTo>
                <a:cubicBezTo>
                  <a:pt x="0" y="103031"/>
                  <a:pt x="8473" y="122731"/>
                  <a:pt x="22326" y="137304"/>
                </a:cubicBezTo>
                <a:cubicBezTo>
                  <a:pt x="29316" y="144676"/>
                  <a:pt x="35544" y="153233"/>
                  <a:pt x="38594" y="162681"/>
                </a:cubicBezTo>
                <a:lnTo>
                  <a:pt x="124044" y="162681"/>
                </a:lnTo>
                <a:close/>
                <a:moveTo>
                  <a:pt x="122010" y="183016"/>
                </a:moveTo>
                <a:lnTo>
                  <a:pt x="40670" y="183016"/>
                </a:lnTo>
                <a:lnTo>
                  <a:pt x="40670" y="189794"/>
                </a:lnTo>
                <a:cubicBezTo>
                  <a:pt x="40670" y="208519"/>
                  <a:pt x="55837" y="223686"/>
                  <a:pt x="74562" y="223686"/>
                </a:cubicBezTo>
                <a:lnTo>
                  <a:pt x="88119" y="223686"/>
                </a:lnTo>
                <a:cubicBezTo>
                  <a:pt x="106844" y="223686"/>
                  <a:pt x="122010" y="208519"/>
                  <a:pt x="122010" y="189794"/>
                </a:cubicBezTo>
                <a:lnTo>
                  <a:pt x="122010" y="183016"/>
                </a:lnTo>
                <a:close/>
                <a:moveTo>
                  <a:pt x="77951" y="47448"/>
                </a:moveTo>
                <a:cubicBezTo>
                  <a:pt x="61090" y="47448"/>
                  <a:pt x="47448" y="61090"/>
                  <a:pt x="47448" y="77951"/>
                </a:cubicBezTo>
                <a:cubicBezTo>
                  <a:pt x="47448" y="83586"/>
                  <a:pt x="42915" y="88119"/>
                  <a:pt x="37281" y="88119"/>
                </a:cubicBezTo>
                <a:cubicBezTo>
                  <a:pt x="31646" y="88119"/>
                  <a:pt x="27113" y="83586"/>
                  <a:pt x="27113" y="77951"/>
                </a:cubicBezTo>
                <a:cubicBezTo>
                  <a:pt x="27113" y="49863"/>
                  <a:pt x="49863" y="27113"/>
                  <a:pt x="77951" y="27113"/>
                </a:cubicBezTo>
                <a:cubicBezTo>
                  <a:pt x="83586" y="27113"/>
                  <a:pt x="88119" y="31646"/>
                  <a:pt x="88119" y="37281"/>
                </a:cubicBezTo>
                <a:cubicBezTo>
                  <a:pt x="88119" y="42915"/>
                  <a:pt x="83586" y="47448"/>
                  <a:pt x="77951" y="4744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957152" y="3938881"/>
            <a:ext cx="976083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669" y="4372564"/>
            <a:ext cx="5250965" cy="1084537"/>
          </a:xfrm>
          <a:custGeom>
            <a:avLst/>
            <a:gdLst/>
            <a:ahLst/>
            <a:cxnLst/>
            <a:rect l="l" t="t" r="r" b="b"/>
            <a:pathLst>
              <a:path w="5250965" h="1084537">
                <a:moveTo>
                  <a:pt x="0" y="0"/>
                </a:moveTo>
                <a:lnTo>
                  <a:pt x="5250965" y="0"/>
                </a:lnTo>
                <a:lnTo>
                  <a:pt x="5250965" y="1084537"/>
                </a:lnTo>
                <a:lnTo>
                  <a:pt x="0" y="10845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730116" y="4561404"/>
            <a:ext cx="183016" cy="162681"/>
          </a:xfrm>
          <a:custGeom>
            <a:avLst/>
            <a:gdLst/>
            <a:ahLst/>
            <a:cxnLst/>
            <a:rect l="l" t="t" r="r" b="b"/>
            <a:pathLst>
              <a:path w="183016" h="162681">
                <a:moveTo>
                  <a:pt x="98339" y="-6005"/>
                </a:moveTo>
                <a:cubicBezTo>
                  <a:pt x="97036" y="-8547"/>
                  <a:pt x="94399" y="-10168"/>
                  <a:pt x="91540" y="-10168"/>
                </a:cubicBezTo>
                <a:cubicBezTo>
                  <a:pt x="88680" y="-10168"/>
                  <a:pt x="86043" y="-8547"/>
                  <a:pt x="84740" y="-6005"/>
                </a:cubicBezTo>
                <a:lnTo>
                  <a:pt x="61355" y="39812"/>
                </a:lnTo>
                <a:lnTo>
                  <a:pt x="10549" y="47883"/>
                </a:lnTo>
                <a:cubicBezTo>
                  <a:pt x="7721" y="48328"/>
                  <a:pt x="5370" y="50329"/>
                  <a:pt x="4480" y="53062"/>
                </a:cubicBezTo>
                <a:cubicBezTo>
                  <a:pt x="3590" y="55794"/>
                  <a:pt x="4321" y="58781"/>
                  <a:pt x="6323" y="60815"/>
                </a:cubicBezTo>
                <a:lnTo>
                  <a:pt x="42672" y="97195"/>
                </a:lnTo>
                <a:lnTo>
                  <a:pt x="34665" y="148001"/>
                </a:lnTo>
                <a:cubicBezTo>
                  <a:pt x="34220" y="150829"/>
                  <a:pt x="35396" y="153689"/>
                  <a:pt x="37715" y="155373"/>
                </a:cubicBezTo>
                <a:cubicBezTo>
                  <a:pt x="40035" y="157057"/>
                  <a:pt x="43085" y="157311"/>
                  <a:pt x="45659" y="156008"/>
                </a:cubicBezTo>
                <a:lnTo>
                  <a:pt x="91540" y="132686"/>
                </a:lnTo>
                <a:lnTo>
                  <a:pt x="137389" y="156008"/>
                </a:lnTo>
                <a:cubicBezTo>
                  <a:pt x="139931" y="157311"/>
                  <a:pt x="143013" y="157057"/>
                  <a:pt x="145332" y="155373"/>
                </a:cubicBezTo>
                <a:cubicBezTo>
                  <a:pt x="147652" y="153689"/>
                  <a:pt x="148827" y="150861"/>
                  <a:pt x="148382" y="148001"/>
                </a:cubicBezTo>
                <a:lnTo>
                  <a:pt x="140344" y="97195"/>
                </a:lnTo>
                <a:lnTo>
                  <a:pt x="176693" y="60815"/>
                </a:lnTo>
                <a:cubicBezTo>
                  <a:pt x="178726" y="58781"/>
                  <a:pt x="179425" y="55794"/>
                  <a:pt x="178535" y="53062"/>
                </a:cubicBezTo>
                <a:cubicBezTo>
                  <a:pt x="177646" y="50329"/>
                  <a:pt x="175326" y="48328"/>
                  <a:pt x="172467" y="47883"/>
                </a:cubicBezTo>
                <a:lnTo>
                  <a:pt x="121693" y="39812"/>
                </a:lnTo>
                <a:lnTo>
                  <a:pt x="98339" y="-600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972493" y="4517102"/>
            <a:ext cx="4792811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基于边缘的评估 (EDGE Metric)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208" y="4842384"/>
            <a:ext cx="5034058" cy="4699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将社群检测转化为</a:t>
            </a:r>
            <a:r>
              <a:rPr lang="en-US" sz="114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二元连接预测问题 </a:t>
            </a:r>
            <a:r>
              <a:rPr lang="en-US" sz="114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。评估同社群节点对在现实中产生真实互动（如加好友、组队）的概率。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1485" y="5782091"/>
            <a:ext cx="5648629" cy="958007"/>
          </a:xfrm>
          <a:custGeom>
            <a:avLst/>
            <a:gdLst/>
            <a:ahLst/>
            <a:cxnLst/>
            <a:rect l="l" t="t" r="r" b="b"/>
            <a:pathLst>
              <a:path w="5648629" h="958007">
                <a:moveTo>
                  <a:pt x="0" y="0"/>
                </a:moveTo>
                <a:lnTo>
                  <a:pt x="5648629" y="0"/>
                </a:lnTo>
                <a:lnTo>
                  <a:pt x="5648629" y="958007"/>
                </a:lnTo>
                <a:lnTo>
                  <a:pt x="0" y="958007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25" name="Shape 23"/>
          <p:cNvSpPr/>
          <p:nvPr/>
        </p:nvSpPr>
        <p:spPr>
          <a:xfrm>
            <a:off x="564821" y="5998967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50944" y="0"/>
                </a:moveTo>
                <a:lnTo>
                  <a:pt x="130024" y="0"/>
                </a:lnTo>
                <a:cubicBezTo>
                  <a:pt x="139380" y="0"/>
                  <a:pt x="147006" y="7696"/>
                  <a:pt x="146653" y="17016"/>
                </a:cubicBezTo>
                <a:cubicBezTo>
                  <a:pt x="146582" y="18888"/>
                  <a:pt x="146511" y="20759"/>
                  <a:pt x="146405" y="22595"/>
                </a:cubicBezTo>
                <a:lnTo>
                  <a:pt x="163916" y="22595"/>
                </a:lnTo>
                <a:cubicBezTo>
                  <a:pt x="173130" y="22595"/>
                  <a:pt x="181250" y="30220"/>
                  <a:pt x="180544" y="40176"/>
                </a:cubicBezTo>
                <a:cubicBezTo>
                  <a:pt x="177896" y="76786"/>
                  <a:pt x="159185" y="96909"/>
                  <a:pt x="138886" y="107430"/>
                </a:cubicBezTo>
                <a:cubicBezTo>
                  <a:pt x="133308" y="110325"/>
                  <a:pt x="127624" y="112478"/>
                  <a:pt x="122222" y="114067"/>
                </a:cubicBezTo>
                <a:cubicBezTo>
                  <a:pt x="115091" y="124164"/>
                  <a:pt x="107677" y="129495"/>
                  <a:pt x="101781" y="132354"/>
                </a:cubicBezTo>
                <a:lnTo>
                  <a:pt x="101781" y="158162"/>
                </a:lnTo>
                <a:lnTo>
                  <a:pt x="124376" y="158162"/>
                </a:lnTo>
                <a:cubicBezTo>
                  <a:pt x="130625" y="158162"/>
                  <a:pt x="135673" y="163210"/>
                  <a:pt x="135673" y="169459"/>
                </a:cubicBezTo>
                <a:cubicBezTo>
                  <a:pt x="135673" y="175708"/>
                  <a:pt x="130625" y="180756"/>
                  <a:pt x="124376" y="180756"/>
                </a:cubicBezTo>
                <a:lnTo>
                  <a:pt x="56592" y="180756"/>
                </a:lnTo>
                <a:cubicBezTo>
                  <a:pt x="50343" y="180756"/>
                  <a:pt x="45295" y="175708"/>
                  <a:pt x="45295" y="169459"/>
                </a:cubicBezTo>
                <a:cubicBezTo>
                  <a:pt x="45295" y="163210"/>
                  <a:pt x="50343" y="158162"/>
                  <a:pt x="56592" y="158162"/>
                </a:cubicBezTo>
                <a:lnTo>
                  <a:pt x="79187" y="158162"/>
                </a:lnTo>
                <a:lnTo>
                  <a:pt x="79187" y="132354"/>
                </a:lnTo>
                <a:cubicBezTo>
                  <a:pt x="73538" y="129636"/>
                  <a:pt x="66513" y="124588"/>
                  <a:pt x="59664" y="115303"/>
                </a:cubicBezTo>
                <a:cubicBezTo>
                  <a:pt x="53168" y="113608"/>
                  <a:pt x="46107" y="111031"/>
                  <a:pt x="39223" y="107147"/>
                </a:cubicBezTo>
                <a:cubicBezTo>
                  <a:pt x="20123" y="96450"/>
                  <a:pt x="2895" y="76292"/>
                  <a:pt x="424" y="40105"/>
                </a:cubicBezTo>
                <a:cubicBezTo>
                  <a:pt x="-247" y="30185"/>
                  <a:pt x="7837" y="22559"/>
                  <a:pt x="17052" y="22559"/>
                </a:cubicBezTo>
                <a:lnTo>
                  <a:pt x="34563" y="22559"/>
                </a:lnTo>
                <a:cubicBezTo>
                  <a:pt x="34457" y="20723"/>
                  <a:pt x="34386" y="18888"/>
                  <a:pt x="34315" y="16981"/>
                </a:cubicBezTo>
                <a:cubicBezTo>
                  <a:pt x="33962" y="7626"/>
                  <a:pt x="41588" y="-35"/>
                  <a:pt x="50944" y="-35"/>
                </a:cubicBezTo>
                <a:close/>
                <a:moveTo>
                  <a:pt x="35833" y="39540"/>
                </a:moveTo>
                <a:lnTo>
                  <a:pt x="17334" y="39540"/>
                </a:lnTo>
                <a:cubicBezTo>
                  <a:pt x="19523" y="69443"/>
                  <a:pt x="33256" y="84412"/>
                  <a:pt x="47413" y="92355"/>
                </a:cubicBezTo>
                <a:cubicBezTo>
                  <a:pt x="42329" y="79187"/>
                  <a:pt x="38128" y="61994"/>
                  <a:pt x="35833" y="39540"/>
                </a:cubicBezTo>
                <a:close/>
                <a:moveTo>
                  <a:pt x="134155" y="90660"/>
                </a:moveTo>
                <a:cubicBezTo>
                  <a:pt x="148453" y="82258"/>
                  <a:pt x="161374" y="67325"/>
                  <a:pt x="163563" y="39540"/>
                </a:cubicBezTo>
                <a:lnTo>
                  <a:pt x="145099" y="39540"/>
                </a:lnTo>
                <a:cubicBezTo>
                  <a:pt x="142910" y="61040"/>
                  <a:pt x="138956" y="77739"/>
                  <a:pt x="134155" y="9066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876576" y="5962834"/>
            <a:ext cx="451890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意义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2227" y="6324249"/>
            <a:ext cx="5359419" cy="2349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直接利用</a:t>
            </a:r>
            <a:r>
              <a:rPr lang="en-US" sz="11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业务行为数据</a:t>
            </a:r>
            <a:r>
              <a:rPr lang="en-US" sz="11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验证，无需人工标签，在工业环境下更具说服力。</a:t>
            </a:r>
            <a:endParaRPr lang="en-US" sz="1600" dirty="0"/>
          </a:p>
        </p:txBody>
      </p:sp>
      <p:grpSp>
        <p:nvGrpSpPr>
          <p:cNvPr id="64" name="组合 63"/>
          <p:cNvGrpSpPr/>
          <p:nvPr/>
        </p:nvGrpSpPr>
        <p:grpSpPr>
          <a:xfrm>
            <a:off x="6201410" y="594360"/>
            <a:ext cx="5647690" cy="5839460"/>
            <a:chOff x="9745" y="1601"/>
            <a:chExt cx="8894" cy="9196"/>
          </a:xfrm>
        </p:grpSpPr>
        <p:sp>
          <p:nvSpPr>
            <p:cNvPr id="28" name="Shape 26"/>
            <p:cNvSpPr/>
            <p:nvPr/>
          </p:nvSpPr>
          <p:spPr>
            <a:xfrm>
              <a:off x="9752" y="1601"/>
              <a:ext cx="8881" cy="4483"/>
            </a:xfrm>
            <a:custGeom>
              <a:avLst/>
              <a:gdLst/>
              <a:ahLst/>
              <a:cxnLst/>
              <a:rect l="l" t="t" r="r" b="b"/>
              <a:pathLst>
                <a:path w="5639414" h="2846732">
                  <a:moveTo>
                    <a:pt x="0" y="0"/>
                  </a:moveTo>
                  <a:lnTo>
                    <a:pt x="5639414" y="0"/>
                  </a:lnTo>
                  <a:lnTo>
                    <a:pt x="5639414" y="2846732"/>
                  </a:lnTo>
                  <a:lnTo>
                    <a:pt x="0" y="2846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  <a:ln w="12451">
              <a:solidFill>
                <a:srgbClr val="6B7280">
                  <a:alpha val="30196"/>
                </a:srgbClr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13101" y="1955"/>
              <a:ext cx="356" cy="285"/>
            </a:xfrm>
            <a:custGeom>
              <a:avLst/>
              <a:gdLst/>
              <a:ahLst/>
              <a:cxnLst/>
              <a:rect l="l" t="t" r="r" b="b"/>
              <a:pathLst>
                <a:path w="225945" h="180756">
                  <a:moveTo>
                    <a:pt x="135567" y="11297"/>
                  </a:moveTo>
                  <a:lnTo>
                    <a:pt x="180756" y="11297"/>
                  </a:lnTo>
                  <a:cubicBezTo>
                    <a:pt x="187005" y="11297"/>
                    <a:pt x="192053" y="16346"/>
                    <a:pt x="192053" y="22595"/>
                  </a:cubicBezTo>
                  <a:cubicBezTo>
                    <a:pt x="192053" y="28843"/>
                    <a:pt x="187005" y="33892"/>
                    <a:pt x="180756" y="33892"/>
                  </a:cubicBezTo>
                  <a:lnTo>
                    <a:pt x="140651" y="33892"/>
                  </a:lnTo>
                  <a:cubicBezTo>
                    <a:pt x="138815" y="43000"/>
                    <a:pt x="132566" y="50520"/>
                    <a:pt x="124270" y="54121"/>
                  </a:cubicBezTo>
                  <a:lnTo>
                    <a:pt x="124270" y="158162"/>
                  </a:lnTo>
                  <a:lnTo>
                    <a:pt x="180756" y="158162"/>
                  </a:lnTo>
                  <a:cubicBezTo>
                    <a:pt x="187005" y="158162"/>
                    <a:pt x="192053" y="163210"/>
                    <a:pt x="192053" y="169459"/>
                  </a:cubicBezTo>
                  <a:cubicBezTo>
                    <a:pt x="192053" y="175708"/>
                    <a:pt x="187005" y="180756"/>
                    <a:pt x="180756" y="180756"/>
                  </a:cubicBezTo>
                  <a:lnTo>
                    <a:pt x="45189" y="180756"/>
                  </a:lnTo>
                  <a:cubicBezTo>
                    <a:pt x="38940" y="180756"/>
                    <a:pt x="33892" y="175708"/>
                    <a:pt x="33892" y="169459"/>
                  </a:cubicBezTo>
                  <a:cubicBezTo>
                    <a:pt x="33892" y="163210"/>
                    <a:pt x="38940" y="158162"/>
                    <a:pt x="45189" y="158162"/>
                  </a:cubicBezTo>
                  <a:lnTo>
                    <a:pt x="101675" y="158162"/>
                  </a:lnTo>
                  <a:lnTo>
                    <a:pt x="101675" y="54121"/>
                  </a:lnTo>
                  <a:cubicBezTo>
                    <a:pt x="93379" y="50485"/>
                    <a:pt x="87130" y="42965"/>
                    <a:pt x="85294" y="33892"/>
                  </a:cubicBezTo>
                  <a:lnTo>
                    <a:pt x="45189" y="33892"/>
                  </a:lnTo>
                  <a:cubicBezTo>
                    <a:pt x="38940" y="33892"/>
                    <a:pt x="33892" y="28843"/>
                    <a:pt x="33892" y="22595"/>
                  </a:cubicBezTo>
                  <a:cubicBezTo>
                    <a:pt x="33892" y="16346"/>
                    <a:pt x="38940" y="11297"/>
                    <a:pt x="45189" y="11297"/>
                  </a:cubicBezTo>
                  <a:lnTo>
                    <a:pt x="90378" y="11297"/>
                  </a:lnTo>
                  <a:cubicBezTo>
                    <a:pt x="95532" y="4448"/>
                    <a:pt x="103723" y="0"/>
                    <a:pt x="112973" y="0"/>
                  </a:cubicBezTo>
                  <a:cubicBezTo>
                    <a:pt x="122222" y="0"/>
                    <a:pt x="130413" y="4448"/>
                    <a:pt x="135567" y="11297"/>
                  </a:cubicBezTo>
                  <a:close/>
                  <a:moveTo>
                    <a:pt x="155196" y="112973"/>
                  </a:moveTo>
                  <a:lnTo>
                    <a:pt x="206316" y="112973"/>
                  </a:lnTo>
                  <a:lnTo>
                    <a:pt x="180756" y="69125"/>
                  </a:lnTo>
                  <a:lnTo>
                    <a:pt x="155196" y="112973"/>
                  </a:lnTo>
                  <a:close/>
                  <a:moveTo>
                    <a:pt x="180756" y="146864"/>
                  </a:moveTo>
                  <a:cubicBezTo>
                    <a:pt x="158550" y="146864"/>
                    <a:pt x="140086" y="134861"/>
                    <a:pt x="136273" y="119010"/>
                  </a:cubicBezTo>
                  <a:cubicBezTo>
                    <a:pt x="135355" y="115126"/>
                    <a:pt x="136626" y="111137"/>
                    <a:pt x="138639" y="107677"/>
                  </a:cubicBezTo>
                  <a:lnTo>
                    <a:pt x="172248" y="50061"/>
                  </a:lnTo>
                  <a:cubicBezTo>
                    <a:pt x="174013" y="47025"/>
                    <a:pt x="177261" y="45189"/>
                    <a:pt x="180756" y="45189"/>
                  </a:cubicBezTo>
                  <a:cubicBezTo>
                    <a:pt x="184251" y="45189"/>
                    <a:pt x="187499" y="47060"/>
                    <a:pt x="189264" y="50061"/>
                  </a:cubicBezTo>
                  <a:lnTo>
                    <a:pt x="222874" y="107677"/>
                  </a:lnTo>
                  <a:cubicBezTo>
                    <a:pt x="224886" y="111137"/>
                    <a:pt x="226157" y="115126"/>
                    <a:pt x="225239" y="119010"/>
                  </a:cubicBezTo>
                  <a:cubicBezTo>
                    <a:pt x="221426" y="134826"/>
                    <a:pt x="202962" y="146864"/>
                    <a:pt x="180756" y="146864"/>
                  </a:cubicBezTo>
                  <a:close/>
                  <a:moveTo>
                    <a:pt x="44765" y="69125"/>
                  </a:moveTo>
                  <a:lnTo>
                    <a:pt x="19205" y="112973"/>
                  </a:lnTo>
                  <a:lnTo>
                    <a:pt x="70361" y="112973"/>
                  </a:lnTo>
                  <a:lnTo>
                    <a:pt x="44765" y="69125"/>
                  </a:lnTo>
                  <a:close/>
                  <a:moveTo>
                    <a:pt x="318" y="119010"/>
                  </a:moveTo>
                  <a:cubicBezTo>
                    <a:pt x="-600" y="115126"/>
                    <a:pt x="671" y="111137"/>
                    <a:pt x="2683" y="107677"/>
                  </a:cubicBezTo>
                  <a:lnTo>
                    <a:pt x="36292" y="50061"/>
                  </a:lnTo>
                  <a:cubicBezTo>
                    <a:pt x="38058" y="47025"/>
                    <a:pt x="41306" y="45189"/>
                    <a:pt x="44801" y="45189"/>
                  </a:cubicBezTo>
                  <a:cubicBezTo>
                    <a:pt x="48296" y="45189"/>
                    <a:pt x="51544" y="47060"/>
                    <a:pt x="53309" y="50061"/>
                  </a:cubicBezTo>
                  <a:lnTo>
                    <a:pt x="86918" y="107677"/>
                  </a:lnTo>
                  <a:cubicBezTo>
                    <a:pt x="88931" y="111137"/>
                    <a:pt x="90202" y="115126"/>
                    <a:pt x="89284" y="119010"/>
                  </a:cubicBezTo>
                  <a:cubicBezTo>
                    <a:pt x="85471" y="134826"/>
                    <a:pt x="67007" y="146864"/>
                    <a:pt x="44801" y="146864"/>
                  </a:cubicBezTo>
                  <a:cubicBezTo>
                    <a:pt x="22595" y="146864"/>
                    <a:pt x="4131" y="134861"/>
                    <a:pt x="318" y="11901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10409" y="1892"/>
              <a:ext cx="8003" cy="3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25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评价逻辑对比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0057" y="2532"/>
              <a:ext cx="3999" cy="3245"/>
            </a:xfrm>
            <a:custGeom>
              <a:avLst/>
              <a:gdLst/>
              <a:ahLst/>
              <a:cxnLst/>
              <a:rect l="l" t="t" r="r" b="b"/>
              <a:pathLst>
                <a:path w="2539269" h="2060265">
                  <a:moveTo>
                    <a:pt x="0" y="0"/>
                  </a:moveTo>
                  <a:lnTo>
                    <a:pt x="2539269" y="0"/>
                  </a:lnTo>
                  <a:lnTo>
                    <a:pt x="2539269" y="2060265"/>
                  </a:lnTo>
                  <a:lnTo>
                    <a:pt x="0" y="2060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6B7280">
                  <a:alpha val="30196"/>
                </a:srgbClr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11491" y="2752"/>
              <a:ext cx="1138" cy="400"/>
            </a:xfrm>
            <a:custGeom>
              <a:avLst/>
              <a:gdLst/>
              <a:ahLst/>
              <a:cxnLst/>
              <a:rect l="l" t="t" r="r" b="b"/>
              <a:pathLst>
                <a:path w="722692" h="253911">
                  <a:moveTo>
                    <a:pt x="0" y="0"/>
                  </a:moveTo>
                  <a:lnTo>
                    <a:pt x="722692" y="0"/>
                  </a:lnTo>
                  <a:lnTo>
                    <a:pt x="722692" y="253911"/>
                  </a:lnTo>
                  <a:lnTo>
                    <a:pt x="0" y="253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33" name="Text 31"/>
            <p:cNvSpPr/>
            <p:nvPr/>
          </p:nvSpPr>
          <p:spPr>
            <a:xfrm>
              <a:off x="11441" y="2752"/>
              <a:ext cx="1238" cy="400"/>
            </a:xfrm>
            <a:prstGeom prst="rect">
              <a:avLst/>
            </a:prstGeom>
            <a:noFill/>
          </p:spPr>
          <p:txBody>
            <a:bodyPr wrap="square" lIns="108454" tIns="36151" rIns="108454" bIns="36151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传统指标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10299" y="3286"/>
              <a:ext cx="3515" cy="1224"/>
            </a:xfrm>
            <a:custGeom>
              <a:avLst/>
              <a:gdLst/>
              <a:ahLst/>
              <a:cxnLst/>
              <a:rect l="l" t="t" r="r" b="b"/>
              <a:pathLst>
                <a:path w="2232338" h="777251">
                  <a:moveTo>
                    <a:pt x="0" y="0"/>
                  </a:moveTo>
                  <a:lnTo>
                    <a:pt x="2232338" y="0"/>
                  </a:lnTo>
                  <a:lnTo>
                    <a:pt x="2232338" y="777251"/>
                  </a:lnTo>
                  <a:lnTo>
                    <a:pt x="0" y="777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35" name="Shape 33"/>
            <p:cNvSpPr/>
            <p:nvPr/>
          </p:nvSpPr>
          <p:spPr>
            <a:xfrm>
              <a:off x="11823" y="3457"/>
              <a:ext cx="480" cy="427"/>
            </a:xfrm>
            <a:custGeom>
              <a:avLst/>
              <a:gdLst/>
              <a:ahLst/>
              <a:cxnLst/>
              <a:rect l="l" t="t" r="r" b="b"/>
              <a:pathLst>
                <a:path w="305026" h="271134">
                  <a:moveTo>
                    <a:pt x="212459" y="20706"/>
                  </a:moveTo>
                  <a:lnTo>
                    <a:pt x="290940" y="100298"/>
                  </a:lnTo>
                  <a:cubicBezTo>
                    <a:pt x="305608" y="115179"/>
                    <a:pt x="305608" y="139009"/>
                    <a:pt x="290940" y="153890"/>
                  </a:cubicBezTo>
                  <a:lnTo>
                    <a:pt x="208117" y="237719"/>
                  </a:lnTo>
                  <a:cubicBezTo>
                    <a:pt x="203192" y="242697"/>
                    <a:pt x="195142" y="242750"/>
                    <a:pt x="190165" y="237825"/>
                  </a:cubicBezTo>
                  <a:cubicBezTo>
                    <a:pt x="185187" y="232900"/>
                    <a:pt x="185134" y="224851"/>
                    <a:pt x="190059" y="219873"/>
                  </a:cubicBezTo>
                  <a:lnTo>
                    <a:pt x="272882" y="135991"/>
                  </a:lnTo>
                  <a:cubicBezTo>
                    <a:pt x="277754" y="131066"/>
                    <a:pt x="277754" y="123069"/>
                    <a:pt x="272882" y="118145"/>
                  </a:cubicBezTo>
                  <a:lnTo>
                    <a:pt x="194348" y="38605"/>
                  </a:lnTo>
                  <a:cubicBezTo>
                    <a:pt x="189423" y="33627"/>
                    <a:pt x="189476" y="25578"/>
                    <a:pt x="194454" y="20653"/>
                  </a:cubicBezTo>
                  <a:cubicBezTo>
                    <a:pt x="199432" y="15728"/>
                    <a:pt x="207481" y="15781"/>
                    <a:pt x="212406" y="20759"/>
                  </a:cubicBezTo>
                  <a:close/>
                  <a:moveTo>
                    <a:pt x="16999" y="121534"/>
                  </a:moveTo>
                  <a:lnTo>
                    <a:pt x="16999" y="50838"/>
                  </a:lnTo>
                  <a:cubicBezTo>
                    <a:pt x="16999" y="32144"/>
                    <a:pt x="32197" y="16946"/>
                    <a:pt x="50891" y="16946"/>
                  </a:cubicBezTo>
                  <a:lnTo>
                    <a:pt x="121587" y="16946"/>
                  </a:lnTo>
                  <a:cubicBezTo>
                    <a:pt x="130589" y="16946"/>
                    <a:pt x="139221" y="20494"/>
                    <a:pt x="145576" y="26849"/>
                  </a:cubicBezTo>
                  <a:lnTo>
                    <a:pt x="221832" y="103105"/>
                  </a:lnTo>
                  <a:cubicBezTo>
                    <a:pt x="235071" y="116344"/>
                    <a:pt x="235071" y="137791"/>
                    <a:pt x="221832" y="151030"/>
                  </a:cubicBezTo>
                  <a:lnTo>
                    <a:pt x="151136" y="221726"/>
                  </a:lnTo>
                  <a:cubicBezTo>
                    <a:pt x="137897" y="234965"/>
                    <a:pt x="116450" y="234965"/>
                    <a:pt x="103211" y="221726"/>
                  </a:cubicBezTo>
                  <a:lnTo>
                    <a:pt x="26955" y="145470"/>
                  </a:lnTo>
                  <a:cubicBezTo>
                    <a:pt x="20600" y="139115"/>
                    <a:pt x="17052" y="130483"/>
                    <a:pt x="17052" y="121481"/>
                  </a:cubicBezTo>
                  <a:close/>
                  <a:moveTo>
                    <a:pt x="93255" y="76256"/>
                  </a:moveTo>
                  <a:cubicBezTo>
                    <a:pt x="93255" y="66904"/>
                    <a:pt x="85662" y="59311"/>
                    <a:pt x="76309" y="59311"/>
                  </a:cubicBezTo>
                  <a:cubicBezTo>
                    <a:pt x="66957" y="59311"/>
                    <a:pt x="59364" y="66904"/>
                    <a:pt x="59364" y="76256"/>
                  </a:cubicBezTo>
                  <a:cubicBezTo>
                    <a:pt x="59364" y="85609"/>
                    <a:pt x="66957" y="93202"/>
                    <a:pt x="76309" y="93202"/>
                  </a:cubicBezTo>
                  <a:cubicBezTo>
                    <a:pt x="85662" y="93202"/>
                    <a:pt x="93255" y="85609"/>
                    <a:pt x="93255" y="76256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36" name="Text 34"/>
            <p:cNvSpPr/>
            <p:nvPr/>
          </p:nvSpPr>
          <p:spPr>
            <a:xfrm>
              <a:off x="10412" y="3998"/>
              <a:ext cx="3288" cy="34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4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看标签一致性</a:t>
              </a:r>
              <a:endParaRPr lang="en-US" sz="16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0249" y="4624"/>
              <a:ext cx="3615" cy="2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NMI = I(Y;Ŷ) / √[H(Y)H(Ŷ)]</a:t>
              </a:r>
              <a:endParaRPr lang="en-US" sz="16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0299" y="5022"/>
              <a:ext cx="3515" cy="512"/>
            </a:xfrm>
            <a:custGeom>
              <a:avLst/>
              <a:gdLst/>
              <a:ahLst/>
              <a:cxnLst/>
              <a:rect l="l" t="t" r="r" b="b"/>
              <a:pathLst>
                <a:path w="2232338" h="325361">
                  <a:moveTo>
                    <a:pt x="0" y="0"/>
                  </a:moveTo>
                  <a:lnTo>
                    <a:pt x="2232338" y="0"/>
                  </a:lnTo>
                  <a:lnTo>
                    <a:pt x="2232338" y="325361"/>
                  </a:lnTo>
                  <a:lnTo>
                    <a:pt x="0" y="325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>
                <a:alpha val="10196"/>
              </a:srgbClr>
            </a:solidFill>
          </p:spPr>
        </p:sp>
        <p:sp>
          <p:nvSpPr>
            <p:cNvPr id="39" name="Shape 37"/>
            <p:cNvSpPr/>
            <p:nvPr/>
          </p:nvSpPr>
          <p:spPr>
            <a:xfrm>
              <a:off x="11076" y="5178"/>
              <a:ext cx="149" cy="199"/>
            </a:xfrm>
            <a:custGeom>
              <a:avLst/>
              <a:gdLst/>
              <a:ahLst/>
              <a:cxnLst/>
              <a:rect l="l" t="t" r="r" b="b"/>
              <a:pathLst>
                <a:path w="94897" h="126529">
                  <a:moveTo>
                    <a:pt x="13617" y="18139"/>
                  </a:moveTo>
                  <a:cubicBezTo>
                    <a:pt x="10528" y="15050"/>
                    <a:pt x="5511" y="15050"/>
                    <a:pt x="2422" y="18139"/>
                  </a:cubicBezTo>
                  <a:cubicBezTo>
                    <a:pt x="-667" y="21228"/>
                    <a:pt x="-667" y="26245"/>
                    <a:pt x="2422" y="29334"/>
                  </a:cubicBezTo>
                  <a:lnTo>
                    <a:pt x="36377" y="63265"/>
                  </a:lnTo>
                  <a:lnTo>
                    <a:pt x="2447" y="97220"/>
                  </a:lnTo>
                  <a:cubicBezTo>
                    <a:pt x="-643" y="100309"/>
                    <a:pt x="-643" y="105326"/>
                    <a:pt x="2447" y="108415"/>
                  </a:cubicBezTo>
                  <a:cubicBezTo>
                    <a:pt x="5536" y="111504"/>
                    <a:pt x="10552" y="111504"/>
                    <a:pt x="13641" y="108415"/>
                  </a:cubicBezTo>
                  <a:lnTo>
                    <a:pt x="47572" y="74460"/>
                  </a:lnTo>
                  <a:lnTo>
                    <a:pt x="81527" y="108390"/>
                  </a:lnTo>
                  <a:cubicBezTo>
                    <a:pt x="84616" y="111479"/>
                    <a:pt x="89633" y="111479"/>
                    <a:pt x="92722" y="108390"/>
                  </a:cubicBezTo>
                  <a:cubicBezTo>
                    <a:pt x="95811" y="105301"/>
                    <a:pt x="95811" y="100284"/>
                    <a:pt x="92722" y="97195"/>
                  </a:cubicBezTo>
                  <a:lnTo>
                    <a:pt x="58767" y="63265"/>
                  </a:lnTo>
                  <a:lnTo>
                    <a:pt x="92698" y="29309"/>
                  </a:lnTo>
                  <a:cubicBezTo>
                    <a:pt x="95787" y="26220"/>
                    <a:pt x="95787" y="21204"/>
                    <a:pt x="92698" y="18114"/>
                  </a:cubicBezTo>
                  <a:cubicBezTo>
                    <a:pt x="89608" y="15025"/>
                    <a:pt x="84592" y="15025"/>
                    <a:pt x="81503" y="18114"/>
                  </a:cubicBezTo>
                  <a:lnTo>
                    <a:pt x="47572" y="52070"/>
                  </a:lnTo>
                  <a:lnTo>
                    <a:pt x="13617" y="18139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40" name="Text 38"/>
            <p:cNvSpPr/>
            <p:nvPr/>
          </p:nvSpPr>
          <p:spPr>
            <a:xfrm>
              <a:off x="10645" y="5136"/>
              <a:ext cx="3105" cy="2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需要Ground Truth</a:t>
              </a:r>
              <a:endParaRPr lang="en-US" sz="1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4318" y="2532"/>
              <a:ext cx="3999" cy="3245"/>
            </a:xfrm>
            <a:custGeom>
              <a:avLst/>
              <a:gdLst/>
              <a:ahLst/>
              <a:cxnLst/>
              <a:rect l="l" t="t" r="r" b="b"/>
              <a:pathLst>
                <a:path w="2539269" h="2060265">
                  <a:moveTo>
                    <a:pt x="0" y="0"/>
                  </a:moveTo>
                  <a:lnTo>
                    <a:pt x="2539269" y="0"/>
                  </a:lnTo>
                  <a:lnTo>
                    <a:pt x="2539269" y="2060265"/>
                  </a:lnTo>
                  <a:lnTo>
                    <a:pt x="0" y="2060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902">
              <a:solidFill>
                <a:srgbClr val="8B0000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15664" y="2752"/>
              <a:ext cx="1313" cy="400"/>
            </a:xfrm>
            <a:custGeom>
              <a:avLst/>
              <a:gdLst/>
              <a:ahLst/>
              <a:cxnLst/>
              <a:rect l="l" t="t" r="r" b="b"/>
              <a:pathLst>
                <a:path w="833796" h="253911">
                  <a:moveTo>
                    <a:pt x="0" y="0"/>
                  </a:moveTo>
                  <a:lnTo>
                    <a:pt x="833796" y="0"/>
                  </a:lnTo>
                  <a:lnTo>
                    <a:pt x="833796" y="253911"/>
                  </a:lnTo>
                  <a:lnTo>
                    <a:pt x="0" y="253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43" name="Text 41"/>
            <p:cNvSpPr/>
            <p:nvPr/>
          </p:nvSpPr>
          <p:spPr>
            <a:xfrm>
              <a:off x="15614" y="2752"/>
              <a:ext cx="1413" cy="400"/>
            </a:xfrm>
            <a:prstGeom prst="rect">
              <a:avLst/>
            </a:prstGeom>
            <a:noFill/>
          </p:spPr>
          <p:txBody>
            <a:bodyPr wrap="square" lIns="108454" tIns="36151" rIns="108454" bIns="36151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EDGE指标</a:t>
              </a:r>
              <a:endParaRPr lang="en-US" sz="16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4559" y="3286"/>
              <a:ext cx="3515" cy="1224"/>
            </a:xfrm>
            <a:custGeom>
              <a:avLst/>
              <a:gdLst/>
              <a:ahLst/>
              <a:cxnLst/>
              <a:rect l="l" t="t" r="r" b="b"/>
              <a:pathLst>
                <a:path w="2232338" h="777251">
                  <a:moveTo>
                    <a:pt x="0" y="0"/>
                  </a:moveTo>
                  <a:lnTo>
                    <a:pt x="2232338" y="0"/>
                  </a:lnTo>
                  <a:lnTo>
                    <a:pt x="2232338" y="777251"/>
                  </a:lnTo>
                  <a:lnTo>
                    <a:pt x="0" y="777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196"/>
              </a:srgbClr>
            </a:solidFill>
          </p:spPr>
        </p:sp>
        <p:sp>
          <p:nvSpPr>
            <p:cNvPr id="45" name="Shape 43"/>
            <p:cNvSpPr/>
            <p:nvPr/>
          </p:nvSpPr>
          <p:spPr>
            <a:xfrm>
              <a:off x="16084" y="3457"/>
              <a:ext cx="480" cy="427"/>
            </a:xfrm>
            <a:custGeom>
              <a:avLst/>
              <a:gdLst/>
              <a:ahLst/>
              <a:cxnLst/>
              <a:rect l="l" t="t" r="r" b="b"/>
              <a:pathLst>
                <a:path w="305026" h="271134">
                  <a:moveTo>
                    <a:pt x="142398" y="45118"/>
                  </a:moveTo>
                  <a:lnTo>
                    <a:pt x="80652" y="113749"/>
                  </a:lnTo>
                  <a:cubicBezTo>
                    <a:pt x="78216" y="116450"/>
                    <a:pt x="78322" y="120634"/>
                    <a:pt x="80917" y="123228"/>
                  </a:cubicBezTo>
                  <a:cubicBezTo>
                    <a:pt x="97068" y="139380"/>
                    <a:pt x="123281" y="139380"/>
                    <a:pt x="139433" y="123228"/>
                  </a:cubicBezTo>
                  <a:lnTo>
                    <a:pt x="156273" y="106388"/>
                  </a:lnTo>
                  <a:cubicBezTo>
                    <a:pt x="158497" y="104164"/>
                    <a:pt x="161304" y="102946"/>
                    <a:pt x="164163" y="102734"/>
                  </a:cubicBezTo>
                  <a:cubicBezTo>
                    <a:pt x="167764" y="102417"/>
                    <a:pt x="171471" y="103635"/>
                    <a:pt x="174225" y="106388"/>
                  </a:cubicBezTo>
                  <a:lnTo>
                    <a:pt x="267745" y="199114"/>
                  </a:lnTo>
                  <a:lnTo>
                    <a:pt x="305026" y="169459"/>
                  </a:lnTo>
                  <a:lnTo>
                    <a:pt x="305026" y="16946"/>
                  </a:lnTo>
                  <a:lnTo>
                    <a:pt x="245715" y="50838"/>
                  </a:lnTo>
                  <a:lnTo>
                    <a:pt x="233112" y="42418"/>
                  </a:lnTo>
                  <a:cubicBezTo>
                    <a:pt x="224745" y="36857"/>
                    <a:pt x="214948" y="33892"/>
                    <a:pt x="204886" y="33892"/>
                  </a:cubicBezTo>
                  <a:lnTo>
                    <a:pt x="167605" y="33892"/>
                  </a:lnTo>
                  <a:cubicBezTo>
                    <a:pt x="167023" y="33892"/>
                    <a:pt x="166387" y="33892"/>
                    <a:pt x="165805" y="33945"/>
                  </a:cubicBezTo>
                  <a:cubicBezTo>
                    <a:pt x="156855" y="34421"/>
                    <a:pt x="148435" y="38446"/>
                    <a:pt x="142398" y="45118"/>
                  </a:cubicBezTo>
                  <a:close/>
                  <a:moveTo>
                    <a:pt x="61747" y="96750"/>
                  </a:moveTo>
                  <a:lnTo>
                    <a:pt x="118303" y="33892"/>
                  </a:lnTo>
                  <a:lnTo>
                    <a:pt x="97333" y="33892"/>
                  </a:lnTo>
                  <a:cubicBezTo>
                    <a:pt x="83829" y="33892"/>
                    <a:pt x="70908" y="39240"/>
                    <a:pt x="61376" y="48772"/>
                  </a:cubicBezTo>
                  <a:lnTo>
                    <a:pt x="59311" y="50838"/>
                  </a:lnTo>
                  <a:lnTo>
                    <a:pt x="0" y="16946"/>
                  </a:lnTo>
                  <a:lnTo>
                    <a:pt x="0" y="169459"/>
                  </a:lnTo>
                  <a:lnTo>
                    <a:pt x="82823" y="238460"/>
                  </a:lnTo>
                  <a:cubicBezTo>
                    <a:pt x="95003" y="248628"/>
                    <a:pt x="110360" y="254188"/>
                    <a:pt x="126194" y="254188"/>
                  </a:cubicBezTo>
                  <a:lnTo>
                    <a:pt x="134508" y="254188"/>
                  </a:lnTo>
                  <a:lnTo>
                    <a:pt x="130801" y="250481"/>
                  </a:lnTo>
                  <a:cubicBezTo>
                    <a:pt x="125823" y="245504"/>
                    <a:pt x="125823" y="237454"/>
                    <a:pt x="130801" y="232529"/>
                  </a:cubicBezTo>
                  <a:cubicBezTo>
                    <a:pt x="135779" y="227604"/>
                    <a:pt x="143828" y="227551"/>
                    <a:pt x="148753" y="232529"/>
                  </a:cubicBezTo>
                  <a:lnTo>
                    <a:pt x="170465" y="254241"/>
                  </a:lnTo>
                  <a:lnTo>
                    <a:pt x="175231" y="254241"/>
                  </a:lnTo>
                  <a:cubicBezTo>
                    <a:pt x="185346" y="254241"/>
                    <a:pt x="195248" y="251964"/>
                    <a:pt x="204251" y="247728"/>
                  </a:cubicBezTo>
                  <a:lnTo>
                    <a:pt x="190112" y="233535"/>
                  </a:lnTo>
                  <a:cubicBezTo>
                    <a:pt x="185134" y="228558"/>
                    <a:pt x="185134" y="220508"/>
                    <a:pt x="190112" y="215583"/>
                  </a:cubicBezTo>
                  <a:cubicBezTo>
                    <a:pt x="195090" y="210659"/>
                    <a:pt x="203139" y="210606"/>
                    <a:pt x="208064" y="215583"/>
                  </a:cubicBezTo>
                  <a:lnTo>
                    <a:pt x="225010" y="232529"/>
                  </a:lnTo>
                  <a:lnTo>
                    <a:pt x="234277" y="223262"/>
                  </a:lnTo>
                  <a:cubicBezTo>
                    <a:pt x="238990" y="218549"/>
                    <a:pt x="240367" y="211718"/>
                    <a:pt x="238302" y="205734"/>
                  </a:cubicBezTo>
                  <a:lnTo>
                    <a:pt x="165275" y="133290"/>
                  </a:lnTo>
                  <a:lnTo>
                    <a:pt x="157385" y="141180"/>
                  </a:lnTo>
                  <a:cubicBezTo>
                    <a:pt x="131278" y="167288"/>
                    <a:pt x="89019" y="167288"/>
                    <a:pt x="62912" y="141180"/>
                  </a:cubicBezTo>
                  <a:cubicBezTo>
                    <a:pt x="50732" y="129001"/>
                    <a:pt x="50255" y="109460"/>
                    <a:pt x="61747" y="96697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46" name="Text 44"/>
            <p:cNvSpPr/>
            <p:nvPr/>
          </p:nvSpPr>
          <p:spPr>
            <a:xfrm>
              <a:off x="14673" y="3998"/>
              <a:ext cx="3288" cy="34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4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看行为转化率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4509" y="4624"/>
              <a:ext cx="3615" cy="2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EDGE = F1(社群内边预测)</a:t>
              </a:r>
              <a:endParaRPr lang="en-US" sz="16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14559" y="5022"/>
              <a:ext cx="3515" cy="512"/>
            </a:xfrm>
            <a:custGeom>
              <a:avLst/>
              <a:gdLst/>
              <a:ahLst/>
              <a:cxnLst/>
              <a:rect l="l" t="t" r="r" b="b"/>
              <a:pathLst>
                <a:path w="2232338" h="325361">
                  <a:moveTo>
                    <a:pt x="0" y="0"/>
                  </a:moveTo>
                  <a:lnTo>
                    <a:pt x="2232338" y="0"/>
                  </a:lnTo>
                  <a:lnTo>
                    <a:pt x="2232338" y="325361"/>
                  </a:lnTo>
                  <a:lnTo>
                    <a:pt x="0" y="325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196"/>
              </a:srgbClr>
            </a:solidFill>
          </p:spPr>
        </p:sp>
        <p:sp>
          <p:nvSpPr>
            <p:cNvPr id="49" name="Shape 47"/>
            <p:cNvSpPr/>
            <p:nvPr/>
          </p:nvSpPr>
          <p:spPr>
            <a:xfrm>
              <a:off x="15604" y="5178"/>
              <a:ext cx="174" cy="199"/>
            </a:xfrm>
            <a:custGeom>
              <a:avLst/>
              <a:gdLst/>
              <a:ahLst/>
              <a:cxnLst/>
              <a:rect l="l" t="t" r="r" b="b"/>
              <a:pathLst>
                <a:path w="110713" h="126529">
                  <a:moveTo>
                    <a:pt x="107451" y="17324"/>
                  </a:moveTo>
                  <a:cubicBezTo>
                    <a:pt x="110985" y="19894"/>
                    <a:pt x="111776" y="24836"/>
                    <a:pt x="109206" y="28370"/>
                  </a:cubicBezTo>
                  <a:lnTo>
                    <a:pt x="45941" y="115359"/>
                  </a:lnTo>
                  <a:cubicBezTo>
                    <a:pt x="44582" y="117237"/>
                    <a:pt x="42481" y="118399"/>
                    <a:pt x="40158" y="118596"/>
                  </a:cubicBezTo>
                  <a:cubicBezTo>
                    <a:pt x="37835" y="118794"/>
                    <a:pt x="35586" y="117929"/>
                    <a:pt x="33955" y="116298"/>
                  </a:cubicBezTo>
                  <a:lnTo>
                    <a:pt x="2323" y="84666"/>
                  </a:lnTo>
                  <a:cubicBezTo>
                    <a:pt x="-766" y="81577"/>
                    <a:pt x="-766" y="76560"/>
                    <a:pt x="2323" y="73471"/>
                  </a:cubicBezTo>
                  <a:cubicBezTo>
                    <a:pt x="5412" y="70382"/>
                    <a:pt x="10429" y="70382"/>
                    <a:pt x="13518" y="73471"/>
                  </a:cubicBezTo>
                  <a:lnTo>
                    <a:pt x="38601" y="98554"/>
                  </a:lnTo>
                  <a:lnTo>
                    <a:pt x="96429" y="19054"/>
                  </a:lnTo>
                  <a:cubicBezTo>
                    <a:pt x="98999" y="15520"/>
                    <a:pt x="103942" y="14729"/>
                    <a:pt x="107476" y="17299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50" name="Text 48"/>
            <p:cNvSpPr/>
            <p:nvPr/>
          </p:nvSpPr>
          <p:spPr>
            <a:xfrm>
              <a:off x="14906" y="5136"/>
              <a:ext cx="3105" cy="2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95" dirty="0">
                  <a:solidFill>
                    <a:srgbClr val="8B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仅需业务数据</a:t>
              </a:r>
              <a:endParaRPr lang="en-US" sz="1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9752" y="6323"/>
              <a:ext cx="8881" cy="3444"/>
            </a:xfrm>
            <a:custGeom>
              <a:avLst/>
              <a:gdLst/>
              <a:ahLst/>
              <a:cxnLst/>
              <a:rect l="l" t="t" r="r" b="b"/>
              <a:pathLst>
                <a:path w="5639414" h="2186972">
                  <a:moveTo>
                    <a:pt x="0" y="0"/>
                  </a:moveTo>
                  <a:lnTo>
                    <a:pt x="5639414" y="0"/>
                  </a:lnTo>
                  <a:lnTo>
                    <a:pt x="5639414" y="2186972"/>
                  </a:lnTo>
                  <a:lnTo>
                    <a:pt x="0" y="2186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451">
              <a:solidFill>
                <a:srgbClr val="6B7280">
                  <a:alpha val="30196"/>
                </a:srgbClr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10104" y="6685"/>
              <a:ext cx="192" cy="256"/>
            </a:xfrm>
            <a:custGeom>
              <a:avLst/>
              <a:gdLst/>
              <a:ahLst/>
              <a:cxnLst/>
              <a:rect l="l" t="t" r="r" b="b"/>
              <a:pathLst>
                <a:path w="122010" h="162681">
                  <a:moveTo>
                    <a:pt x="20335" y="0"/>
                  </a:moveTo>
                  <a:cubicBezTo>
                    <a:pt x="9119" y="0"/>
                    <a:pt x="0" y="9119"/>
                    <a:pt x="0" y="20335"/>
                  </a:cubicBezTo>
                  <a:lnTo>
                    <a:pt x="0" y="142345"/>
                  </a:lnTo>
                  <a:cubicBezTo>
                    <a:pt x="0" y="153561"/>
                    <a:pt x="9119" y="162681"/>
                    <a:pt x="20335" y="162681"/>
                  </a:cubicBezTo>
                  <a:lnTo>
                    <a:pt x="101675" y="162681"/>
                  </a:lnTo>
                  <a:cubicBezTo>
                    <a:pt x="112891" y="162681"/>
                    <a:pt x="122010" y="153561"/>
                    <a:pt x="122010" y="142345"/>
                  </a:cubicBezTo>
                  <a:lnTo>
                    <a:pt x="122010" y="20335"/>
                  </a:lnTo>
                  <a:cubicBezTo>
                    <a:pt x="122010" y="9119"/>
                    <a:pt x="112891" y="0"/>
                    <a:pt x="101675" y="0"/>
                  </a:cubicBezTo>
                  <a:lnTo>
                    <a:pt x="20335" y="0"/>
                  </a:lnTo>
                  <a:close/>
                  <a:moveTo>
                    <a:pt x="30503" y="20335"/>
                  </a:moveTo>
                  <a:lnTo>
                    <a:pt x="91508" y="20335"/>
                  </a:lnTo>
                  <a:cubicBezTo>
                    <a:pt x="97132" y="20335"/>
                    <a:pt x="101675" y="24879"/>
                    <a:pt x="101675" y="30503"/>
                  </a:cubicBezTo>
                  <a:lnTo>
                    <a:pt x="101675" y="40670"/>
                  </a:lnTo>
                  <a:cubicBezTo>
                    <a:pt x="101675" y="46294"/>
                    <a:pt x="97132" y="50838"/>
                    <a:pt x="91508" y="50838"/>
                  </a:cubicBezTo>
                  <a:lnTo>
                    <a:pt x="30503" y="50838"/>
                  </a:lnTo>
                  <a:cubicBezTo>
                    <a:pt x="24879" y="50838"/>
                    <a:pt x="20335" y="46294"/>
                    <a:pt x="20335" y="40670"/>
                  </a:cubicBezTo>
                  <a:lnTo>
                    <a:pt x="20335" y="30503"/>
                  </a:lnTo>
                  <a:cubicBezTo>
                    <a:pt x="20335" y="24879"/>
                    <a:pt x="24879" y="20335"/>
                    <a:pt x="30503" y="20335"/>
                  </a:cubicBezTo>
                  <a:close/>
                  <a:moveTo>
                    <a:pt x="35586" y="73715"/>
                  </a:moveTo>
                  <a:cubicBezTo>
                    <a:pt x="35586" y="77923"/>
                    <a:pt x="32169" y="81340"/>
                    <a:pt x="27961" y="81340"/>
                  </a:cubicBezTo>
                  <a:cubicBezTo>
                    <a:pt x="23752" y="81340"/>
                    <a:pt x="20335" y="77923"/>
                    <a:pt x="20335" y="73715"/>
                  </a:cubicBezTo>
                  <a:cubicBezTo>
                    <a:pt x="20335" y="69506"/>
                    <a:pt x="23752" y="66089"/>
                    <a:pt x="27961" y="66089"/>
                  </a:cubicBezTo>
                  <a:cubicBezTo>
                    <a:pt x="32169" y="66089"/>
                    <a:pt x="35586" y="69506"/>
                    <a:pt x="35586" y="73715"/>
                  </a:cubicBezTo>
                  <a:close/>
                  <a:moveTo>
                    <a:pt x="61005" y="81340"/>
                  </a:moveTo>
                  <a:cubicBezTo>
                    <a:pt x="56796" y="81340"/>
                    <a:pt x="53380" y="77923"/>
                    <a:pt x="53380" y="73715"/>
                  </a:cubicBezTo>
                  <a:cubicBezTo>
                    <a:pt x="53380" y="69506"/>
                    <a:pt x="56796" y="66089"/>
                    <a:pt x="61005" y="66089"/>
                  </a:cubicBezTo>
                  <a:cubicBezTo>
                    <a:pt x="65214" y="66089"/>
                    <a:pt x="68631" y="69506"/>
                    <a:pt x="68631" y="73715"/>
                  </a:cubicBezTo>
                  <a:cubicBezTo>
                    <a:pt x="68631" y="77923"/>
                    <a:pt x="65214" y="81340"/>
                    <a:pt x="61005" y="81340"/>
                  </a:cubicBezTo>
                  <a:close/>
                  <a:moveTo>
                    <a:pt x="101675" y="73715"/>
                  </a:moveTo>
                  <a:cubicBezTo>
                    <a:pt x="101675" y="77923"/>
                    <a:pt x="98258" y="81340"/>
                    <a:pt x="94050" y="81340"/>
                  </a:cubicBezTo>
                  <a:cubicBezTo>
                    <a:pt x="89841" y="81340"/>
                    <a:pt x="86424" y="77923"/>
                    <a:pt x="86424" y="73715"/>
                  </a:cubicBezTo>
                  <a:cubicBezTo>
                    <a:pt x="86424" y="69506"/>
                    <a:pt x="89841" y="66089"/>
                    <a:pt x="94050" y="66089"/>
                  </a:cubicBezTo>
                  <a:cubicBezTo>
                    <a:pt x="98258" y="66089"/>
                    <a:pt x="101675" y="69506"/>
                    <a:pt x="101675" y="73715"/>
                  </a:cubicBezTo>
                  <a:close/>
                  <a:moveTo>
                    <a:pt x="27961" y="111843"/>
                  </a:moveTo>
                  <a:cubicBezTo>
                    <a:pt x="23752" y="111843"/>
                    <a:pt x="20335" y="108426"/>
                    <a:pt x="20335" y="104217"/>
                  </a:cubicBezTo>
                  <a:cubicBezTo>
                    <a:pt x="20335" y="100008"/>
                    <a:pt x="23752" y="96592"/>
                    <a:pt x="27961" y="96592"/>
                  </a:cubicBezTo>
                  <a:cubicBezTo>
                    <a:pt x="32169" y="96592"/>
                    <a:pt x="35586" y="100008"/>
                    <a:pt x="35586" y="104217"/>
                  </a:cubicBezTo>
                  <a:cubicBezTo>
                    <a:pt x="35586" y="108426"/>
                    <a:pt x="32169" y="111843"/>
                    <a:pt x="27961" y="111843"/>
                  </a:cubicBezTo>
                  <a:close/>
                  <a:moveTo>
                    <a:pt x="68631" y="104217"/>
                  </a:moveTo>
                  <a:cubicBezTo>
                    <a:pt x="68631" y="108426"/>
                    <a:pt x="65214" y="111843"/>
                    <a:pt x="61005" y="111843"/>
                  </a:cubicBezTo>
                  <a:cubicBezTo>
                    <a:pt x="56796" y="111843"/>
                    <a:pt x="53380" y="108426"/>
                    <a:pt x="53380" y="104217"/>
                  </a:cubicBezTo>
                  <a:cubicBezTo>
                    <a:pt x="53380" y="100008"/>
                    <a:pt x="56796" y="96592"/>
                    <a:pt x="61005" y="96592"/>
                  </a:cubicBezTo>
                  <a:cubicBezTo>
                    <a:pt x="65214" y="96592"/>
                    <a:pt x="68631" y="100008"/>
                    <a:pt x="68631" y="104217"/>
                  </a:cubicBezTo>
                  <a:close/>
                  <a:moveTo>
                    <a:pt x="94050" y="111843"/>
                  </a:moveTo>
                  <a:cubicBezTo>
                    <a:pt x="89841" y="111843"/>
                    <a:pt x="86424" y="108426"/>
                    <a:pt x="86424" y="104217"/>
                  </a:cubicBezTo>
                  <a:cubicBezTo>
                    <a:pt x="86424" y="100008"/>
                    <a:pt x="89841" y="96592"/>
                    <a:pt x="94050" y="96592"/>
                  </a:cubicBezTo>
                  <a:cubicBezTo>
                    <a:pt x="98258" y="96592"/>
                    <a:pt x="101675" y="100008"/>
                    <a:pt x="101675" y="104217"/>
                  </a:cubicBezTo>
                  <a:cubicBezTo>
                    <a:pt x="101675" y="108426"/>
                    <a:pt x="98258" y="111843"/>
                    <a:pt x="94050" y="111843"/>
                  </a:cubicBezTo>
                  <a:close/>
                  <a:moveTo>
                    <a:pt x="20335" y="134720"/>
                  </a:moveTo>
                  <a:cubicBezTo>
                    <a:pt x="20335" y="130494"/>
                    <a:pt x="23735" y="127094"/>
                    <a:pt x="27961" y="127094"/>
                  </a:cubicBezTo>
                  <a:lnTo>
                    <a:pt x="63547" y="127094"/>
                  </a:lnTo>
                  <a:cubicBezTo>
                    <a:pt x="67773" y="127094"/>
                    <a:pt x="71173" y="130494"/>
                    <a:pt x="71173" y="134720"/>
                  </a:cubicBezTo>
                  <a:cubicBezTo>
                    <a:pt x="71173" y="138946"/>
                    <a:pt x="67773" y="142345"/>
                    <a:pt x="63547" y="142345"/>
                  </a:cubicBezTo>
                  <a:lnTo>
                    <a:pt x="27961" y="142345"/>
                  </a:lnTo>
                  <a:cubicBezTo>
                    <a:pt x="23735" y="142345"/>
                    <a:pt x="20335" y="138946"/>
                    <a:pt x="20335" y="134720"/>
                  </a:cubicBezTo>
                  <a:close/>
                  <a:moveTo>
                    <a:pt x="94050" y="127094"/>
                  </a:moveTo>
                  <a:cubicBezTo>
                    <a:pt x="98276" y="127094"/>
                    <a:pt x="101675" y="130494"/>
                    <a:pt x="101675" y="134720"/>
                  </a:cubicBezTo>
                  <a:cubicBezTo>
                    <a:pt x="101675" y="138946"/>
                    <a:pt x="98276" y="142345"/>
                    <a:pt x="94050" y="142345"/>
                  </a:cubicBezTo>
                  <a:cubicBezTo>
                    <a:pt x="89824" y="142345"/>
                    <a:pt x="86424" y="138946"/>
                    <a:pt x="86424" y="134720"/>
                  </a:cubicBezTo>
                  <a:cubicBezTo>
                    <a:pt x="86424" y="130494"/>
                    <a:pt x="89824" y="127094"/>
                    <a:pt x="94050" y="127094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53" name="Text 51"/>
            <p:cNvSpPr/>
            <p:nvPr/>
          </p:nvSpPr>
          <p:spPr>
            <a:xfrm>
              <a:off x="10437" y="6615"/>
              <a:ext cx="8032" cy="3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EDGE计算公式</a:t>
              </a:r>
              <a:endParaRPr lang="en-US" sz="16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0043" y="7184"/>
              <a:ext cx="8298" cy="2291"/>
            </a:xfrm>
            <a:custGeom>
              <a:avLst/>
              <a:gdLst/>
              <a:ahLst/>
              <a:cxnLst/>
              <a:rect l="l" t="t" r="r" b="b"/>
              <a:pathLst>
                <a:path w="5269041" h="1455087">
                  <a:moveTo>
                    <a:pt x="0" y="0"/>
                  </a:moveTo>
                  <a:lnTo>
                    <a:pt x="5269041" y="0"/>
                  </a:lnTo>
                  <a:lnTo>
                    <a:pt x="5269041" y="1455087"/>
                  </a:lnTo>
                  <a:lnTo>
                    <a:pt x="0" y="1455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55" name="Text 53"/>
            <p:cNvSpPr/>
            <p:nvPr/>
          </p:nvSpPr>
          <p:spPr>
            <a:xfrm>
              <a:off x="10214" y="7412"/>
              <a:ext cx="7956" cy="34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40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EDGE = 2 · (Precision · Recall) / (Precision + Recall)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1" y="7924"/>
              <a:ext cx="7942" cy="2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95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Precision</a:t>
              </a:r>
              <a:r>
                <a:rPr lang="en-US" sz="995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 = |E*intra ∩ Eintra| / (|E*intra ∩ Eintra| + |E*inter ∩ Eintra|)</a:t>
              </a:r>
              <a:endParaRPr lang="en-US" sz="16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271" y="8322"/>
              <a:ext cx="7942" cy="2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95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Recall</a:t>
              </a:r>
              <a:r>
                <a:rPr lang="en-US" sz="995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 = |E*intra ∩ Eintra| / (|E*intra ∩ Eintra| + |E*intra ∩ Einter|)</a:t>
              </a:r>
              <a:endParaRPr lang="en-US" sz="16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10271" y="8785"/>
              <a:ext cx="7842" cy="14"/>
            </a:xfrm>
            <a:custGeom>
              <a:avLst/>
              <a:gdLst/>
              <a:ahLst/>
              <a:cxnLst/>
              <a:rect l="l" t="t" r="r" b="b"/>
              <a:pathLst>
                <a:path w="4979831" h="8861">
                  <a:moveTo>
                    <a:pt x="0" y="0"/>
                  </a:moveTo>
                  <a:lnTo>
                    <a:pt x="4979831" y="0"/>
                  </a:lnTo>
                  <a:lnTo>
                    <a:pt x="4979831" y="8861"/>
                  </a:lnTo>
                  <a:lnTo>
                    <a:pt x="0" y="88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80">
                <a:alpha val="20000"/>
              </a:srgbClr>
            </a:solidFill>
          </p:spPr>
        </p:sp>
        <p:sp>
          <p:nvSpPr>
            <p:cNvPr id="59" name="Shape 57"/>
            <p:cNvSpPr/>
            <p:nvPr/>
          </p:nvSpPr>
          <p:spPr>
            <a:xfrm>
              <a:off x="10292" y="9004"/>
              <a:ext cx="199" cy="199"/>
            </a:xfrm>
            <a:custGeom>
              <a:avLst/>
              <a:gdLst/>
              <a:ahLst/>
              <a:cxnLst/>
              <a:rect l="l" t="t" r="r" b="b"/>
              <a:pathLst>
                <a:path w="126529" h="126529">
                  <a:moveTo>
                    <a:pt x="63265" y="126529"/>
                  </a:moveTo>
                  <a:cubicBezTo>
                    <a:pt x="98181" y="126529"/>
                    <a:pt x="126529" y="98181"/>
                    <a:pt x="126529" y="63265"/>
                  </a:cubicBezTo>
                  <a:cubicBezTo>
                    <a:pt x="126529" y="28348"/>
                    <a:pt x="98181" y="0"/>
                    <a:pt x="63265" y="0"/>
                  </a:cubicBezTo>
                  <a:cubicBezTo>
                    <a:pt x="28348" y="0"/>
                    <a:pt x="0" y="28348"/>
                    <a:pt x="0" y="63265"/>
                  </a:cubicBezTo>
                  <a:cubicBezTo>
                    <a:pt x="0" y="98181"/>
                    <a:pt x="28348" y="126529"/>
                    <a:pt x="63265" y="126529"/>
                  </a:cubicBezTo>
                  <a:close/>
                  <a:moveTo>
                    <a:pt x="55357" y="39540"/>
                  </a:moveTo>
                  <a:cubicBezTo>
                    <a:pt x="55357" y="35176"/>
                    <a:pt x="58900" y="31632"/>
                    <a:pt x="63265" y="31632"/>
                  </a:cubicBezTo>
                  <a:cubicBezTo>
                    <a:pt x="67629" y="31632"/>
                    <a:pt x="71173" y="35176"/>
                    <a:pt x="71173" y="39540"/>
                  </a:cubicBezTo>
                  <a:cubicBezTo>
                    <a:pt x="71173" y="43905"/>
                    <a:pt x="67629" y="47448"/>
                    <a:pt x="63265" y="47448"/>
                  </a:cubicBezTo>
                  <a:cubicBezTo>
                    <a:pt x="58900" y="47448"/>
                    <a:pt x="55357" y="43905"/>
                    <a:pt x="55357" y="39540"/>
                  </a:cubicBezTo>
                  <a:close/>
                  <a:moveTo>
                    <a:pt x="53380" y="55357"/>
                  </a:moveTo>
                  <a:lnTo>
                    <a:pt x="65242" y="55357"/>
                  </a:lnTo>
                  <a:cubicBezTo>
                    <a:pt x="68528" y="55357"/>
                    <a:pt x="71173" y="58001"/>
                    <a:pt x="71173" y="61288"/>
                  </a:cubicBezTo>
                  <a:lnTo>
                    <a:pt x="71173" y="83035"/>
                  </a:lnTo>
                  <a:lnTo>
                    <a:pt x="73150" y="83035"/>
                  </a:lnTo>
                  <a:cubicBezTo>
                    <a:pt x="76437" y="83035"/>
                    <a:pt x="79081" y="85679"/>
                    <a:pt x="79081" y="88966"/>
                  </a:cubicBezTo>
                  <a:cubicBezTo>
                    <a:pt x="79081" y="92253"/>
                    <a:pt x="76437" y="94897"/>
                    <a:pt x="73150" y="94897"/>
                  </a:cubicBezTo>
                  <a:lnTo>
                    <a:pt x="53380" y="94897"/>
                  </a:lnTo>
                  <a:cubicBezTo>
                    <a:pt x="50093" y="94897"/>
                    <a:pt x="47448" y="92253"/>
                    <a:pt x="47448" y="88966"/>
                  </a:cubicBezTo>
                  <a:cubicBezTo>
                    <a:pt x="47448" y="85679"/>
                    <a:pt x="50093" y="83035"/>
                    <a:pt x="53380" y="83035"/>
                  </a:cubicBezTo>
                  <a:lnTo>
                    <a:pt x="59311" y="83035"/>
                  </a:lnTo>
                  <a:lnTo>
                    <a:pt x="59311" y="67219"/>
                  </a:lnTo>
                  <a:lnTo>
                    <a:pt x="53380" y="67219"/>
                  </a:lnTo>
                  <a:cubicBezTo>
                    <a:pt x="50093" y="67219"/>
                    <a:pt x="47448" y="64574"/>
                    <a:pt x="47448" y="61288"/>
                  </a:cubicBezTo>
                  <a:cubicBezTo>
                    <a:pt x="47448" y="58001"/>
                    <a:pt x="50093" y="55357"/>
                    <a:pt x="53380" y="55357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id="60" name="Text 58"/>
            <p:cNvSpPr/>
            <p:nvPr/>
          </p:nvSpPr>
          <p:spPr>
            <a:xfrm>
              <a:off x="10553" y="8962"/>
              <a:ext cx="7659" cy="2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95" dirty="0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E*intra: 真实社群内边集 | Eintra: 预测社群内边集</a:t>
              </a:r>
              <a:endParaRPr lang="en-US" sz="16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745" y="10001"/>
              <a:ext cx="8895" cy="797"/>
            </a:xfrm>
            <a:custGeom>
              <a:avLst/>
              <a:gdLst/>
              <a:ahLst/>
              <a:cxnLst/>
              <a:rect l="l" t="t" r="r" b="b"/>
              <a:pathLst>
                <a:path w="5648629" h="506117">
                  <a:moveTo>
                    <a:pt x="0" y="0"/>
                  </a:moveTo>
                  <a:lnTo>
                    <a:pt x="5648629" y="0"/>
                  </a:lnTo>
                  <a:lnTo>
                    <a:pt x="5648629" y="506117"/>
                  </a:lnTo>
                  <a:lnTo>
                    <a:pt x="0" y="506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196"/>
              </a:srgbClr>
            </a:solidFill>
          </p:spPr>
        </p:sp>
        <p:sp>
          <p:nvSpPr>
            <p:cNvPr id="62" name="Shape 60"/>
            <p:cNvSpPr/>
            <p:nvPr/>
          </p:nvSpPr>
          <p:spPr>
            <a:xfrm>
              <a:off x="11629" y="10284"/>
              <a:ext cx="228" cy="228"/>
            </a:xfrm>
            <a:custGeom>
              <a:avLst/>
              <a:gdLst/>
              <a:ahLst/>
              <a:cxnLst/>
              <a:rect l="l" t="t" r="r" b="b"/>
              <a:pathLst>
                <a:path w="144605" h="144605">
                  <a:moveTo>
                    <a:pt x="72302" y="144605"/>
                  </a:moveTo>
                  <a:cubicBezTo>
                    <a:pt x="112207" y="144605"/>
                    <a:pt x="144605" y="112207"/>
                    <a:pt x="144605" y="72302"/>
                  </a:cubicBezTo>
                  <a:cubicBezTo>
                    <a:pt x="144605" y="32398"/>
                    <a:pt x="112207" y="0"/>
                    <a:pt x="72302" y="0"/>
                  </a:cubicBezTo>
                  <a:cubicBezTo>
                    <a:pt x="32398" y="0"/>
                    <a:pt x="0" y="32398"/>
                    <a:pt x="0" y="72302"/>
                  </a:cubicBezTo>
                  <a:cubicBezTo>
                    <a:pt x="0" y="112207"/>
                    <a:pt x="32398" y="144605"/>
                    <a:pt x="72302" y="144605"/>
                  </a:cubicBezTo>
                  <a:close/>
                  <a:moveTo>
                    <a:pt x="96140" y="60073"/>
                  </a:moveTo>
                  <a:lnTo>
                    <a:pt x="73545" y="96224"/>
                  </a:lnTo>
                  <a:cubicBezTo>
                    <a:pt x="72359" y="98117"/>
                    <a:pt x="70325" y="99303"/>
                    <a:pt x="68094" y="99416"/>
                  </a:cubicBezTo>
                  <a:cubicBezTo>
                    <a:pt x="65863" y="99529"/>
                    <a:pt x="63717" y="98512"/>
                    <a:pt x="62389" y="96705"/>
                  </a:cubicBezTo>
                  <a:lnTo>
                    <a:pt x="48832" y="78629"/>
                  </a:lnTo>
                  <a:cubicBezTo>
                    <a:pt x="46573" y="75635"/>
                    <a:pt x="47194" y="71399"/>
                    <a:pt x="50188" y="69139"/>
                  </a:cubicBezTo>
                  <a:cubicBezTo>
                    <a:pt x="53182" y="66880"/>
                    <a:pt x="57418" y="67501"/>
                    <a:pt x="59678" y="70495"/>
                  </a:cubicBezTo>
                  <a:lnTo>
                    <a:pt x="67303" y="80662"/>
                  </a:lnTo>
                  <a:lnTo>
                    <a:pt x="84645" y="52899"/>
                  </a:lnTo>
                  <a:cubicBezTo>
                    <a:pt x="86622" y="49736"/>
                    <a:pt x="90802" y="48748"/>
                    <a:pt x="93993" y="50753"/>
                  </a:cubicBezTo>
                  <a:cubicBezTo>
                    <a:pt x="97185" y="52758"/>
                    <a:pt x="98145" y="56910"/>
                    <a:pt x="96140" y="6010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63" name="Text 61"/>
            <p:cNvSpPr/>
            <p:nvPr/>
          </p:nvSpPr>
          <p:spPr>
            <a:xfrm>
              <a:off x="10281" y="10228"/>
              <a:ext cx="8188" cy="34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40" b="1" dirty="0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" panose="02020500000000000000" pitchFamily="34" charset="-120"/>
                </a:rPr>
                <a:t>优势：对K值变化鲁棒，可直接用业务指标验证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76" y="317477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实验验证：公开数据集表现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7476" y="698422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33039" y="888895"/>
            <a:ext cx="3833501" cy="2016125"/>
          </a:xfrm>
          <a:custGeom>
            <a:avLst/>
            <a:gdLst/>
            <a:ahLst/>
            <a:cxnLst/>
            <a:rect l="l" t="t" r="r" b="b"/>
            <a:pathLst>
              <a:path w="3833501" h="2016125">
                <a:moveTo>
                  <a:pt x="0" y="0"/>
                </a:moveTo>
                <a:lnTo>
                  <a:pt x="3833501" y="0"/>
                </a:lnTo>
                <a:lnTo>
                  <a:pt x="3833501" y="2016125"/>
                </a:lnTo>
                <a:lnTo>
                  <a:pt x="0" y="2016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333039" y="888895"/>
            <a:ext cx="31127" cy="2016125"/>
          </a:xfrm>
          <a:custGeom>
            <a:avLst/>
            <a:gdLst/>
            <a:ahLst/>
            <a:cxnLst/>
            <a:rect l="l" t="t" r="r" b="b"/>
            <a:pathLst>
              <a:path w="31127" h="2016125">
                <a:moveTo>
                  <a:pt x="0" y="0"/>
                </a:moveTo>
                <a:lnTo>
                  <a:pt x="31127" y="0"/>
                </a:lnTo>
                <a:lnTo>
                  <a:pt x="31127" y="2016125"/>
                </a:lnTo>
                <a:lnTo>
                  <a:pt x="0" y="201612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6" name="Shape 4"/>
          <p:cNvSpPr/>
          <p:nvPr/>
        </p:nvSpPr>
        <p:spPr>
          <a:xfrm>
            <a:off x="543060" y="10793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7" name="Text 5"/>
          <p:cNvSpPr/>
          <p:nvPr/>
        </p:nvSpPr>
        <p:spPr>
          <a:xfrm>
            <a:off x="840624" y="1047634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实验设置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5357" y="1467430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721653" y="1428517"/>
            <a:ext cx="3357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对比方法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341" y="1714198"/>
            <a:ext cx="3563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SOTA方法：</a:t>
            </a:r>
            <a:r>
              <a:rPr lang="en-US" sz="1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CCGC, DAEGC, CommDGI, AGCN, HSAN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1232" y="2003769"/>
            <a:ext cx="3492344" cy="738032"/>
          </a:xfrm>
          <a:custGeom>
            <a:avLst/>
            <a:gdLst/>
            <a:ahLst/>
            <a:cxnLst/>
            <a:rect l="l" t="t" r="r" b="b"/>
            <a:pathLst>
              <a:path w="3492344" h="738032">
                <a:moveTo>
                  <a:pt x="0" y="0"/>
                </a:moveTo>
                <a:lnTo>
                  <a:pt x="3492344" y="0"/>
                </a:lnTo>
                <a:lnTo>
                  <a:pt x="3492344" y="738032"/>
                </a:lnTo>
                <a:lnTo>
                  <a:pt x="0" y="738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73511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07156" y="8930"/>
                </a:moveTo>
                <a:lnTo>
                  <a:pt x="142875" y="8930"/>
                </a:lnTo>
                <a:cubicBezTo>
                  <a:pt x="147814" y="8930"/>
                  <a:pt x="151805" y="12920"/>
                  <a:pt x="151805" y="17859"/>
                </a:cubicBezTo>
                <a:cubicBezTo>
                  <a:pt x="151805" y="22799"/>
                  <a:pt x="147814" y="26789"/>
                  <a:pt x="142875" y="26789"/>
                </a:cubicBezTo>
                <a:lnTo>
                  <a:pt x="111175" y="26789"/>
                </a:lnTo>
                <a:cubicBezTo>
                  <a:pt x="109724" y="33989"/>
                  <a:pt x="104784" y="39932"/>
                  <a:pt x="98227" y="42779"/>
                </a:cubicBezTo>
                <a:lnTo>
                  <a:pt x="98227" y="125016"/>
                </a:lnTo>
                <a:lnTo>
                  <a:pt x="142875" y="125016"/>
                </a:lnTo>
                <a:cubicBezTo>
                  <a:pt x="147814" y="125016"/>
                  <a:pt x="151805" y="129006"/>
                  <a:pt x="151805" y="133945"/>
                </a:cubicBezTo>
                <a:cubicBezTo>
                  <a:pt x="151805" y="138885"/>
                  <a:pt x="147814" y="142875"/>
                  <a:pt x="142875" y="142875"/>
                </a:cubicBezTo>
                <a:lnTo>
                  <a:pt x="35719" y="142875"/>
                </a:lnTo>
                <a:cubicBezTo>
                  <a:pt x="30780" y="142875"/>
                  <a:pt x="26789" y="138885"/>
                  <a:pt x="26789" y="133945"/>
                </a:cubicBezTo>
                <a:cubicBezTo>
                  <a:pt x="26789" y="129006"/>
                  <a:pt x="30780" y="125016"/>
                  <a:pt x="35719" y="125016"/>
                </a:cubicBezTo>
                <a:lnTo>
                  <a:pt x="80367" y="125016"/>
                </a:lnTo>
                <a:lnTo>
                  <a:pt x="80367" y="42779"/>
                </a:lnTo>
                <a:cubicBezTo>
                  <a:pt x="73809" y="39905"/>
                  <a:pt x="68870" y="33961"/>
                  <a:pt x="67419" y="26789"/>
                </a:cubicBezTo>
                <a:lnTo>
                  <a:pt x="35719" y="26789"/>
                </a:lnTo>
                <a:cubicBezTo>
                  <a:pt x="30780" y="26789"/>
                  <a:pt x="26789" y="22799"/>
                  <a:pt x="26789" y="17859"/>
                </a:cubicBezTo>
                <a:cubicBezTo>
                  <a:pt x="26789" y="12920"/>
                  <a:pt x="30780" y="8930"/>
                  <a:pt x="35719" y="8930"/>
                </a:cubicBezTo>
                <a:lnTo>
                  <a:pt x="71438" y="8930"/>
                </a:lnTo>
                <a:cubicBezTo>
                  <a:pt x="75512" y="3516"/>
                  <a:pt x="81986" y="0"/>
                  <a:pt x="89297" y="0"/>
                </a:cubicBezTo>
                <a:cubicBezTo>
                  <a:pt x="96608" y="0"/>
                  <a:pt x="103082" y="3516"/>
                  <a:pt x="107156" y="8930"/>
                </a:cubicBezTo>
                <a:close/>
                <a:moveTo>
                  <a:pt x="122672" y="89297"/>
                </a:moveTo>
                <a:lnTo>
                  <a:pt x="163078" y="89297"/>
                </a:lnTo>
                <a:lnTo>
                  <a:pt x="142875" y="54639"/>
                </a:lnTo>
                <a:lnTo>
                  <a:pt x="122672" y="89297"/>
                </a:lnTo>
                <a:close/>
                <a:moveTo>
                  <a:pt x="142875" y="116086"/>
                </a:moveTo>
                <a:cubicBezTo>
                  <a:pt x="125323" y="116086"/>
                  <a:pt x="110728" y="106598"/>
                  <a:pt x="107714" y="94069"/>
                </a:cubicBezTo>
                <a:cubicBezTo>
                  <a:pt x="106989" y="90999"/>
                  <a:pt x="107993" y="87846"/>
                  <a:pt x="109584" y="85111"/>
                </a:cubicBezTo>
                <a:lnTo>
                  <a:pt x="136150" y="39570"/>
                </a:lnTo>
                <a:cubicBezTo>
                  <a:pt x="137545" y="37170"/>
                  <a:pt x="140112" y="35719"/>
                  <a:pt x="142875" y="35719"/>
                </a:cubicBezTo>
                <a:cubicBezTo>
                  <a:pt x="145638" y="35719"/>
                  <a:pt x="148205" y="37198"/>
                  <a:pt x="149600" y="39570"/>
                </a:cubicBezTo>
                <a:lnTo>
                  <a:pt x="176166" y="85111"/>
                </a:lnTo>
                <a:cubicBezTo>
                  <a:pt x="177757" y="87846"/>
                  <a:pt x="178761" y="90999"/>
                  <a:pt x="178036" y="94069"/>
                </a:cubicBezTo>
                <a:cubicBezTo>
                  <a:pt x="175022" y="106570"/>
                  <a:pt x="160427" y="116086"/>
                  <a:pt x="142875" y="116086"/>
                </a:cubicBezTo>
                <a:close/>
                <a:moveTo>
                  <a:pt x="35384" y="54639"/>
                </a:moveTo>
                <a:lnTo>
                  <a:pt x="15180" y="89297"/>
                </a:lnTo>
                <a:lnTo>
                  <a:pt x="55615" y="89297"/>
                </a:lnTo>
                <a:lnTo>
                  <a:pt x="35384" y="54639"/>
                </a:lnTo>
                <a:close/>
                <a:moveTo>
                  <a:pt x="251" y="94069"/>
                </a:moveTo>
                <a:cubicBezTo>
                  <a:pt x="-474" y="90999"/>
                  <a:pt x="530" y="87846"/>
                  <a:pt x="2121" y="85111"/>
                </a:cubicBezTo>
                <a:lnTo>
                  <a:pt x="28687" y="39570"/>
                </a:lnTo>
                <a:cubicBezTo>
                  <a:pt x="30082" y="37170"/>
                  <a:pt x="32649" y="35719"/>
                  <a:pt x="35412" y="35719"/>
                </a:cubicBezTo>
                <a:cubicBezTo>
                  <a:pt x="38174" y="35719"/>
                  <a:pt x="40742" y="37198"/>
                  <a:pt x="42137" y="39570"/>
                </a:cubicBezTo>
                <a:lnTo>
                  <a:pt x="68703" y="85111"/>
                </a:lnTo>
                <a:cubicBezTo>
                  <a:pt x="70293" y="87846"/>
                  <a:pt x="71298" y="90999"/>
                  <a:pt x="70572" y="94069"/>
                </a:cubicBezTo>
                <a:cubicBezTo>
                  <a:pt x="67559" y="106570"/>
                  <a:pt x="52964" y="116086"/>
                  <a:pt x="35412" y="116086"/>
                </a:cubicBezTo>
                <a:cubicBezTo>
                  <a:pt x="17859" y="116086"/>
                  <a:pt x="3265" y="106598"/>
                  <a:pt x="251" y="94069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856377" y="2134602"/>
            <a:ext cx="3087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公平对比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064" y="2420283"/>
            <a:ext cx="329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对比算法</a:t>
            </a:r>
            <a:r>
              <a:rPr lang="en-US" sz="1000" dirty="0">
                <a:solidFill>
                  <a:srgbClr val="6B7280"/>
                </a:solidFill>
                <a:highlight>
                  <a:srgbClr val="6B728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给定真实K 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，DAG在</a:t>
            </a:r>
            <a:r>
              <a:rPr lang="en-US" sz="10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 不给定K 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的情况下运行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039" y="3031156"/>
            <a:ext cx="3833501" cy="1143000"/>
          </a:xfrm>
          <a:custGeom>
            <a:avLst/>
            <a:gdLst/>
            <a:ahLst/>
            <a:cxnLst/>
            <a:rect l="l" t="t" r="r" b="b"/>
            <a:pathLst>
              <a:path w="3833501" h="1143000">
                <a:moveTo>
                  <a:pt x="0" y="0"/>
                </a:moveTo>
                <a:lnTo>
                  <a:pt x="3833501" y="0"/>
                </a:lnTo>
                <a:lnTo>
                  <a:pt x="3833501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33039" y="3031156"/>
            <a:ext cx="31127" cy="1143000"/>
          </a:xfrm>
          <a:custGeom>
            <a:avLst/>
            <a:gdLst/>
            <a:ahLst/>
            <a:cxnLst/>
            <a:rect l="l" t="t" r="r" b="b"/>
            <a:pathLst>
              <a:path w="31127" h="1143000">
                <a:moveTo>
                  <a:pt x="0" y="0"/>
                </a:moveTo>
                <a:lnTo>
                  <a:pt x="31127" y="0"/>
                </a:lnTo>
                <a:lnTo>
                  <a:pt x="31127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Shape 15"/>
          <p:cNvSpPr/>
          <p:nvPr/>
        </p:nvSpPr>
        <p:spPr>
          <a:xfrm>
            <a:off x="531153" y="32216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840624" y="3189894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关键结果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1153" y="36019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705778" y="3570782"/>
            <a:ext cx="336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所有数据集上，DAG指标</a:t>
            </a:r>
            <a:r>
              <a:rPr lang="en-US" sz="1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达到或超过SOTA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1153" y="385585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705778" y="3824724"/>
            <a:ext cx="336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自动搜索的K与</a:t>
            </a:r>
            <a:r>
              <a:rPr lang="en-US" sz="1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真实标签高度吻合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7476" y="4300877"/>
            <a:ext cx="3849688" cy="1047750"/>
          </a:xfrm>
          <a:custGeom>
            <a:avLst/>
            <a:gdLst/>
            <a:ahLst/>
            <a:cxnLst/>
            <a:rect l="l" t="t" r="r" b="b"/>
            <a:pathLst>
              <a:path w="3849688" h="1047750">
                <a:moveTo>
                  <a:pt x="0" y="0"/>
                </a:moveTo>
                <a:lnTo>
                  <a:pt x="3849688" y="0"/>
                </a:lnTo>
                <a:lnTo>
                  <a:pt x="3849688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24" name="Shape 22"/>
          <p:cNvSpPr/>
          <p:nvPr/>
        </p:nvSpPr>
        <p:spPr>
          <a:xfrm>
            <a:off x="486135" y="44913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769857" y="4459615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深度发现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6214" y="4777030"/>
            <a:ext cx="3595688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在Wiki等数据集上，DAG发现的社群在</a:t>
            </a: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属性相似度上甚至超过了原始人工标签</a:t>
            </a: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（算法比标签更懂社群）。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27905" y="317395"/>
            <a:ext cx="7548563" cy="6143625"/>
          </a:xfrm>
          <a:custGeom>
            <a:avLst/>
            <a:gdLst/>
            <a:ahLst/>
            <a:cxnLst/>
            <a:rect l="l" t="t" r="r" b="b"/>
            <a:pathLst>
              <a:path w="7548563" h="6143625">
                <a:moveTo>
                  <a:pt x="0" y="0"/>
                </a:moveTo>
                <a:lnTo>
                  <a:pt x="7548563" y="0"/>
                </a:lnTo>
                <a:lnTo>
                  <a:pt x="7548563" y="6143625"/>
                </a:lnTo>
                <a:lnTo>
                  <a:pt x="0" y="6143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8" name="Shape 26"/>
          <p:cNvSpPr/>
          <p:nvPr/>
        </p:nvSpPr>
        <p:spPr>
          <a:xfrm>
            <a:off x="7126615" y="511151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4685080" y="476134"/>
            <a:ext cx="7072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公开数据集实验结果对比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4424" y="833065"/>
            <a:ext cx="7214876" cy="4746314"/>
          </a:xfrm>
          <a:custGeom>
            <a:avLst/>
            <a:gdLst/>
            <a:ahLst/>
            <a:cxnLst/>
            <a:rect l="l" t="t" r="r" b="b"/>
            <a:pathLst>
              <a:path w="7214876" h="4746314">
                <a:moveTo>
                  <a:pt x="0" y="0"/>
                </a:moveTo>
                <a:lnTo>
                  <a:pt x="7214876" y="0"/>
                </a:lnTo>
                <a:lnTo>
                  <a:pt x="7214876" y="4746314"/>
                </a:lnTo>
                <a:lnTo>
                  <a:pt x="0" y="4746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4902">
            <a:solidFill>
              <a:srgbClr val="1F2937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920640"/>
              </p:ext>
            </p:extLst>
          </p:nvPr>
        </p:nvGraphicFramePr>
        <p:xfrm>
          <a:off x="4502206" y="840848"/>
          <a:ext cx="7199313" cy="4730745"/>
        </p:xfrm>
        <a:graphic>
          <a:graphicData uri="http://schemas.openxmlformats.org/drawingml/2006/table">
            <a:tbl>
              <a:tblPr/>
              <a:tblGrid>
                <a:gridCol w="1284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2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5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383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数据集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真实K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NMI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EDGE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搜索K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83">
                <a:tc rowSpan="3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Cora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CCGC (Prior K)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0.5051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0.8887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6B72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DAG (K-Free)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0.5171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0.9004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7.4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83">
                <a:tc rowSpan="3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CiteSeer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CCGC (Prior K)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0.4090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0.8447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6B72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DAG (K-Free)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0.4118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0.8677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6.4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383">
                <a:tc rowSpan="3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PubMed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CCGC (Prior K)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0.1922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0.8504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6B72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DAG (K-Free)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0.2</a:t>
                      </a:r>
                      <a:r>
                        <a:rPr lang="en-US" altLang="zh-CN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828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</a:t>
                      </a:r>
                      <a:r>
                        <a:rPr lang="en-US" altLang="zh-CN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938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3.</a:t>
                      </a:r>
                      <a:r>
                        <a:rPr lang="en-US" altLang="zh-CN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383">
                <a:tc rowSpan="3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Wiki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CCGC (Prior K)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0.4898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0.8467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6B72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DAG (K-Free)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</a:t>
                      </a:r>
                      <a:r>
                        <a:rPr lang="en-US" altLang="zh-CN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320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</a:t>
                      </a:r>
                      <a:r>
                        <a:rPr lang="en-US" altLang="zh-CN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629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15.7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383">
                <a:tc rowSpan="2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CoraFull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CCGC (Prior K)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4902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0.7047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0.7311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6B72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DAG (K-Free)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</a:t>
                      </a:r>
                      <a:r>
                        <a:rPr lang="en-US" altLang="zh-CN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4932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0.7311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8B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68.4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4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4490533" y="5721840"/>
            <a:ext cx="2341407" cy="579282"/>
          </a:xfrm>
          <a:custGeom>
            <a:avLst/>
            <a:gdLst/>
            <a:ahLst/>
            <a:cxnLst/>
            <a:rect l="l" t="t" r="r" b="b"/>
            <a:pathLst>
              <a:path w="2341407" h="579282">
                <a:moveTo>
                  <a:pt x="0" y="0"/>
                </a:moveTo>
                <a:lnTo>
                  <a:pt x="2341407" y="0"/>
                </a:lnTo>
                <a:lnTo>
                  <a:pt x="2341407" y="579282"/>
                </a:lnTo>
                <a:lnTo>
                  <a:pt x="0" y="5792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61849" y="5820935"/>
            <a:ext cx="2198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标注说明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57880" y="6011408"/>
            <a:ext cx="220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灰色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: 需预设K | </a:t>
            </a:r>
            <a:r>
              <a:rPr lang="en-US" sz="100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红色</a:t>
            </a:r>
            <a:r>
              <a:rPr lang="en-US" sz="10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: K-Free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927837" y="5717949"/>
            <a:ext cx="2349500" cy="587375"/>
          </a:xfrm>
          <a:custGeom>
            <a:avLst/>
            <a:gdLst/>
            <a:ahLst/>
            <a:cxnLst/>
            <a:rect l="l" t="t" r="r" b="b"/>
            <a:pathLst>
              <a:path w="2349500" h="587375">
                <a:moveTo>
                  <a:pt x="0" y="0"/>
                </a:moveTo>
                <a:lnTo>
                  <a:pt x="2349500" y="0"/>
                </a:lnTo>
                <a:lnTo>
                  <a:pt x="2349500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6995262" y="5813153"/>
            <a:ext cx="221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关键优势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91293" y="6003626"/>
            <a:ext cx="222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DAG无需K先验，性能更优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369093" y="5717949"/>
            <a:ext cx="2349500" cy="587375"/>
          </a:xfrm>
          <a:custGeom>
            <a:avLst/>
            <a:gdLst/>
            <a:ahLst/>
            <a:cxnLst/>
            <a:rect l="l" t="t" r="r" b="b"/>
            <a:pathLst>
              <a:path w="2349500" h="587375">
                <a:moveTo>
                  <a:pt x="0" y="0"/>
                </a:moveTo>
                <a:lnTo>
                  <a:pt x="2349500" y="0"/>
                </a:lnTo>
                <a:lnTo>
                  <a:pt x="2349500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39" name="Text 36"/>
          <p:cNvSpPr/>
          <p:nvPr/>
        </p:nvSpPr>
        <p:spPr>
          <a:xfrm>
            <a:off x="9436518" y="5813153"/>
            <a:ext cx="221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搜索精度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432549" y="6003626"/>
            <a:ext cx="222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K搜索误差 &lt; 10%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37" y="346334"/>
            <a:ext cx="11655136" cy="346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工业实战：腾讯游戏场景部署与A/B测试结果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46337" y="761915"/>
            <a:ext cx="831273" cy="34636"/>
          </a:xfrm>
          <a:custGeom>
            <a:avLst/>
            <a:gdLst/>
            <a:ahLst/>
            <a:cxnLst/>
            <a:rect l="l" t="t" r="r" b="b"/>
            <a:pathLst>
              <a:path w="831273" h="34636">
                <a:moveTo>
                  <a:pt x="0" y="0"/>
                </a:moveTo>
                <a:lnTo>
                  <a:pt x="831273" y="0"/>
                </a:lnTo>
                <a:lnTo>
                  <a:pt x="831273" y="34636"/>
                </a:lnTo>
                <a:lnTo>
                  <a:pt x="0" y="3463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63316" y="969704"/>
            <a:ext cx="4580320" cy="1212273"/>
          </a:xfrm>
          <a:custGeom>
            <a:avLst/>
            <a:gdLst/>
            <a:ahLst/>
            <a:cxnLst/>
            <a:rect l="l" t="t" r="r" b="b"/>
            <a:pathLst>
              <a:path w="4580320" h="1212273">
                <a:moveTo>
                  <a:pt x="0" y="0"/>
                </a:moveTo>
                <a:lnTo>
                  <a:pt x="4580320" y="0"/>
                </a:lnTo>
                <a:lnTo>
                  <a:pt x="4580320" y="1212273"/>
                </a:lnTo>
                <a:lnTo>
                  <a:pt x="0" y="1212273"/>
                </a:lnTo>
                <a:lnTo>
                  <a:pt x="0" y="0"/>
                </a:lnTo>
                <a:close/>
              </a:path>
            </a:pathLst>
          </a:custGeom>
          <a:solidFill>
            <a:srgbClr val="1F2937">
              <a:alpha val="10196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3316" y="969704"/>
            <a:ext cx="33957" cy="1212273"/>
          </a:xfrm>
          <a:custGeom>
            <a:avLst/>
            <a:gdLst/>
            <a:ahLst/>
            <a:cxnLst/>
            <a:rect l="l" t="t" r="r" b="b"/>
            <a:pathLst>
              <a:path w="33957" h="1212273">
                <a:moveTo>
                  <a:pt x="0" y="0"/>
                </a:moveTo>
                <a:lnTo>
                  <a:pt x="33957" y="0"/>
                </a:lnTo>
                <a:lnTo>
                  <a:pt x="33957" y="1212273"/>
                </a:lnTo>
                <a:lnTo>
                  <a:pt x="0" y="1212273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6" name="Shape 4"/>
          <p:cNvSpPr/>
          <p:nvPr/>
        </p:nvSpPr>
        <p:spPr>
          <a:xfrm>
            <a:off x="592429" y="1177493"/>
            <a:ext cx="181841" cy="207818"/>
          </a:xfrm>
          <a:custGeom>
            <a:avLst/>
            <a:gdLst/>
            <a:ahLst/>
            <a:cxnLst/>
            <a:rect l="l" t="t" r="r" b="b"/>
            <a:pathLst>
              <a:path w="181841" h="207818">
                <a:moveTo>
                  <a:pt x="25977" y="12989"/>
                </a:moveTo>
                <a:cubicBezTo>
                  <a:pt x="11649" y="12989"/>
                  <a:pt x="0" y="24638"/>
                  <a:pt x="0" y="38966"/>
                </a:cubicBezTo>
                <a:lnTo>
                  <a:pt x="0" y="64943"/>
                </a:lnTo>
                <a:cubicBezTo>
                  <a:pt x="0" y="79271"/>
                  <a:pt x="11649" y="90920"/>
                  <a:pt x="25977" y="90920"/>
                </a:cubicBezTo>
                <a:lnTo>
                  <a:pt x="155864" y="90920"/>
                </a:lnTo>
                <a:cubicBezTo>
                  <a:pt x="170192" y="90920"/>
                  <a:pt x="181841" y="79271"/>
                  <a:pt x="181841" y="64943"/>
                </a:cubicBezTo>
                <a:lnTo>
                  <a:pt x="181841" y="38966"/>
                </a:lnTo>
                <a:cubicBezTo>
                  <a:pt x="181841" y="24638"/>
                  <a:pt x="170192" y="12989"/>
                  <a:pt x="155864" y="12989"/>
                </a:cubicBezTo>
                <a:lnTo>
                  <a:pt x="25977" y="12989"/>
                </a:lnTo>
                <a:close/>
                <a:moveTo>
                  <a:pt x="113651" y="42213"/>
                </a:moveTo>
                <a:cubicBezTo>
                  <a:pt x="119027" y="42213"/>
                  <a:pt x="123392" y="46578"/>
                  <a:pt x="123392" y="51955"/>
                </a:cubicBezTo>
                <a:cubicBezTo>
                  <a:pt x="123392" y="57331"/>
                  <a:pt x="119027" y="61696"/>
                  <a:pt x="113651" y="61696"/>
                </a:cubicBezTo>
                <a:cubicBezTo>
                  <a:pt x="108274" y="61696"/>
                  <a:pt x="103909" y="57331"/>
                  <a:pt x="103909" y="51955"/>
                </a:cubicBezTo>
                <a:cubicBezTo>
                  <a:pt x="103909" y="46578"/>
                  <a:pt x="108274" y="42213"/>
                  <a:pt x="113651" y="42213"/>
                </a:cubicBezTo>
                <a:close/>
                <a:moveTo>
                  <a:pt x="136381" y="51955"/>
                </a:moveTo>
                <a:cubicBezTo>
                  <a:pt x="136381" y="46578"/>
                  <a:pt x="140746" y="42213"/>
                  <a:pt x="146122" y="42213"/>
                </a:cubicBezTo>
                <a:cubicBezTo>
                  <a:pt x="151499" y="42213"/>
                  <a:pt x="155864" y="46578"/>
                  <a:pt x="155864" y="51955"/>
                </a:cubicBezTo>
                <a:cubicBezTo>
                  <a:pt x="155864" y="57331"/>
                  <a:pt x="151499" y="61696"/>
                  <a:pt x="146122" y="61696"/>
                </a:cubicBezTo>
                <a:cubicBezTo>
                  <a:pt x="140746" y="61696"/>
                  <a:pt x="136381" y="57331"/>
                  <a:pt x="136381" y="51955"/>
                </a:cubicBezTo>
                <a:close/>
                <a:moveTo>
                  <a:pt x="25977" y="116898"/>
                </a:moveTo>
                <a:cubicBezTo>
                  <a:pt x="11649" y="116898"/>
                  <a:pt x="0" y="128547"/>
                  <a:pt x="0" y="142875"/>
                </a:cubicBezTo>
                <a:lnTo>
                  <a:pt x="0" y="168852"/>
                </a:lnTo>
                <a:cubicBezTo>
                  <a:pt x="0" y="183180"/>
                  <a:pt x="11649" y="194830"/>
                  <a:pt x="25977" y="194830"/>
                </a:cubicBezTo>
                <a:lnTo>
                  <a:pt x="155864" y="194830"/>
                </a:lnTo>
                <a:cubicBezTo>
                  <a:pt x="170192" y="194830"/>
                  <a:pt x="181841" y="183180"/>
                  <a:pt x="181841" y="168852"/>
                </a:cubicBezTo>
                <a:lnTo>
                  <a:pt x="181841" y="142875"/>
                </a:lnTo>
                <a:cubicBezTo>
                  <a:pt x="181841" y="128547"/>
                  <a:pt x="170192" y="116898"/>
                  <a:pt x="155864" y="116898"/>
                </a:cubicBezTo>
                <a:lnTo>
                  <a:pt x="25977" y="116898"/>
                </a:lnTo>
                <a:close/>
                <a:moveTo>
                  <a:pt x="113651" y="146122"/>
                </a:moveTo>
                <a:cubicBezTo>
                  <a:pt x="119027" y="146122"/>
                  <a:pt x="123392" y="150487"/>
                  <a:pt x="123392" y="155864"/>
                </a:cubicBezTo>
                <a:cubicBezTo>
                  <a:pt x="123392" y="161240"/>
                  <a:pt x="119027" y="165605"/>
                  <a:pt x="113651" y="165605"/>
                </a:cubicBezTo>
                <a:cubicBezTo>
                  <a:pt x="108274" y="165605"/>
                  <a:pt x="103909" y="161240"/>
                  <a:pt x="103909" y="155864"/>
                </a:cubicBezTo>
                <a:cubicBezTo>
                  <a:pt x="103909" y="150487"/>
                  <a:pt x="108274" y="146122"/>
                  <a:pt x="113651" y="146122"/>
                </a:cubicBezTo>
                <a:close/>
                <a:moveTo>
                  <a:pt x="136381" y="155864"/>
                </a:moveTo>
                <a:cubicBezTo>
                  <a:pt x="136381" y="150487"/>
                  <a:pt x="140746" y="146122"/>
                  <a:pt x="146122" y="146122"/>
                </a:cubicBezTo>
                <a:cubicBezTo>
                  <a:pt x="151499" y="146122"/>
                  <a:pt x="155864" y="150487"/>
                  <a:pt x="155864" y="155864"/>
                </a:cubicBezTo>
                <a:cubicBezTo>
                  <a:pt x="155864" y="161240"/>
                  <a:pt x="151499" y="165605"/>
                  <a:pt x="146122" y="165605"/>
                </a:cubicBezTo>
                <a:cubicBezTo>
                  <a:pt x="140746" y="165605"/>
                  <a:pt x="136381" y="161240"/>
                  <a:pt x="136381" y="155864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7" name="Text 5"/>
          <p:cNvSpPr/>
          <p:nvPr/>
        </p:nvSpPr>
        <p:spPr>
          <a:xfrm>
            <a:off x="917044" y="1142873"/>
            <a:ext cx="935182" cy="277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部署环境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3463" y="1558383"/>
            <a:ext cx="4286250" cy="450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腾讯多款大型</a:t>
            </a:r>
            <a:r>
              <a:rPr lang="en-US" sz="1090" b="1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MMORPG游戏好友推荐系统</a:t>
            </a:r>
            <a:r>
              <a:rPr lang="en-US" sz="10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图的规模接近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万节点、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287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万条边，社区数未知</a:t>
            </a:r>
            <a:r>
              <a:rPr lang="en-US" sz="10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3316" y="2320230"/>
            <a:ext cx="4580320" cy="987136"/>
          </a:xfrm>
          <a:custGeom>
            <a:avLst/>
            <a:gdLst/>
            <a:ahLst/>
            <a:cxnLst/>
            <a:rect l="l" t="t" r="r" b="b"/>
            <a:pathLst>
              <a:path w="4580320" h="987136">
                <a:moveTo>
                  <a:pt x="0" y="0"/>
                </a:moveTo>
                <a:lnTo>
                  <a:pt x="4580320" y="0"/>
                </a:lnTo>
                <a:lnTo>
                  <a:pt x="4580320" y="987136"/>
                </a:lnTo>
                <a:lnTo>
                  <a:pt x="0" y="987136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363316" y="2320230"/>
            <a:ext cx="33957" cy="987136"/>
          </a:xfrm>
          <a:custGeom>
            <a:avLst/>
            <a:gdLst/>
            <a:ahLst/>
            <a:cxnLst/>
            <a:rect l="l" t="t" r="r" b="b"/>
            <a:pathLst>
              <a:path w="33957" h="987136">
                <a:moveTo>
                  <a:pt x="0" y="0"/>
                </a:moveTo>
                <a:lnTo>
                  <a:pt x="33957" y="0"/>
                </a:lnTo>
                <a:lnTo>
                  <a:pt x="33957" y="987136"/>
                </a:lnTo>
                <a:lnTo>
                  <a:pt x="0" y="98713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Shape 9"/>
          <p:cNvSpPr/>
          <p:nvPr/>
        </p:nvSpPr>
        <p:spPr>
          <a:xfrm>
            <a:off x="579440" y="2528019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103909" y="0"/>
                </a:moveTo>
                <a:cubicBezTo>
                  <a:pt x="109876" y="0"/>
                  <a:pt x="115355" y="3288"/>
                  <a:pt x="118197" y="8524"/>
                </a:cubicBezTo>
                <a:lnTo>
                  <a:pt x="205870" y="170882"/>
                </a:lnTo>
                <a:cubicBezTo>
                  <a:pt x="208589" y="175915"/>
                  <a:pt x="208468" y="182003"/>
                  <a:pt x="205545" y="186915"/>
                </a:cubicBezTo>
                <a:cubicBezTo>
                  <a:pt x="202623" y="191826"/>
                  <a:pt x="197306" y="194830"/>
                  <a:pt x="191582" y="194830"/>
                </a:cubicBezTo>
                <a:lnTo>
                  <a:pt x="16236" y="194830"/>
                </a:lnTo>
                <a:cubicBezTo>
                  <a:pt x="10513" y="194830"/>
                  <a:pt x="5236" y="191826"/>
                  <a:pt x="2273" y="186915"/>
                </a:cubicBezTo>
                <a:cubicBezTo>
                  <a:pt x="-690" y="182003"/>
                  <a:pt x="-771" y="175915"/>
                  <a:pt x="1948" y="170882"/>
                </a:cubicBezTo>
                <a:lnTo>
                  <a:pt x="89622" y="8524"/>
                </a:lnTo>
                <a:cubicBezTo>
                  <a:pt x="92463" y="3288"/>
                  <a:pt x="97942" y="0"/>
                  <a:pt x="103909" y="0"/>
                </a:cubicBezTo>
                <a:close/>
                <a:moveTo>
                  <a:pt x="103909" y="68190"/>
                </a:moveTo>
                <a:cubicBezTo>
                  <a:pt x="98511" y="68190"/>
                  <a:pt x="94168" y="72533"/>
                  <a:pt x="94168" y="77932"/>
                </a:cubicBezTo>
                <a:lnTo>
                  <a:pt x="94168" y="123392"/>
                </a:lnTo>
                <a:cubicBezTo>
                  <a:pt x="94168" y="128790"/>
                  <a:pt x="98511" y="133134"/>
                  <a:pt x="103909" y="133134"/>
                </a:cubicBezTo>
                <a:cubicBezTo>
                  <a:pt x="109307" y="133134"/>
                  <a:pt x="113651" y="128790"/>
                  <a:pt x="113651" y="123392"/>
                </a:cubicBezTo>
                <a:lnTo>
                  <a:pt x="113651" y="77932"/>
                </a:lnTo>
                <a:cubicBezTo>
                  <a:pt x="113651" y="72533"/>
                  <a:pt x="109307" y="68190"/>
                  <a:pt x="103909" y="68190"/>
                </a:cubicBezTo>
                <a:close/>
                <a:moveTo>
                  <a:pt x="114746" y="155864"/>
                </a:moveTo>
                <a:cubicBezTo>
                  <a:pt x="114993" y="151841"/>
                  <a:pt x="112987" y="148014"/>
                  <a:pt x="109538" y="145928"/>
                </a:cubicBezTo>
                <a:cubicBezTo>
                  <a:pt x="106090" y="143842"/>
                  <a:pt x="101769" y="143842"/>
                  <a:pt x="98320" y="145928"/>
                </a:cubicBezTo>
                <a:cubicBezTo>
                  <a:pt x="94872" y="148014"/>
                  <a:pt x="92866" y="151841"/>
                  <a:pt x="93112" y="155864"/>
                </a:cubicBezTo>
                <a:cubicBezTo>
                  <a:pt x="92866" y="159886"/>
                  <a:pt x="94872" y="163714"/>
                  <a:pt x="98320" y="165800"/>
                </a:cubicBezTo>
                <a:cubicBezTo>
                  <a:pt x="101769" y="167885"/>
                  <a:pt x="106090" y="167885"/>
                  <a:pt x="109538" y="165800"/>
                </a:cubicBezTo>
                <a:cubicBezTo>
                  <a:pt x="112987" y="163714"/>
                  <a:pt x="114993" y="159886"/>
                  <a:pt x="114746" y="15586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917044" y="2493400"/>
            <a:ext cx="935182" cy="277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463" y="2908913"/>
            <a:ext cx="4286250" cy="225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社交圈</a:t>
            </a:r>
            <a:r>
              <a:rPr lang="en-US" sz="1090" b="1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实时变化</a:t>
            </a:r>
            <a:r>
              <a:rPr lang="en-US" sz="1090" dirty="0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，人工无法预设每个服务器或阶段的社群数目K</a:t>
            </a:r>
            <a:r>
              <a:rPr lang="en-US" sz="109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6337" y="3445663"/>
            <a:ext cx="4597977" cy="2459182"/>
          </a:xfrm>
          <a:custGeom>
            <a:avLst/>
            <a:gdLst/>
            <a:ahLst/>
            <a:cxnLst/>
            <a:rect l="l" t="t" r="r" b="b"/>
            <a:pathLst>
              <a:path w="4597977" h="2459182">
                <a:moveTo>
                  <a:pt x="0" y="0"/>
                </a:moveTo>
                <a:lnTo>
                  <a:pt x="4597977" y="0"/>
                </a:lnTo>
                <a:lnTo>
                  <a:pt x="4597977" y="2459182"/>
                </a:lnTo>
                <a:lnTo>
                  <a:pt x="0" y="245918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Shape 13"/>
          <p:cNvSpPr/>
          <p:nvPr/>
        </p:nvSpPr>
        <p:spPr>
          <a:xfrm>
            <a:off x="545483" y="365345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58571" y="0"/>
                </a:moveTo>
                <a:lnTo>
                  <a:pt x="149491" y="0"/>
                </a:lnTo>
                <a:cubicBezTo>
                  <a:pt x="160247" y="0"/>
                  <a:pt x="169015" y="8849"/>
                  <a:pt x="168609" y="19564"/>
                </a:cubicBezTo>
                <a:cubicBezTo>
                  <a:pt x="168528" y="21715"/>
                  <a:pt x="168446" y="23867"/>
                  <a:pt x="168325" y="25977"/>
                </a:cubicBezTo>
                <a:lnTo>
                  <a:pt x="188457" y="25977"/>
                </a:lnTo>
                <a:cubicBezTo>
                  <a:pt x="199051" y="25977"/>
                  <a:pt x="208386" y="34745"/>
                  <a:pt x="207575" y="46191"/>
                </a:cubicBezTo>
                <a:cubicBezTo>
                  <a:pt x="204530" y="88282"/>
                  <a:pt x="183018" y="111418"/>
                  <a:pt x="159679" y="123514"/>
                </a:cubicBezTo>
                <a:cubicBezTo>
                  <a:pt x="153266" y="126842"/>
                  <a:pt x="146731" y="129318"/>
                  <a:pt x="140521" y="131145"/>
                </a:cubicBezTo>
                <a:cubicBezTo>
                  <a:pt x="132322" y="142753"/>
                  <a:pt x="123798" y="148882"/>
                  <a:pt x="117019" y="152170"/>
                </a:cubicBezTo>
                <a:lnTo>
                  <a:pt x="117019" y="181841"/>
                </a:lnTo>
                <a:lnTo>
                  <a:pt x="142997" y="181841"/>
                </a:lnTo>
                <a:cubicBezTo>
                  <a:pt x="150181" y="181841"/>
                  <a:pt x="155985" y="187645"/>
                  <a:pt x="155985" y="194830"/>
                </a:cubicBezTo>
                <a:cubicBezTo>
                  <a:pt x="155985" y="202014"/>
                  <a:pt x="150181" y="207818"/>
                  <a:pt x="142997" y="207818"/>
                </a:cubicBezTo>
                <a:lnTo>
                  <a:pt x="65065" y="207818"/>
                </a:lnTo>
                <a:cubicBezTo>
                  <a:pt x="57881" y="207818"/>
                  <a:pt x="52076" y="202014"/>
                  <a:pt x="52076" y="194830"/>
                </a:cubicBezTo>
                <a:cubicBezTo>
                  <a:pt x="52076" y="187645"/>
                  <a:pt x="57881" y="181841"/>
                  <a:pt x="65065" y="181841"/>
                </a:cubicBezTo>
                <a:lnTo>
                  <a:pt x="91042" y="181841"/>
                </a:lnTo>
                <a:lnTo>
                  <a:pt x="91042" y="152170"/>
                </a:lnTo>
                <a:cubicBezTo>
                  <a:pt x="84548" y="149045"/>
                  <a:pt x="76471" y="143240"/>
                  <a:pt x="68596" y="132565"/>
                </a:cubicBezTo>
                <a:cubicBezTo>
                  <a:pt x="61128" y="130617"/>
                  <a:pt x="53010" y="127654"/>
                  <a:pt x="45095" y="123189"/>
                </a:cubicBezTo>
                <a:cubicBezTo>
                  <a:pt x="23136" y="110890"/>
                  <a:pt x="3328" y="87714"/>
                  <a:pt x="487" y="46110"/>
                </a:cubicBezTo>
                <a:cubicBezTo>
                  <a:pt x="-284" y="34704"/>
                  <a:pt x="9011" y="25937"/>
                  <a:pt x="19605" y="25937"/>
                </a:cubicBezTo>
                <a:lnTo>
                  <a:pt x="39737" y="25937"/>
                </a:lnTo>
                <a:cubicBezTo>
                  <a:pt x="39615" y="23826"/>
                  <a:pt x="39534" y="21715"/>
                  <a:pt x="39453" y="19524"/>
                </a:cubicBezTo>
                <a:cubicBezTo>
                  <a:pt x="39047" y="8767"/>
                  <a:pt x="47814" y="-41"/>
                  <a:pt x="58571" y="-41"/>
                </a:cubicBezTo>
                <a:close/>
                <a:moveTo>
                  <a:pt x="41198" y="45460"/>
                </a:moveTo>
                <a:lnTo>
                  <a:pt x="19929" y="45460"/>
                </a:lnTo>
                <a:cubicBezTo>
                  <a:pt x="22446" y="79840"/>
                  <a:pt x="38235" y="97049"/>
                  <a:pt x="54512" y="106182"/>
                </a:cubicBezTo>
                <a:cubicBezTo>
                  <a:pt x="48667" y="91042"/>
                  <a:pt x="43837" y="71275"/>
                  <a:pt x="41198" y="45460"/>
                </a:cubicBezTo>
                <a:close/>
                <a:moveTo>
                  <a:pt x="154240" y="104234"/>
                </a:moveTo>
                <a:cubicBezTo>
                  <a:pt x="170679" y="94574"/>
                  <a:pt x="185535" y="77404"/>
                  <a:pt x="188051" y="45460"/>
                </a:cubicBezTo>
                <a:lnTo>
                  <a:pt x="166823" y="45460"/>
                </a:lnTo>
                <a:cubicBezTo>
                  <a:pt x="164306" y="70179"/>
                  <a:pt x="159760" y="89378"/>
                  <a:pt x="154240" y="10423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883087" y="3618832"/>
            <a:ext cx="2034886" cy="277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核心战果 (A/B Test)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9506" y="4034341"/>
            <a:ext cx="4251614" cy="900545"/>
          </a:xfrm>
          <a:custGeom>
            <a:avLst/>
            <a:gdLst/>
            <a:ahLst/>
            <a:cxnLst/>
            <a:rect l="l" t="t" r="r" b="b"/>
            <a:pathLst>
              <a:path w="4251614" h="900545">
                <a:moveTo>
                  <a:pt x="0" y="0"/>
                </a:moveTo>
                <a:lnTo>
                  <a:pt x="4251614" y="0"/>
                </a:lnTo>
                <a:lnTo>
                  <a:pt x="4251614" y="900545"/>
                </a:lnTo>
                <a:lnTo>
                  <a:pt x="0" y="9005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57987" y="4276750"/>
            <a:ext cx="1264227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新增好友数目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987" y="4519162"/>
            <a:ext cx="1246909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相较于最佳竞品CCGC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97609" y="4172824"/>
            <a:ext cx="1740477" cy="415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2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+7.35%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44814" y="4623088"/>
            <a:ext cx="159327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5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显著提升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9506" y="5038602"/>
            <a:ext cx="2078182" cy="692727"/>
          </a:xfrm>
          <a:custGeom>
            <a:avLst/>
            <a:gdLst/>
            <a:ahLst/>
            <a:cxnLst/>
            <a:rect l="l" t="t" r="r" b="b"/>
            <a:pathLst>
              <a:path w="2078182" h="692727">
                <a:moveTo>
                  <a:pt x="0" y="0"/>
                </a:moveTo>
                <a:lnTo>
                  <a:pt x="2078182" y="0"/>
                </a:lnTo>
                <a:lnTo>
                  <a:pt x="2078182" y="692727"/>
                </a:lnTo>
                <a:lnTo>
                  <a:pt x="0" y="6927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93060" y="5142460"/>
            <a:ext cx="1930977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点击率 (CTR)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412" y="5350248"/>
            <a:ext cx="1974273" cy="277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+</a:t>
            </a:r>
            <a:r>
              <a:rPr lang="en-US" altLang="zh-CN" sz="16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1.97</a:t>
            </a:r>
            <a:r>
              <a:rPr lang="en-US" sz="16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98073" y="5038602"/>
            <a:ext cx="2078182" cy="692727"/>
          </a:xfrm>
          <a:custGeom>
            <a:avLst/>
            <a:gdLst/>
            <a:ahLst/>
            <a:cxnLst/>
            <a:rect l="l" t="t" r="r" b="b"/>
            <a:pathLst>
              <a:path w="2078182" h="692727">
                <a:moveTo>
                  <a:pt x="0" y="0"/>
                </a:moveTo>
                <a:lnTo>
                  <a:pt x="2078182" y="0"/>
                </a:lnTo>
                <a:lnTo>
                  <a:pt x="2078182" y="692727"/>
                </a:lnTo>
                <a:lnTo>
                  <a:pt x="0" y="6927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2771628" y="5142460"/>
            <a:ext cx="1930977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组队成功率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9980" y="5350248"/>
            <a:ext cx="1974273" cy="277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+</a:t>
            </a:r>
            <a:r>
              <a:rPr lang="en-US" altLang="zh-CN" sz="16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5.24</a:t>
            </a:r>
            <a:r>
              <a:rPr lang="en-US" sz="163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19183" y="969704"/>
            <a:ext cx="6728114" cy="5784273"/>
          </a:xfrm>
          <a:custGeom>
            <a:avLst/>
            <a:gdLst/>
            <a:ahLst/>
            <a:cxnLst/>
            <a:rect l="l" t="t" r="r" b="b"/>
            <a:pathLst>
              <a:path w="6728114" h="5784273">
                <a:moveTo>
                  <a:pt x="0" y="0"/>
                </a:moveTo>
                <a:lnTo>
                  <a:pt x="6728114" y="0"/>
                </a:lnTo>
                <a:lnTo>
                  <a:pt x="6728114" y="5784273"/>
                </a:lnTo>
                <a:lnTo>
                  <a:pt x="0" y="578427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29" name="Shape 27"/>
          <p:cNvSpPr/>
          <p:nvPr/>
        </p:nvSpPr>
        <p:spPr>
          <a:xfrm>
            <a:off x="7226587" y="1181074"/>
            <a:ext cx="216477" cy="173182"/>
          </a:xfrm>
          <a:custGeom>
            <a:avLst/>
            <a:gdLst/>
            <a:ahLst/>
            <a:cxnLst/>
            <a:rect l="l" t="t" r="r" b="b"/>
            <a:pathLst>
              <a:path w="216477" h="173182">
                <a:moveTo>
                  <a:pt x="140676" y="71201"/>
                </a:moveTo>
                <a:cubicBezTo>
                  <a:pt x="144803" y="70085"/>
                  <a:pt x="149133" y="72046"/>
                  <a:pt x="150993" y="75869"/>
                </a:cubicBezTo>
                <a:lnTo>
                  <a:pt x="157284" y="88587"/>
                </a:lnTo>
                <a:cubicBezTo>
                  <a:pt x="160768" y="89060"/>
                  <a:pt x="164184" y="90007"/>
                  <a:pt x="167398" y="91326"/>
                </a:cubicBezTo>
                <a:lnTo>
                  <a:pt x="179236" y="83445"/>
                </a:lnTo>
                <a:cubicBezTo>
                  <a:pt x="182788" y="81078"/>
                  <a:pt x="187490" y="81551"/>
                  <a:pt x="190500" y="84561"/>
                </a:cubicBezTo>
                <a:lnTo>
                  <a:pt x="196994" y="91056"/>
                </a:lnTo>
                <a:cubicBezTo>
                  <a:pt x="200005" y="94066"/>
                  <a:pt x="200478" y="98802"/>
                  <a:pt x="198111" y="102319"/>
                </a:cubicBezTo>
                <a:lnTo>
                  <a:pt x="190229" y="114124"/>
                </a:lnTo>
                <a:cubicBezTo>
                  <a:pt x="190872" y="115714"/>
                  <a:pt x="191447" y="117371"/>
                  <a:pt x="191921" y="119096"/>
                </a:cubicBezTo>
                <a:cubicBezTo>
                  <a:pt x="192394" y="120821"/>
                  <a:pt x="192699" y="122513"/>
                  <a:pt x="192935" y="124238"/>
                </a:cubicBezTo>
                <a:lnTo>
                  <a:pt x="205687" y="130529"/>
                </a:lnTo>
                <a:cubicBezTo>
                  <a:pt x="209509" y="132423"/>
                  <a:pt x="211471" y="136753"/>
                  <a:pt x="210355" y="140846"/>
                </a:cubicBezTo>
                <a:lnTo>
                  <a:pt x="207987" y="149708"/>
                </a:lnTo>
                <a:cubicBezTo>
                  <a:pt x="206871" y="153800"/>
                  <a:pt x="203049" y="156574"/>
                  <a:pt x="198787" y="156303"/>
                </a:cubicBezTo>
                <a:lnTo>
                  <a:pt x="184581" y="155390"/>
                </a:lnTo>
                <a:cubicBezTo>
                  <a:pt x="182450" y="158130"/>
                  <a:pt x="179981" y="160667"/>
                  <a:pt x="177173" y="162831"/>
                </a:cubicBezTo>
                <a:lnTo>
                  <a:pt x="178086" y="177004"/>
                </a:lnTo>
                <a:cubicBezTo>
                  <a:pt x="178357" y="181266"/>
                  <a:pt x="175583" y="185122"/>
                  <a:pt x="171491" y="186204"/>
                </a:cubicBezTo>
                <a:lnTo>
                  <a:pt x="162629" y="188572"/>
                </a:lnTo>
                <a:cubicBezTo>
                  <a:pt x="158502" y="189688"/>
                  <a:pt x="154206" y="187726"/>
                  <a:pt x="152312" y="183904"/>
                </a:cubicBezTo>
                <a:lnTo>
                  <a:pt x="146021" y="171186"/>
                </a:lnTo>
                <a:cubicBezTo>
                  <a:pt x="142537" y="170713"/>
                  <a:pt x="139120" y="169766"/>
                  <a:pt x="135907" y="168446"/>
                </a:cubicBezTo>
                <a:lnTo>
                  <a:pt x="124069" y="176328"/>
                </a:lnTo>
                <a:cubicBezTo>
                  <a:pt x="120517" y="178695"/>
                  <a:pt x="115815" y="178222"/>
                  <a:pt x="112805" y="175211"/>
                </a:cubicBezTo>
                <a:lnTo>
                  <a:pt x="106311" y="168717"/>
                </a:lnTo>
                <a:cubicBezTo>
                  <a:pt x="103300" y="165707"/>
                  <a:pt x="102827" y="161005"/>
                  <a:pt x="105194" y="157453"/>
                </a:cubicBezTo>
                <a:lnTo>
                  <a:pt x="113076" y="145615"/>
                </a:lnTo>
                <a:cubicBezTo>
                  <a:pt x="112433" y="144025"/>
                  <a:pt x="111858" y="142368"/>
                  <a:pt x="111384" y="140643"/>
                </a:cubicBezTo>
                <a:cubicBezTo>
                  <a:pt x="110911" y="138918"/>
                  <a:pt x="110606" y="137192"/>
                  <a:pt x="110370" y="135501"/>
                </a:cubicBezTo>
                <a:lnTo>
                  <a:pt x="97618" y="129210"/>
                </a:lnTo>
                <a:cubicBezTo>
                  <a:pt x="93796" y="127316"/>
                  <a:pt x="91868" y="122986"/>
                  <a:pt x="92950" y="118893"/>
                </a:cubicBezTo>
                <a:lnTo>
                  <a:pt x="95318" y="110031"/>
                </a:lnTo>
                <a:cubicBezTo>
                  <a:pt x="96434" y="105939"/>
                  <a:pt x="100256" y="103165"/>
                  <a:pt x="104518" y="103436"/>
                </a:cubicBezTo>
                <a:lnTo>
                  <a:pt x="118690" y="104349"/>
                </a:lnTo>
                <a:cubicBezTo>
                  <a:pt x="120821" y="101609"/>
                  <a:pt x="123291" y="99072"/>
                  <a:pt x="126098" y="96907"/>
                </a:cubicBezTo>
                <a:lnTo>
                  <a:pt x="125185" y="82769"/>
                </a:lnTo>
                <a:cubicBezTo>
                  <a:pt x="124914" y="78507"/>
                  <a:pt x="127688" y="74651"/>
                  <a:pt x="131781" y="73568"/>
                </a:cubicBezTo>
                <a:lnTo>
                  <a:pt x="140643" y="71201"/>
                </a:lnTo>
                <a:close/>
                <a:moveTo>
                  <a:pt x="151669" y="115004"/>
                </a:moveTo>
                <a:cubicBezTo>
                  <a:pt x="143455" y="115013"/>
                  <a:pt x="136794" y="121689"/>
                  <a:pt x="136803" y="129903"/>
                </a:cubicBezTo>
                <a:cubicBezTo>
                  <a:pt x="136813" y="138117"/>
                  <a:pt x="143489" y="144779"/>
                  <a:pt x="151703" y="144769"/>
                </a:cubicBezTo>
                <a:cubicBezTo>
                  <a:pt x="159917" y="144760"/>
                  <a:pt x="166578" y="138083"/>
                  <a:pt x="166569" y="129869"/>
                </a:cubicBezTo>
                <a:cubicBezTo>
                  <a:pt x="166560" y="121655"/>
                  <a:pt x="159883" y="114994"/>
                  <a:pt x="151669" y="115004"/>
                </a:cubicBezTo>
                <a:close/>
                <a:moveTo>
                  <a:pt x="76071" y="-15390"/>
                </a:moveTo>
                <a:lnTo>
                  <a:pt x="84934" y="-13022"/>
                </a:lnTo>
                <a:cubicBezTo>
                  <a:pt x="89026" y="-11906"/>
                  <a:pt x="91800" y="-8050"/>
                  <a:pt x="91529" y="-3822"/>
                </a:cubicBezTo>
                <a:lnTo>
                  <a:pt x="90616" y="10316"/>
                </a:lnTo>
                <a:cubicBezTo>
                  <a:pt x="93423" y="12481"/>
                  <a:pt x="95893" y="14984"/>
                  <a:pt x="98024" y="17758"/>
                </a:cubicBezTo>
                <a:lnTo>
                  <a:pt x="112230" y="16845"/>
                </a:lnTo>
                <a:cubicBezTo>
                  <a:pt x="116458" y="16574"/>
                  <a:pt x="120314" y="19348"/>
                  <a:pt x="121430" y="23440"/>
                </a:cubicBezTo>
                <a:lnTo>
                  <a:pt x="123798" y="32302"/>
                </a:lnTo>
                <a:cubicBezTo>
                  <a:pt x="124880" y="36395"/>
                  <a:pt x="122952" y="40725"/>
                  <a:pt x="119130" y="42619"/>
                </a:cubicBezTo>
                <a:lnTo>
                  <a:pt x="106378" y="48910"/>
                </a:lnTo>
                <a:cubicBezTo>
                  <a:pt x="106142" y="50635"/>
                  <a:pt x="105803" y="52360"/>
                  <a:pt x="105364" y="54052"/>
                </a:cubicBezTo>
                <a:cubicBezTo>
                  <a:pt x="104924" y="55743"/>
                  <a:pt x="104315" y="57434"/>
                  <a:pt x="103672" y="59024"/>
                </a:cubicBezTo>
                <a:lnTo>
                  <a:pt x="111553" y="70862"/>
                </a:lnTo>
                <a:cubicBezTo>
                  <a:pt x="113921" y="74414"/>
                  <a:pt x="113448" y="79116"/>
                  <a:pt x="110437" y="82126"/>
                </a:cubicBezTo>
                <a:lnTo>
                  <a:pt x="103943" y="88620"/>
                </a:lnTo>
                <a:cubicBezTo>
                  <a:pt x="100933" y="91631"/>
                  <a:pt x="96231" y="92104"/>
                  <a:pt x="92679" y="89737"/>
                </a:cubicBezTo>
                <a:lnTo>
                  <a:pt x="80841" y="81855"/>
                </a:lnTo>
                <a:cubicBezTo>
                  <a:pt x="77627" y="83175"/>
                  <a:pt x="74211" y="84122"/>
                  <a:pt x="70727" y="84595"/>
                </a:cubicBezTo>
                <a:lnTo>
                  <a:pt x="64436" y="97313"/>
                </a:lnTo>
                <a:cubicBezTo>
                  <a:pt x="62542" y="101135"/>
                  <a:pt x="58212" y="103063"/>
                  <a:pt x="54119" y="101981"/>
                </a:cubicBezTo>
                <a:lnTo>
                  <a:pt x="45257" y="99613"/>
                </a:lnTo>
                <a:cubicBezTo>
                  <a:pt x="41131" y="98497"/>
                  <a:pt x="38391" y="94641"/>
                  <a:pt x="38661" y="90413"/>
                </a:cubicBezTo>
                <a:lnTo>
                  <a:pt x="39575" y="76241"/>
                </a:lnTo>
                <a:cubicBezTo>
                  <a:pt x="36767" y="74076"/>
                  <a:pt x="34298" y="71573"/>
                  <a:pt x="32167" y="68799"/>
                </a:cubicBezTo>
                <a:lnTo>
                  <a:pt x="17961" y="69712"/>
                </a:lnTo>
                <a:cubicBezTo>
                  <a:pt x="13733" y="69983"/>
                  <a:pt x="9877" y="67209"/>
                  <a:pt x="8761" y="63117"/>
                </a:cubicBezTo>
                <a:lnTo>
                  <a:pt x="6393" y="54255"/>
                </a:lnTo>
                <a:cubicBezTo>
                  <a:pt x="5310" y="50162"/>
                  <a:pt x="7238" y="45832"/>
                  <a:pt x="11061" y="43938"/>
                </a:cubicBezTo>
                <a:lnTo>
                  <a:pt x="23813" y="37647"/>
                </a:lnTo>
                <a:cubicBezTo>
                  <a:pt x="24049" y="35922"/>
                  <a:pt x="24388" y="34230"/>
                  <a:pt x="24827" y="32505"/>
                </a:cubicBezTo>
                <a:cubicBezTo>
                  <a:pt x="25301" y="30780"/>
                  <a:pt x="25842" y="29123"/>
                  <a:pt x="26518" y="27533"/>
                </a:cubicBezTo>
                <a:lnTo>
                  <a:pt x="18637" y="15728"/>
                </a:lnTo>
                <a:cubicBezTo>
                  <a:pt x="16270" y="12177"/>
                  <a:pt x="16743" y="7475"/>
                  <a:pt x="19754" y="4465"/>
                </a:cubicBezTo>
                <a:lnTo>
                  <a:pt x="26248" y="-2029"/>
                </a:lnTo>
                <a:cubicBezTo>
                  <a:pt x="29258" y="-5040"/>
                  <a:pt x="33960" y="-5513"/>
                  <a:pt x="37511" y="-3146"/>
                </a:cubicBezTo>
                <a:lnTo>
                  <a:pt x="49350" y="4735"/>
                </a:lnTo>
                <a:cubicBezTo>
                  <a:pt x="52563" y="3416"/>
                  <a:pt x="55980" y="2469"/>
                  <a:pt x="59464" y="1996"/>
                </a:cubicBezTo>
                <a:lnTo>
                  <a:pt x="65755" y="-10722"/>
                </a:lnTo>
                <a:cubicBezTo>
                  <a:pt x="67649" y="-14545"/>
                  <a:pt x="71945" y="-16473"/>
                  <a:pt x="76071" y="-15390"/>
                </a:cubicBezTo>
                <a:close/>
                <a:moveTo>
                  <a:pt x="65078" y="28413"/>
                </a:moveTo>
                <a:cubicBezTo>
                  <a:pt x="56864" y="28413"/>
                  <a:pt x="50196" y="35081"/>
                  <a:pt x="50196" y="43295"/>
                </a:cubicBezTo>
                <a:cubicBezTo>
                  <a:pt x="50196" y="51510"/>
                  <a:pt x="56864" y="58178"/>
                  <a:pt x="65078" y="58178"/>
                </a:cubicBezTo>
                <a:cubicBezTo>
                  <a:pt x="73293" y="58178"/>
                  <a:pt x="79961" y="51510"/>
                  <a:pt x="79961" y="43295"/>
                </a:cubicBezTo>
                <a:cubicBezTo>
                  <a:pt x="79961" y="35081"/>
                  <a:pt x="73293" y="28413"/>
                  <a:pt x="65078" y="2841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Text 28"/>
          <p:cNvSpPr/>
          <p:nvPr/>
        </p:nvSpPr>
        <p:spPr>
          <a:xfrm>
            <a:off x="5512765" y="1142873"/>
            <a:ext cx="6204632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推荐系统流程与A/B测试架构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0841" y="1532253"/>
            <a:ext cx="6364092" cy="1523660"/>
          </a:xfrm>
          <a:custGeom>
            <a:avLst/>
            <a:gdLst/>
            <a:ahLst/>
            <a:cxnLst/>
            <a:rect l="l" t="t" r="r" b="b"/>
            <a:pathLst>
              <a:path w="6364092" h="1523660">
                <a:moveTo>
                  <a:pt x="0" y="0"/>
                </a:moveTo>
                <a:lnTo>
                  <a:pt x="6364092" y="0"/>
                </a:lnTo>
                <a:lnTo>
                  <a:pt x="6364092" y="1523660"/>
                </a:lnTo>
                <a:lnTo>
                  <a:pt x="0" y="15236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4902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8846" y="1679221"/>
            <a:ext cx="6147955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DAG在好友推荐系统中的应用流程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47812" y="2042472"/>
            <a:ext cx="1160318" cy="848591"/>
          </a:xfrm>
          <a:custGeom>
            <a:avLst/>
            <a:gdLst/>
            <a:ahLst/>
            <a:cxnLst/>
            <a:rect l="l" t="t" r="r" b="b"/>
            <a:pathLst>
              <a:path w="1160318" h="848591">
                <a:moveTo>
                  <a:pt x="0" y="0"/>
                </a:moveTo>
                <a:lnTo>
                  <a:pt x="1160318" y="0"/>
                </a:lnTo>
                <a:lnTo>
                  <a:pt x="1160318" y="848591"/>
                </a:lnTo>
                <a:lnTo>
                  <a:pt x="0" y="84859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34" name="Shape 32"/>
          <p:cNvSpPr/>
          <p:nvPr/>
        </p:nvSpPr>
        <p:spPr>
          <a:xfrm>
            <a:off x="5915390" y="2146334"/>
            <a:ext cx="227301" cy="259773"/>
          </a:xfrm>
          <a:custGeom>
            <a:avLst/>
            <a:gdLst/>
            <a:ahLst/>
            <a:cxnLst/>
            <a:rect l="l" t="t" r="r" b="b"/>
            <a:pathLst>
              <a:path w="227301" h="259773">
                <a:moveTo>
                  <a:pt x="227301" y="104416"/>
                </a:moveTo>
                <a:cubicBezTo>
                  <a:pt x="219792" y="109389"/>
                  <a:pt x="211167" y="113397"/>
                  <a:pt x="202186" y="116593"/>
                </a:cubicBezTo>
                <a:cubicBezTo>
                  <a:pt x="178340" y="125117"/>
                  <a:pt x="147035" y="129886"/>
                  <a:pt x="113651" y="129886"/>
                </a:cubicBezTo>
                <a:cubicBezTo>
                  <a:pt x="80266" y="129886"/>
                  <a:pt x="48910" y="125066"/>
                  <a:pt x="25115" y="116593"/>
                </a:cubicBezTo>
                <a:cubicBezTo>
                  <a:pt x="16185" y="113397"/>
                  <a:pt x="7509" y="109389"/>
                  <a:pt x="0" y="104416"/>
                </a:cubicBezTo>
                <a:lnTo>
                  <a:pt x="0" y="146122"/>
                </a:lnTo>
                <a:cubicBezTo>
                  <a:pt x="0" y="168548"/>
                  <a:pt x="50889" y="186712"/>
                  <a:pt x="113651" y="186712"/>
                </a:cubicBezTo>
                <a:cubicBezTo>
                  <a:pt x="176412" y="186712"/>
                  <a:pt x="227301" y="168548"/>
                  <a:pt x="227301" y="146122"/>
                </a:cubicBezTo>
                <a:lnTo>
                  <a:pt x="227301" y="104416"/>
                </a:lnTo>
                <a:close/>
                <a:moveTo>
                  <a:pt x="227301" y="64943"/>
                </a:moveTo>
                <a:lnTo>
                  <a:pt x="227301" y="40589"/>
                </a:lnTo>
                <a:cubicBezTo>
                  <a:pt x="227301" y="18164"/>
                  <a:pt x="176412" y="0"/>
                  <a:pt x="113651" y="0"/>
                </a:cubicBezTo>
                <a:cubicBezTo>
                  <a:pt x="50889" y="0"/>
                  <a:pt x="0" y="18164"/>
                  <a:pt x="0" y="40589"/>
                </a:cubicBezTo>
                <a:lnTo>
                  <a:pt x="0" y="64943"/>
                </a:lnTo>
                <a:cubicBezTo>
                  <a:pt x="0" y="87369"/>
                  <a:pt x="50889" y="105533"/>
                  <a:pt x="113651" y="105533"/>
                </a:cubicBezTo>
                <a:cubicBezTo>
                  <a:pt x="176412" y="105533"/>
                  <a:pt x="227301" y="87369"/>
                  <a:pt x="227301" y="64943"/>
                </a:cubicBezTo>
                <a:close/>
                <a:moveTo>
                  <a:pt x="202186" y="197772"/>
                </a:moveTo>
                <a:cubicBezTo>
                  <a:pt x="178391" y="206245"/>
                  <a:pt x="147086" y="211065"/>
                  <a:pt x="113651" y="211065"/>
                </a:cubicBezTo>
                <a:cubicBezTo>
                  <a:pt x="80215" y="211065"/>
                  <a:pt x="48910" y="206245"/>
                  <a:pt x="25115" y="197772"/>
                </a:cubicBezTo>
                <a:cubicBezTo>
                  <a:pt x="16185" y="194576"/>
                  <a:pt x="7509" y="190568"/>
                  <a:pt x="0" y="185595"/>
                </a:cubicBezTo>
                <a:lnTo>
                  <a:pt x="0" y="219183"/>
                </a:lnTo>
                <a:cubicBezTo>
                  <a:pt x="0" y="241609"/>
                  <a:pt x="50889" y="259773"/>
                  <a:pt x="113651" y="259773"/>
                </a:cubicBezTo>
                <a:cubicBezTo>
                  <a:pt x="176412" y="259773"/>
                  <a:pt x="227301" y="241609"/>
                  <a:pt x="227301" y="219183"/>
                </a:cubicBezTo>
                <a:lnTo>
                  <a:pt x="227301" y="185595"/>
                </a:lnTo>
                <a:cubicBezTo>
                  <a:pt x="219792" y="190568"/>
                  <a:pt x="211167" y="194576"/>
                  <a:pt x="202186" y="197772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35" name="Text 33"/>
          <p:cNvSpPr/>
          <p:nvPr/>
        </p:nvSpPr>
        <p:spPr>
          <a:xfrm>
            <a:off x="5521367" y="2475358"/>
            <a:ext cx="1013114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游戏数据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25697" y="2648528"/>
            <a:ext cx="1004455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用户属性+社交关系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35844" y="236281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204003" y="113082"/>
                </a:moveTo>
                <a:cubicBezTo>
                  <a:pt x="209076" y="108009"/>
                  <a:pt x="209076" y="99769"/>
                  <a:pt x="204003" y="94695"/>
                </a:cubicBezTo>
                <a:lnTo>
                  <a:pt x="139060" y="29752"/>
                </a:lnTo>
                <a:cubicBezTo>
                  <a:pt x="133986" y="24678"/>
                  <a:pt x="125746" y="24678"/>
                  <a:pt x="120673" y="29752"/>
                </a:cubicBezTo>
                <a:cubicBezTo>
                  <a:pt x="115599" y="34826"/>
                  <a:pt x="115599" y="43065"/>
                  <a:pt x="120673" y="48139"/>
                </a:cubicBezTo>
                <a:lnTo>
                  <a:pt x="163454" y="90920"/>
                </a:lnTo>
                <a:lnTo>
                  <a:pt x="12989" y="90920"/>
                </a:ln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63454" y="116898"/>
                </a:lnTo>
                <a:lnTo>
                  <a:pt x="120673" y="159679"/>
                </a:lnTo>
                <a:cubicBezTo>
                  <a:pt x="115599" y="164753"/>
                  <a:pt x="115599" y="172992"/>
                  <a:pt x="120673" y="178066"/>
                </a:cubicBezTo>
                <a:cubicBezTo>
                  <a:pt x="125746" y="183140"/>
                  <a:pt x="133986" y="183140"/>
                  <a:pt x="139060" y="178066"/>
                </a:cubicBezTo>
                <a:lnTo>
                  <a:pt x="204003" y="11312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Shape 36"/>
          <p:cNvSpPr/>
          <p:nvPr/>
        </p:nvSpPr>
        <p:spPr>
          <a:xfrm>
            <a:off x="7081937" y="2033981"/>
            <a:ext cx="1177297" cy="865569"/>
          </a:xfrm>
          <a:custGeom>
            <a:avLst/>
            <a:gdLst/>
            <a:ahLst/>
            <a:cxnLst/>
            <a:rect l="l" t="t" r="r" b="b"/>
            <a:pathLst>
              <a:path w="1177297" h="865569">
                <a:moveTo>
                  <a:pt x="0" y="0"/>
                </a:moveTo>
                <a:lnTo>
                  <a:pt x="1177297" y="0"/>
                </a:lnTo>
                <a:lnTo>
                  <a:pt x="1177297" y="865569"/>
                </a:lnTo>
                <a:lnTo>
                  <a:pt x="0" y="865569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1835" y="2146334"/>
            <a:ext cx="259773" cy="259773"/>
          </a:xfrm>
          <a:custGeom>
            <a:avLst/>
            <a:gdLst/>
            <a:ahLst/>
            <a:cxnLst/>
            <a:rect l="l" t="t" r="r" b="b"/>
            <a:pathLst>
              <a:path w="259773" h="259773">
                <a:moveTo>
                  <a:pt x="60884" y="28413"/>
                </a:moveTo>
                <a:cubicBezTo>
                  <a:pt x="60884" y="12735"/>
                  <a:pt x="73619" y="0"/>
                  <a:pt x="89297" y="0"/>
                </a:cubicBezTo>
                <a:lnTo>
                  <a:pt x="101474" y="0"/>
                </a:lnTo>
                <a:cubicBezTo>
                  <a:pt x="110454" y="0"/>
                  <a:pt x="117710" y="7255"/>
                  <a:pt x="117710" y="16236"/>
                </a:cubicBezTo>
                <a:lnTo>
                  <a:pt x="117710" y="243537"/>
                </a:lnTo>
                <a:cubicBezTo>
                  <a:pt x="117710" y="252517"/>
                  <a:pt x="110454" y="259773"/>
                  <a:pt x="101474" y="259773"/>
                </a:cubicBezTo>
                <a:lnTo>
                  <a:pt x="85238" y="259773"/>
                </a:lnTo>
                <a:cubicBezTo>
                  <a:pt x="70118" y="259773"/>
                  <a:pt x="57383" y="249422"/>
                  <a:pt x="53781" y="235419"/>
                </a:cubicBezTo>
                <a:cubicBezTo>
                  <a:pt x="53426" y="235419"/>
                  <a:pt x="53121" y="235419"/>
                  <a:pt x="52766" y="235419"/>
                </a:cubicBezTo>
                <a:cubicBezTo>
                  <a:pt x="30341" y="235419"/>
                  <a:pt x="12177" y="217255"/>
                  <a:pt x="12177" y="194830"/>
                </a:cubicBezTo>
                <a:cubicBezTo>
                  <a:pt x="12177" y="185697"/>
                  <a:pt x="15221" y="177275"/>
                  <a:pt x="20295" y="170476"/>
                </a:cubicBezTo>
                <a:cubicBezTo>
                  <a:pt x="10452" y="163068"/>
                  <a:pt x="4059" y="151297"/>
                  <a:pt x="4059" y="138004"/>
                </a:cubicBezTo>
                <a:cubicBezTo>
                  <a:pt x="4059" y="122327"/>
                  <a:pt x="12989" y="108678"/>
                  <a:pt x="25977" y="101930"/>
                </a:cubicBezTo>
                <a:cubicBezTo>
                  <a:pt x="22375" y="95842"/>
                  <a:pt x="20295" y="88739"/>
                  <a:pt x="20295" y="81179"/>
                </a:cubicBezTo>
                <a:cubicBezTo>
                  <a:pt x="20295" y="58753"/>
                  <a:pt x="38459" y="40589"/>
                  <a:pt x="60884" y="40589"/>
                </a:cubicBezTo>
                <a:lnTo>
                  <a:pt x="60884" y="28413"/>
                </a:lnTo>
                <a:close/>
                <a:moveTo>
                  <a:pt x="198888" y="28413"/>
                </a:moveTo>
                <a:lnTo>
                  <a:pt x="198888" y="40589"/>
                </a:lnTo>
                <a:cubicBezTo>
                  <a:pt x="221314" y="40589"/>
                  <a:pt x="239478" y="58753"/>
                  <a:pt x="239478" y="81179"/>
                </a:cubicBezTo>
                <a:cubicBezTo>
                  <a:pt x="239478" y="88790"/>
                  <a:pt x="237398" y="95893"/>
                  <a:pt x="233795" y="101930"/>
                </a:cubicBezTo>
                <a:cubicBezTo>
                  <a:pt x="246835" y="108678"/>
                  <a:pt x="255714" y="122276"/>
                  <a:pt x="255714" y="138004"/>
                </a:cubicBezTo>
                <a:cubicBezTo>
                  <a:pt x="255714" y="151297"/>
                  <a:pt x="249321" y="163068"/>
                  <a:pt x="239478" y="170476"/>
                </a:cubicBezTo>
                <a:cubicBezTo>
                  <a:pt x="244552" y="177275"/>
                  <a:pt x="247596" y="185697"/>
                  <a:pt x="247596" y="194830"/>
                </a:cubicBezTo>
                <a:cubicBezTo>
                  <a:pt x="247596" y="217255"/>
                  <a:pt x="229432" y="235419"/>
                  <a:pt x="207006" y="235419"/>
                </a:cubicBezTo>
                <a:cubicBezTo>
                  <a:pt x="206651" y="235419"/>
                  <a:pt x="206347" y="235419"/>
                  <a:pt x="205992" y="235419"/>
                </a:cubicBezTo>
                <a:cubicBezTo>
                  <a:pt x="202389" y="249422"/>
                  <a:pt x="189654" y="259773"/>
                  <a:pt x="174535" y="259773"/>
                </a:cubicBezTo>
                <a:lnTo>
                  <a:pt x="158299" y="259773"/>
                </a:lnTo>
                <a:cubicBezTo>
                  <a:pt x="149319" y="259773"/>
                  <a:pt x="142063" y="252517"/>
                  <a:pt x="142063" y="243537"/>
                </a:cubicBezTo>
                <a:lnTo>
                  <a:pt x="142063" y="16236"/>
                </a:lnTo>
                <a:cubicBezTo>
                  <a:pt x="142063" y="7255"/>
                  <a:pt x="149319" y="0"/>
                  <a:pt x="158299" y="0"/>
                </a:cubicBezTo>
                <a:lnTo>
                  <a:pt x="170476" y="0"/>
                </a:lnTo>
                <a:cubicBezTo>
                  <a:pt x="186154" y="0"/>
                  <a:pt x="198888" y="12735"/>
                  <a:pt x="198888" y="2841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0" name="Text 38"/>
          <p:cNvSpPr/>
          <p:nvPr/>
        </p:nvSpPr>
        <p:spPr>
          <a:xfrm>
            <a:off x="7163981" y="2475358"/>
            <a:ext cx="1013114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DAG模型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68311" y="2648528"/>
            <a:ext cx="1004455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自动检测社群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95503" y="236281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204003" y="113082"/>
                </a:moveTo>
                <a:cubicBezTo>
                  <a:pt x="209076" y="108009"/>
                  <a:pt x="209076" y="99769"/>
                  <a:pt x="204003" y="94695"/>
                </a:cubicBezTo>
                <a:lnTo>
                  <a:pt x="139060" y="29752"/>
                </a:lnTo>
                <a:cubicBezTo>
                  <a:pt x="133986" y="24678"/>
                  <a:pt x="125746" y="24678"/>
                  <a:pt x="120673" y="29752"/>
                </a:cubicBezTo>
                <a:cubicBezTo>
                  <a:pt x="115599" y="34826"/>
                  <a:pt x="115599" y="43065"/>
                  <a:pt x="120673" y="48139"/>
                </a:cubicBezTo>
                <a:lnTo>
                  <a:pt x="163454" y="90920"/>
                </a:lnTo>
                <a:lnTo>
                  <a:pt x="12989" y="90920"/>
                </a:ln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63454" y="116898"/>
                </a:lnTo>
                <a:lnTo>
                  <a:pt x="120673" y="159679"/>
                </a:lnTo>
                <a:cubicBezTo>
                  <a:pt x="115599" y="164753"/>
                  <a:pt x="115599" y="172992"/>
                  <a:pt x="120673" y="178066"/>
                </a:cubicBezTo>
                <a:cubicBezTo>
                  <a:pt x="125746" y="183140"/>
                  <a:pt x="133986" y="183140"/>
                  <a:pt x="139060" y="178066"/>
                </a:cubicBezTo>
                <a:lnTo>
                  <a:pt x="204003" y="11312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3" name="Shape 41"/>
          <p:cNvSpPr/>
          <p:nvPr/>
        </p:nvSpPr>
        <p:spPr>
          <a:xfrm>
            <a:off x="8733107" y="2042472"/>
            <a:ext cx="1160318" cy="848591"/>
          </a:xfrm>
          <a:custGeom>
            <a:avLst/>
            <a:gdLst/>
            <a:ahLst/>
            <a:cxnLst/>
            <a:rect l="l" t="t" r="r" b="b"/>
            <a:pathLst>
              <a:path w="1160318" h="848591">
                <a:moveTo>
                  <a:pt x="0" y="0"/>
                </a:moveTo>
                <a:lnTo>
                  <a:pt x="1160318" y="0"/>
                </a:lnTo>
                <a:lnTo>
                  <a:pt x="1160318" y="848591"/>
                </a:lnTo>
                <a:lnTo>
                  <a:pt x="0" y="84859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44" name="Shape 42"/>
          <p:cNvSpPr/>
          <p:nvPr/>
        </p:nvSpPr>
        <p:spPr>
          <a:xfrm>
            <a:off x="9151977" y="2146334"/>
            <a:ext cx="324716" cy="259773"/>
          </a:xfrm>
          <a:custGeom>
            <a:avLst/>
            <a:gdLst/>
            <a:ahLst/>
            <a:cxnLst/>
            <a:rect l="l" t="t" r="r" b="b"/>
            <a:pathLst>
              <a:path w="324716" h="259773">
                <a:moveTo>
                  <a:pt x="162358" y="8118"/>
                </a:moveTo>
                <a:cubicBezTo>
                  <a:pt x="191480" y="8118"/>
                  <a:pt x="215124" y="31762"/>
                  <a:pt x="215124" y="60884"/>
                </a:cubicBezTo>
                <a:cubicBezTo>
                  <a:pt x="215124" y="90007"/>
                  <a:pt x="191480" y="113651"/>
                  <a:pt x="162358" y="113651"/>
                </a:cubicBezTo>
                <a:cubicBezTo>
                  <a:pt x="133235" y="113651"/>
                  <a:pt x="109592" y="90007"/>
                  <a:pt x="109592" y="60884"/>
                </a:cubicBezTo>
                <a:cubicBezTo>
                  <a:pt x="109592" y="31762"/>
                  <a:pt x="133235" y="8118"/>
                  <a:pt x="162358" y="8118"/>
                </a:cubicBezTo>
                <a:close/>
                <a:moveTo>
                  <a:pt x="48707" y="44648"/>
                </a:moveTo>
                <a:cubicBezTo>
                  <a:pt x="68869" y="44648"/>
                  <a:pt x="85238" y="61017"/>
                  <a:pt x="85238" y="81179"/>
                </a:cubicBezTo>
                <a:cubicBezTo>
                  <a:pt x="85238" y="101341"/>
                  <a:pt x="68869" y="117710"/>
                  <a:pt x="48707" y="117710"/>
                </a:cubicBezTo>
                <a:cubicBezTo>
                  <a:pt x="28546" y="117710"/>
                  <a:pt x="12177" y="101341"/>
                  <a:pt x="12177" y="81179"/>
                </a:cubicBezTo>
                <a:cubicBezTo>
                  <a:pt x="12177" y="61017"/>
                  <a:pt x="28546" y="44648"/>
                  <a:pt x="48707" y="44648"/>
                </a:cubicBezTo>
                <a:close/>
                <a:moveTo>
                  <a:pt x="0" y="211065"/>
                </a:moveTo>
                <a:cubicBezTo>
                  <a:pt x="0" y="175194"/>
                  <a:pt x="29072" y="146122"/>
                  <a:pt x="64943" y="146122"/>
                </a:cubicBezTo>
                <a:cubicBezTo>
                  <a:pt x="71438" y="146122"/>
                  <a:pt x="77729" y="147086"/>
                  <a:pt x="83665" y="148862"/>
                </a:cubicBezTo>
                <a:cubicBezTo>
                  <a:pt x="66973" y="167533"/>
                  <a:pt x="56825" y="192191"/>
                  <a:pt x="56825" y="219183"/>
                </a:cubicBezTo>
                <a:lnTo>
                  <a:pt x="56825" y="227301"/>
                </a:lnTo>
                <a:cubicBezTo>
                  <a:pt x="56825" y="233085"/>
                  <a:pt x="58043" y="238565"/>
                  <a:pt x="60225" y="243537"/>
                </a:cubicBezTo>
                <a:lnTo>
                  <a:pt x="16236" y="243537"/>
                </a:lnTo>
                <a:cubicBezTo>
                  <a:pt x="7255" y="243537"/>
                  <a:pt x="0" y="236282"/>
                  <a:pt x="0" y="227301"/>
                </a:cubicBezTo>
                <a:lnTo>
                  <a:pt x="0" y="211065"/>
                </a:lnTo>
                <a:close/>
                <a:moveTo>
                  <a:pt x="264491" y="243537"/>
                </a:moveTo>
                <a:cubicBezTo>
                  <a:pt x="266673" y="238565"/>
                  <a:pt x="267891" y="233085"/>
                  <a:pt x="267891" y="227301"/>
                </a:cubicBezTo>
                <a:lnTo>
                  <a:pt x="267891" y="219183"/>
                </a:lnTo>
                <a:cubicBezTo>
                  <a:pt x="267891" y="192191"/>
                  <a:pt x="257743" y="167533"/>
                  <a:pt x="241051" y="148862"/>
                </a:cubicBezTo>
                <a:cubicBezTo>
                  <a:pt x="246987" y="147086"/>
                  <a:pt x="253278" y="146122"/>
                  <a:pt x="259773" y="146122"/>
                </a:cubicBezTo>
                <a:cubicBezTo>
                  <a:pt x="295644" y="146122"/>
                  <a:pt x="324716" y="175194"/>
                  <a:pt x="324716" y="211065"/>
                </a:cubicBezTo>
                <a:lnTo>
                  <a:pt x="324716" y="227301"/>
                </a:lnTo>
                <a:cubicBezTo>
                  <a:pt x="324716" y="236282"/>
                  <a:pt x="317461" y="243537"/>
                  <a:pt x="308480" y="243537"/>
                </a:cubicBezTo>
                <a:lnTo>
                  <a:pt x="264491" y="243537"/>
                </a:lnTo>
                <a:close/>
                <a:moveTo>
                  <a:pt x="239478" y="81179"/>
                </a:moveTo>
                <a:cubicBezTo>
                  <a:pt x="239478" y="61017"/>
                  <a:pt x="255847" y="44648"/>
                  <a:pt x="276009" y="44648"/>
                </a:cubicBezTo>
                <a:cubicBezTo>
                  <a:pt x="296170" y="44648"/>
                  <a:pt x="312539" y="61017"/>
                  <a:pt x="312539" y="81179"/>
                </a:cubicBezTo>
                <a:cubicBezTo>
                  <a:pt x="312539" y="101341"/>
                  <a:pt x="296170" y="117710"/>
                  <a:pt x="276009" y="117710"/>
                </a:cubicBezTo>
                <a:cubicBezTo>
                  <a:pt x="255847" y="117710"/>
                  <a:pt x="239478" y="101341"/>
                  <a:pt x="239478" y="81179"/>
                </a:cubicBezTo>
                <a:close/>
                <a:moveTo>
                  <a:pt x="81179" y="219183"/>
                </a:moveTo>
                <a:cubicBezTo>
                  <a:pt x="81179" y="174332"/>
                  <a:pt x="117507" y="138004"/>
                  <a:pt x="162358" y="138004"/>
                </a:cubicBezTo>
                <a:cubicBezTo>
                  <a:pt x="207209" y="138004"/>
                  <a:pt x="243537" y="174332"/>
                  <a:pt x="243537" y="219183"/>
                </a:cubicBezTo>
                <a:lnTo>
                  <a:pt x="243537" y="227301"/>
                </a:lnTo>
                <a:cubicBezTo>
                  <a:pt x="243537" y="236282"/>
                  <a:pt x="236282" y="243537"/>
                  <a:pt x="227301" y="243537"/>
                </a:cubicBezTo>
                <a:lnTo>
                  <a:pt x="97415" y="243537"/>
                </a:lnTo>
                <a:cubicBezTo>
                  <a:pt x="88434" y="243537"/>
                  <a:pt x="81179" y="236282"/>
                  <a:pt x="81179" y="227301"/>
                </a:cubicBezTo>
                <a:lnTo>
                  <a:pt x="81179" y="219183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45" name="Text 43"/>
          <p:cNvSpPr/>
          <p:nvPr/>
        </p:nvSpPr>
        <p:spPr>
          <a:xfrm>
            <a:off x="8806662" y="2475358"/>
            <a:ext cx="1013114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同社群好友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10991" y="2648528"/>
            <a:ext cx="1004455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精准推荐候选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21139" y="2362811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204003" y="113082"/>
                </a:moveTo>
                <a:cubicBezTo>
                  <a:pt x="209076" y="108009"/>
                  <a:pt x="209076" y="99769"/>
                  <a:pt x="204003" y="94695"/>
                </a:cubicBezTo>
                <a:lnTo>
                  <a:pt x="139060" y="29752"/>
                </a:lnTo>
                <a:cubicBezTo>
                  <a:pt x="133986" y="24678"/>
                  <a:pt x="125746" y="24678"/>
                  <a:pt x="120673" y="29752"/>
                </a:cubicBezTo>
                <a:cubicBezTo>
                  <a:pt x="115599" y="34826"/>
                  <a:pt x="115599" y="43065"/>
                  <a:pt x="120673" y="48139"/>
                </a:cubicBezTo>
                <a:lnTo>
                  <a:pt x="163454" y="90920"/>
                </a:lnTo>
                <a:lnTo>
                  <a:pt x="12989" y="90920"/>
                </a:ln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63454" y="116898"/>
                </a:lnTo>
                <a:lnTo>
                  <a:pt x="120673" y="159679"/>
                </a:lnTo>
                <a:cubicBezTo>
                  <a:pt x="115599" y="164753"/>
                  <a:pt x="115599" y="172992"/>
                  <a:pt x="120673" y="178066"/>
                </a:cubicBezTo>
                <a:cubicBezTo>
                  <a:pt x="125746" y="183140"/>
                  <a:pt x="133986" y="183140"/>
                  <a:pt x="139060" y="178066"/>
                </a:cubicBezTo>
                <a:lnTo>
                  <a:pt x="204003" y="11312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8" name="Shape 46"/>
          <p:cNvSpPr/>
          <p:nvPr/>
        </p:nvSpPr>
        <p:spPr>
          <a:xfrm>
            <a:off x="10358743" y="2042472"/>
            <a:ext cx="1160318" cy="848591"/>
          </a:xfrm>
          <a:custGeom>
            <a:avLst/>
            <a:gdLst/>
            <a:ahLst/>
            <a:cxnLst/>
            <a:rect l="l" t="t" r="r" b="b"/>
            <a:pathLst>
              <a:path w="1160318" h="848591">
                <a:moveTo>
                  <a:pt x="0" y="0"/>
                </a:moveTo>
                <a:lnTo>
                  <a:pt x="1160318" y="0"/>
                </a:lnTo>
                <a:lnTo>
                  <a:pt x="1160318" y="848591"/>
                </a:lnTo>
                <a:lnTo>
                  <a:pt x="0" y="84859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49" name="Shape 47"/>
          <p:cNvSpPr/>
          <p:nvPr/>
        </p:nvSpPr>
        <p:spPr>
          <a:xfrm>
            <a:off x="10793915" y="2146334"/>
            <a:ext cx="292244" cy="259773"/>
          </a:xfrm>
          <a:custGeom>
            <a:avLst/>
            <a:gdLst/>
            <a:ahLst/>
            <a:cxnLst/>
            <a:rect l="l" t="t" r="r" b="b"/>
            <a:pathLst>
              <a:path w="292244" h="259773">
                <a:moveTo>
                  <a:pt x="125117" y="190060"/>
                </a:moveTo>
                <a:lnTo>
                  <a:pt x="76410" y="238768"/>
                </a:lnTo>
                <a:cubicBezTo>
                  <a:pt x="70068" y="245110"/>
                  <a:pt x="59768" y="245110"/>
                  <a:pt x="53426" y="238768"/>
                </a:cubicBezTo>
                <a:lnTo>
                  <a:pt x="4719" y="190060"/>
                </a:lnTo>
                <a:cubicBezTo>
                  <a:pt x="-1624" y="183718"/>
                  <a:pt x="-1624" y="173419"/>
                  <a:pt x="4719" y="167076"/>
                </a:cubicBezTo>
                <a:cubicBezTo>
                  <a:pt x="11061" y="160734"/>
                  <a:pt x="21360" y="160734"/>
                  <a:pt x="27702" y="167076"/>
                </a:cubicBezTo>
                <a:lnTo>
                  <a:pt x="48707" y="188082"/>
                </a:lnTo>
                <a:lnTo>
                  <a:pt x="48707" y="32472"/>
                </a:lnTo>
                <a:cubicBezTo>
                  <a:pt x="48707" y="23491"/>
                  <a:pt x="55963" y="16236"/>
                  <a:pt x="64943" y="16236"/>
                </a:cubicBezTo>
                <a:cubicBezTo>
                  <a:pt x="73924" y="16236"/>
                  <a:pt x="81179" y="23491"/>
                  <a:pt x="81179" y="32472"/>
                </a:cubicBezTo>
                <a:lnTo>
                  <a:pt x="81179" y="188082"/>
                </a:lnTo>
                <a:lnTo>
                  <a:pt x="102184" y="167076"/>
                </a:lnTo>
                <a:cubicBezTo>
                  <a:pt x="108526" y="160734"/>
                  <a:pt x="118826" y="160734"/>
                  <a:pt x="125168" y="167076"/>
                </a:cubicBezTo>
                <a:cubicBezTo>
                  <a:pt x="131510" y="173419"/>
                  <a:pt x="131510" y="183718"/>
                  <a:pt x="125168" y="190060"/>
                </a:cubicBezTo>
                <a:close/>
                <a:moveTo>
                  <a:pt x="162358" y="243537"/>
                </a:moveTo>
                <a:cubicBezTo>
                  <a:pt x="153378" y="243537"/>
                  <a:pt x="146122" y="236282"/>
                  <a:pt x="146122" y="227301"/>
                </a:cubicBezTo>
                <a:cubicBezTo>
                  <a:pt x="146122" y="218321"/>
                  <a:pt x="153378" y="211065"/>
                  <a:pt x="162358" y="211065"/>
                </a:cubicBezTo>
                <a:lnTo>
                  <a:pt x="178594" y="211065"/>
                </a:lnTo>
                <a:cubicBezTo>
                  <a:pt x="187574" y="211065"/>
                  <a:pt x="194830" y="218321"/>
                  <a:pt x="194830" y="227301"/>
                </a:cubicBezTo>
                <a:cubicBezTo>
                  <a:pt x="194830" y="236282"/>
                  <a:pt x="187574" y="243537"/>
                  <a:pt x="178594" y="243537"/>
                </a:cubicBezTo>
                <a:lnTo>
                  <a:pt x="162358" y="243537"/>
                </a:lnTo>
                <a:close/>
                <a:moveTo>
                  <a:pt x="162358" y="178594"/>
                </a:moveTo>
                <a:cubicBezTo>
                  <a:pt x="153378" y="178594"/>
                  <a:pt x="146122" y="171338"/>
                  <a:pt x="146122" y="162358"/>
                </a:cubicBezTo>
                <a:cubicBezTo>
                  <a:pt x="146122" y="153378"/>
                  <a:pt x="153378" y="146122"/>
                  <a:pt x="162358" y="146122"/>
                </a:cubicBezTo>
                <a:lnTo>
                  <a:pt x="211065" y="146122"/>
                </a:lnTo>
                <a:cubicBezTo>
                  <a:pt x="220046" y="146122"/>
                  <a:pt x="227301" y="153378"/>
                  <a:pt x="227301" y="162358"/>
                </a:cubicBezTo>
                <a:cubicBezTo>
                  <a:pt x="227301" y="171338"/>
                  <a:pt x="220046" y="178594"/>
                  <a:pt x="211065" y="178594"/>
                </a:cubicBezTo>
                <a:lnTo>
                  <a:pt x="162358" y="178594"/>
                </a:lnTo>
                <a:close/>
                <a:moveTo>
                  <a:pt x="162358" y="113651"/>
                </a:moveTo>
                <a:cubicBezTo>
                  <a:pt x="153378" y="113651"/>
                  <a:pt x="146122" y="106395"/>
                  <a:pt x="146122" y="97415"/>
                </a:cubicBezTo>
                <a:cubicBezTo>
                  <a:pt x="146122" y="88434"/>
                  <a:pt x="153378" y="81179"/>
                  <a:pt x="162358" y="81179"/>
                </a:cubicBezTo>
                <a:lnTo>
                  <a:pt x="243537" y="81179"/>
                </a:lnTo>
                <a:cubicBezTo>
                  <a:pt x="252517" y="81179"/>
                  <a:pt x="259773" y="88434"/>
                  <a:pt x="259773" y="97415"/>
                </a:cubicBezTo>
                <a:cubicBezTo>
                  <a:pt x="259773" y="106395"/>
                  <a:pt x="252517" y="113651"/>
                  <a:pt x="243537" y="113651"/>
                </a:cubicBezTo>
                <a:lnTo>
                  <a:pt x="162358" y="113651"/>
                </a:lnTo>
                <a:close/>
                <a:moveTo>
                  <a:pt x="162358" y="48707"/>
                </a:moveTo>
                <a:cubicBezTo>
                  <a:pt x="153378" y="48707"/>
                  <a:pt x="146122" y="41452"/>
                  <a:pt x="146122" y="32472"/>
                </a:cubicBezTo>
                <a:cubicBezTo>
                  <a:pt x="146122" y="23491"/>
                  <a:pt x="153378" y="16236"/>
                  <a:pt x="162358" y="16236"/>
                </a:cubicBezTo>
                <a:lnTo>
                  <a:pt x="276009" y="16236"/>
                </a:lnTo>
                <a:cubicBezTo>
                  <a:pt x="284989" y="16236"/>
                  <a:pt x="292244" y="23491"/>
                  <a:pt x="292244" y="32472"/>
                </a:cubicBezTo>
                <a:cubicBezTo>
                  <a:pt x="292244" y="41452"/>
                  <a:pt x="284989" y="48707"/>
                  <a:pt x="276009" y="48707"/>
                </a:cubicBezTo>
                <a:lnTo>
                  <a:pt x="162358" y="48707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50" name="Text 48"/>
          <p:cNvSpPr/>
          <p:nvPr/>
        </p:nvSpPr>
        <p:spPr>
          <a:xfrm>
            <a:off x="10432297" y="2475358"/>
            <a:ext cx="1013114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排序展示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436626" y="2648528"/>
            <a:ext cx="1004455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推荐位呈现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96597" y="3206104"/>
            <a:ext cx="6372921" cy="2536944"/>
          </a:xfrm>
          <a:custGeom>
            <a:avLst/>
            <a:gdLst/>
            <a:ahLst/>
            <a:cxnLst/>
            <a:rect l="l" t="t" r="r" b="b"/>
            <a:pathLst>
              <a:path w="6372921" h="2536944">
                <a:moveTo>
                  <a:pt x="0" y="0"/>
                </a:moveTo>
                <a:lnTo>
                  <a:pt x="6372921" y="0"/>
                </a:lnTo>
                <a:lnTo>
                  <a:pt x="6372921" y="2536944"/>
                </a:lnTo>
                <a:lnTo>
                  <a:pt x="0" y="25369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00357" y="3348832"/>
            <a:ext cx="6165273" cy="24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一周A/B测试结果对比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39323" y="3695102"/>
            <a:ext cx="1939636" cy="1246909"/>
          </a:xfrm>
          <a:custGeom>
            <a:avLst/>
            <a:gdLst/>
            <a:ahLst/>
            <a:cxnLst/>
            <a:rect l="l" t="t" r="r" b="b"/>
            <a:pathLst>
              <a:path w="1939636" h="1246909">
                <a:moveTo>
                  <a:pt x="0" y="0"/>
                </a:moveTo>
                <a:lnTo>
                  <a:pt x="1939636" y="0"/>
                </a:lnTo>
                <a:lnTo>
                  <a:pt x="1939636" y="1246909"/>
                </a:lnTo>
                <a:lnTo>
                  <a:pt x="0" y="1246909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10196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5547498" y="3833584"/>
            <a:ext cx="1723159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525850" y="4075992"/>
            <a:ext cx="1766455" cy="277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2.00%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551828" y="4387643"/>
            <a:ext cx="1714500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整体成功率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551828" y="4595432"/>
            <a:ext cx="1714500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基于历史组队数排序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22652" y="3703591"/>
            <a:ext cx="1921979" cy="1229251"/>
          </a:xfrm>
          <a:custGeom>
            <a:avLst/>
            <a:gdLst/>
            <a:ahLst/>
            <a:cxnLst/>
            <a:rect l="l" t="t" r="r" b="b"/>
            <a:pathLst>
              <a:path w="1921979" h="1229251">
                <a:moveTo>
                  <a:pt x="0" y="0"/>
                </a:moveTo>
                <a:lnTo>
                  <a:pt x="1921979" y="0"/>
                </a:lnTo>
                <a:lnTo>
                  <a:pt x="1921979" y="1229251"/>
                </a:lnTo>
                <a:lnTo>
                  <a:pt x="0" y="1229251"/>
                </a:lnTo>
                <a:lnTo>
                  <a:pt x="0" y="0"/>
                </a:lnTo>
                <a:close/>
              </a:path>
            </a:pathLst>
          </a:custGeom>
          <a:solidFill>
            <a:srgbClr val="1F2937">
              <a:alpha val="10196"/>
            </a:srgbClr>
          </a:solidFill>
          <a:ln w="24902">
            <a:solidFill>
              <a:srgbClr val="1F29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9316" y="3850560"/>
            <a:ext cx="16885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CCGC (SOTA)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617668" y="4092972"/>
            <a:ext cx="1731818" cy="277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2.03%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43645" y="4404619"/>
            <a:ext cx="1679864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整体成功率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643645" y="4612412"/>
            <a:ext cx="1679864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+2.08%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597557" y="3703591"/>
            <a:ext cx="1921979" cy="1229251"/>
          </a:xfrm>
          <a:custGeom>
            <a:avLst/>
            <a:gdLst/>
            <a:ahLst/>
            <a:cxnLst/>
            <a:rect l="l" t="t" r="r" b="b"/>
            <a:pathLst>
              <a:path w="1921979" h="1229251">
                <a:moveTo>
                  <a:pt x="0" y="0"/>
                </a:moveTo>
                <a:lnTo>
                  <a:pt x="1921979" y="0"/>
                </a:lnTo>
                <a:lnTo>
                  <a:pt x="1921979" y="1229251"/>
                </a:lnTo>
                <a:lnTo>
                  <a:pt x="0" y="1229251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14221" y="3850560"/>
            <a:ext cx="16885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DAG (Ours)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679585" y="4092972"/>
            <a:ext cx="1757795" cy="311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5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2.18%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718551" y="4439306"/>
            <a:ext cx="1679864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整体成功率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718551" y="4647099"/>
            <a:ext cx="1679864" cy="138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+9.44% vs Baseline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439323" y="5079588"/>
            <a:ext cx="1956955" cy="519545"/>
          </a:xfrm>
          <a:custGeom>
            <a:avLst/>
            <a:gdLst/>
            <a:ahLst/>
            <a:cxnLst/>
            <a:rect l="l" t="t" r="r" b="b"/>
            <a:pathLst>
              <a:path w="1956955" h="519545">
                <a:moveTo>
                  <a:pt x="0" y="0"/>
                </a:moveTo>
                <a:lnTo>
                  <a:pt x="1956955" y="0"/>
                </a:lnTo>
                <a:lnTo>
                  <a:pt x="1956955" y="519545"/>
                </a:lnTo>
                <a:lnTo>
                  <a:pt x="0" y="51954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70" name="Text 68"/>
          <p:cNvSpPr/>
          <p:nvPr/>
        </p:nvSpPr>
        <p:spPr>
          <a:xfrm>
            <a:off x="5478257" y="5148827"/>
            <a:ext cx="18790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点击率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478257" y="5356616"/>
            <a:ext cx="18790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2.59% → 2.72%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502622" y="5079588"/>
            <a:ext cx="1956955" cy="519545"/>
          </a:xfrm>
          <a:custGeom>
            <a:avLst/>
            <a:gdLst/>
            <a:ahLst/>
            <a:cxnLst/>
            <a:rect l="l" t="t" r="r" b="b"/>
            <a:pathLst>
              <a:path w="1956955" h="519545">
                <a:moveTo>
                  <a:pt x="0" y="0"/>
                </a:moveTo>
                <a:lnTo>
                  <a:pt x="1956955" y="0"/>
                </a:lnTo>
                <a:lnTo>
                  <a:pt x="1956955" y="519545"/>
                </a:lnTo>
                <a:lnTo>
                  <a:pt x="0" y="51954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73" name="Text 71"/>
          <p:cNvSpPr/>
          <p:nvPr/>
        </p:nvSpPr>
        <p:spPr>
          <a:xfrm>
            <a:off x="7541556" y="5148827"/>
            <a:ext cx="18790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组队成功率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541556" y="5356616"/>
            <a:ext cx="18790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76.72% → 80.10%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565987" y="5079588"/>
            <a:ext cx="1956955" cy="519545"/>
          </a:xfrm>
          <a:custGeom>
            <a:avLst/>
            <a:gdLst/>
            <a:ahLst/>
            <a:cxnLst/>
            <a:rect l="l" t="t" r="r" b="b"/>
            <a:pathLst>
              <a:path w="1956955" h="519545">
                <a:moveTo>
                  <a:pt x="0" y="0"/>
                </a:moveTo>
                <a:lnTo>
                  <a:pt x="1956955" y="0"/>
                </a:lnTo>
                <a:lnTo>
                  <a:pt x="1956955" y="519545"/>
                </a:lnTo>
                <a:lnTo>
                  <a:pt x="0" y="51954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</p:spPr>
      </p:sp>
      <p:sp>
        <p:nvSpPr>
          <p:cNvPr id="76" name="Text 74"/>
          <p:cNvSpPr/>
          <p:nvPr/>
        </p:nvSpPr>
        <p:spPr>
          <a:xfrm>
            <a:off x="9604921" y="5148827"/>
            <a:ext cx="18790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测试周期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604921" y="5356616"/>
            <a:ext cx="187902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一周游戏活动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292352" y="5884478"/>
            <a:ext cx="6381750" cy="692727"/>
          </a:xfrm>
          <a:custGeom>
            <a:avLst/>
            <a:gdLst/>
            <a:ahLst/>
            <a:cxnLst/>
            <a:rect l="l" t="t" r="r" b="b"/>
            <a:pathLst>
              <a:path w="6381750" h="692727">
                <a:moveTo>
                  <a:pt x="0" y="0"/>
                </a:moveTo>
                <a:lnTo>
                  <a:pt x="6381750" y="0"/>
                </a:lnTo>
                <a:lnTo>
                  <a:pt x="6381750" y="692727"/>
                </a:lnTo>
                <a:lnTo>
                  <a:pt x="0" y="692727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79" name="Shape 77"/>
          <p:cNvSpPr/>
          <p:nvPr/>
        </p:nvSpPr>
        <p:spPr>
          <a:xfrm>
            <a:off x="5464401" y="6056920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7318" y="17318"/>
                </a:moveTo>
                <a:cubicBezTo>
                  <a:pt x="17318" y="12529"/>
                  <a:pt x="13449" y="8659"/>
                  <a:pt x="8659" y="8659"/>
                </a:cubicBezTo>
                <a:cubicBezTo>
                  <a:pt x="3870" y="8659"/>
                  <a:pt x="0" y="12529"/>
                  <a:pt x="0" y="17318"/>
                </a:cubicBezTo>
                <a:lnTo>
                  <a:pt x="0" y="108239"/>
                </a:lnTo>
                <a:cubicBezTo>
                  <a:pt x="0" y="120199"/>
                  <a:pt x="9687" y="129886"/>
                  <a:pt x="21648" y="129886"/>
                </a:cubicBezTo>
                <a:lnTo>
                  <a:pt x="129886" y="129886"/>
                </a:lnTo>
                <a:cubicBezTo>
                  <a:pt x="134676" y="129886"/>
                  <a:pt x="138545" y="126017"/>
                  <a:pt x="138545" y="121227"/>
                </a:cubicBezTo>
                <a:cubicBezTo>
                  <a:pt x="138545" y="116438"/>
                  <a:pt x="134676" y="112568"/>
                  <a:pt x="129886" y="112568"/>
                </a:cubicBezTo>
                <a:lnTo>
                  <a:pt x="21648" y="112568"/>
                </a:lnTo>
                <a:cubicBezTo>
                  <a:pt x="19266" y="112568"/>
                  <a:pt x="17318" y="110620"/>
                  <a:pt x="17318" y="108239"/>
                </a:cubicBezTo>
                <a:lnTo>
                  <a:pt x="17318" y="17318"/>
                </a:lnTo>
                <a:close/>
                <a:moveTo>
                  <a:pt x="127343" y="40752"/>
                </a:moveTo>
                <a:cubicBezTo>
                  <a:pt x="130725" y="37369"/>
                  <a:pt x="130725" y="31876"/>
                  <a:pt x="127343" y="28494"/>
                </a:cubicBezTo>
                <a:cubicBezTo>
                  <a:pt x="123960" y="25111"/>
                  <a:pt x="118467" y="25111"/>
                  <a:pt x="115085" y="28494"/>
                </a:cubicBezTo>
                <a:lnTo>
                  <a:pt x="86591" y="57015"/>
                </a:lnTo>
                <a:lnTo>
                  <a:pt x="71059" y="41510"/>
                </a:lnTo>
                <a:cubicBezTo>
                  <a:pt x="67676" y="38127"/>
                  <a:pt x="62183" y="38127"/>
                  <a:pt x="58801" y="41510"/>
                </a:cubicBezTo>
                <a:lnTo>
                  <a:pt x="32823" y="67487"/>
                </a:lnTo>
                <a:cubicBezTo>
                  <a:pt x="29441" y="70869"/>
                  <a:pt x="29441" y="76362"/>
                  <a:pt x="32823" y="79745"/>
                </a:cubicBezTo>
                <a:cubicBezTo>
                  <a:pt x="36206" y="83127"/>
                  <a:pt x="41699" y="83127"/>
                  <a:pt x="45081" y="79745"/>
                </a:cubicBezTo>
                <a:lnTo>
                  <a:pt x="64943" y="59883"/>
                </a:lnTo>
                <a:lnTo>
                  <a:pt x="80475" y="75415"/>
                </a:lnTo>
                <a:cubicBezTo>
                  <a:pt x="83858" y="78798"/>
                  <a:pt x="89351" y="78798"/>
                  <a:pt x="92733" y="75415"/>
                </a:cubicBezTo>
                <a:lnTo>
                  <a:pt x="127370" y="4077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0" name="Text 78"/>
          <p:cNvSpPr/>
          <p:nvPr/>
        </p:nvSpPr>
        <p:spPr>
          <a:xfrm>
            <a:off x="5616611" y="6022960"/>
            <a:ext cx="5953519" cy="4156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业务价值：DAG相比SOTA方法CCGC，</a:t>
            </a:r>
            <a:r>
              <a:rPr lang="en-US" sz="109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新增好友数目提升7.35%</a:t>
            </a:r>
            <a:r>
              <a:rPr lang="en-US" sz="10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，显著改善用户体验和平台活跃度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724b3ffd0a6b093e48320d7324884d57923b8ad2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2216" b="221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1F2937">
                  <a:alpha val="5000"/>
                </a:srgbClr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380971" y="380963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0971" y="838107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3"/>
          <p:cNvSpPr/>
          <p:nvPr/>
        </p:nvSpPr>
        <p:spPr>
          <a:xfrm>
            <a:off x="399647" y="1104751"/>
            <a:ext cx="3666751" cy="3733800"/>
          </a:xfrm>
          <a:custGeom>
            <a:avLst/>
            <a:gdLst/>
            <a:ahLst/>
            <a:cxnLst/>
            <a:rect l="l" t="t" r="r" b="b"/>
            <a:pathLst>
              <a:path w="3666751" h="3733800">
                <a:moveTo>
                  <a:pt x="0" y="0"/>
                </a:moveTo>
                <a:lnTo>
                  <a:pt x="3666751" y="0"/>
                </a:lnTo>
                <a:lnTo>
                  <a:pt x="3666751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399647" y="1104751"/>
            <a:ext cx="37353" cy="3733800"/>
          </a:xfrm>
          <a:custGeom>
            <a:avLst/>
            <a:gdLst/>
            <a:ahLst/>
            <a:cxnLst/>
            <a:rect l="l" t="t" r="r" b="b"/>
            <a:pathLst>
              <a:path w="37353" h="3733800">
                <a:moveTo>
                  <a:pt x="0" y="0"/>
                </a:moveTo>
                <a:lnTo>
                  <a:pt x="37353" y="0"/>
                </a:lnTo>
                <a:lnTo>
                  <a:pt x="37353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Shape 5"/>
          <p:cNvSpPr/>
          <p:nvPr/>
        </p:nvSpPr>
        <p:spPr>
          <a:xfrm>
            <a:off x="608809" y="12952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6"/>
          <p:cNvSpPr/>
          <p:nvPr/>
        </p:nvSpPr>
        <p:spPr>
          <a:xfrm>
            <a:off x="708819" y="140948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180192" y="137140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学术贡献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8809" y="1904702"/>
            <a:ext cx="33432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首个端到端、无需先验K的属性图社群检测框架</a:t>
            </a: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，突破了传统DGC方法对K值的强依赖。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3478" y="2518841"/>
            <a:ext cx="3257363" cy="1266638"/>
          </a:xfrm>
          <a:custGeom>
            <a:avLst/>
            <a:gdLst/>
            <a:ahLst/>
            <a:cxnLst/>
            <a:rect l="l" t="t" r="r" b="b"/>
            <a:pathLst>
              <a:path w="3257363" h="1266638">
                <a:moveTo>
                  <a:pt x="0" y="0"/>
                </a:moveTo>
                <a:lnTo>
                  <a:pt x="3257363" y="0"/>
                </a:lnTo>
                <a:lnTo>
                  <a:pt x="3257363" y="1266638"/>
                </a:lnTo>
                <a:lnTo>
                  <a:pt x="0" y="12666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2395" y="2637755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核心技术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0970" y="294175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2"/>
          <p:cNvSpPr/>
          <p:nvPr/>
        </p:nvSpPr>
        <p:spPr>
          <a:xfrm>
            <a:off x="980045" y="2904409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掩码属性重构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0970" y="320840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4"/>
          <p:cNvSpPr/>
          <p:nvPr/>
        </p:nvSpPr>
        <p:spPr>
          <a:xfrm>
            <a:off x="980045" y="3171053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社群隶属读取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0970" y="347506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6"/>
          <p:cNvSpPr/>
          <p:nvPr/>
        </p:nvSpPr>
        <p:spPr>
          <a:xfrm>
            <a:off x="980045" y="3437706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组稀疏正则化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73118" y="1104751"/>
            <a:ext cx="3666751" cy="3733800"/>
          </a:xfrm>
          <a:custGeom>
            <a:avLst/>
            <a:gdLst/>
            <a:ahLst/>
            <a:cxnLst/>
            <a:rect l="l" t="t" r="r" b="b"/>
            <a:pathLst>
              <a:path w="3666751" h="3733800">
                <a:moveTo>
                  <a:pt x="0" y="0"/>
                </a:moveTo>
                <a:lnTo>
                  <a:pt x="3666751" y="0"/>
                </a:lnTo>
                <a:lnTo>
                  <a:pt x="3666751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>
              <a:alpha val="1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4273118" y="1104751"/>
            <a:ext cx="37353" cy="3733800"/>
          </a:xfrm>
          <a:custGeom>
            <a:avLst/>
            <a:gdLst/>
            <a:ahLst/>
            <a:cxnLst/>
            <a:rect l="l" t="t" r="r" b="b"/>
            <a:pathLst>
              <a:path w="37353" h="3733800">
                <a:moveTo>
                  <a:pt x="0" y="0"/>
                </a:moveTo>
                <a:lnTo>
                  <a:pt x="37353" y="0"/>
                </a:lnTo>
                <a:lnTo>
                  <a:pt x="37353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22" name="Shape 19"/>
          <p:cNvSpPr/>
          <p:nvPr/>
        </p:nvSpPr>
        <p:spPr>
          <a:xfrm>
            <a:off x="4482280" y="12952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23" name="Shape 20"/>
          <p:cNvSpPr/>
          <p:nvPr/>
        </p:nvSpPr>
        <p:spPr>
          <a:xfrm>
            <a:off x="4596577" y="14094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1"/>
          <p:cNvSpPr/>
          <p:nvPr/>
        </p:nvSpPr>
        <p:spPr>
          <a:xfrm>
            <a:off x="5053663" y="137140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实践意义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482280" y="1904702"/>
            <a:ext cx="33432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成功克服DGC模型在</a:t>
            </a:r>
            <a:r>
              <a:rPr lang="en-US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真实场景落地的最大瓶颈</a:t>
            </a: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，证明了自适应算法的商业价值。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486949" y="2518841"/>
            <a:ext cx="3257363" cy="1266638"/>
          </a:xfrm>
          <a:custGeom>
            <a:avLst/>
            <a:gdLst/>
            <a:ahLst/>
            <a:cxnLst/>
            <a:rect l="l" t="t" r="r" b="b"/>
            <a:pathLst>
              <a:path w="3257363" h="1266638">
                <a:moveTo>
                  <a:pt x="0" y="0"/>
                </a:moveTo>
                <a:lnTo>
                  <a:pt x="3257363" y="0"/>
                </a:lnTo>
                <a:lnTo>
                  <a:pt x="3257363" y="1266638"/>
                </a:lnTo>
                <a:lnTo>
                  <a:pt x="0" y="12666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05866" y="2637755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应用成果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605866" y="294175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29" name="Text 26"/>
          <p:cNvSpPr/>
          <p:nvPr/>
        </p:nvSpPr>
        <p:spPr>
          <a:xfrm>
            <a:off x="4853516" y="2904409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腾讯多款游戏部署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605866" y="320840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31" name="Text 28"/>
          <p:cNvSpPr/>
          <p:nvPr/>
        </p:nvSpPr>
        <p:spPr>
          <a:xfrm>
            <a:off x="4853516" y="3171053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百万级用户规模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624916" y="34750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33" name="Text 30"/>
          <p:cNvSpPr/>
          <p:nvPr/>
        </p:nvSpPr>
        <p:spPr>
          <a:xfrm>
            <a:off x="4853516" y="3437706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好友数提升7.35%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146589" y="1104751"/>
            <a:ext cx="3666751" cy="3733800"/>
          </a:xfrm>
          <a:custGeom>
            <a:avLst/>
            <a:gdLst/>
            <a:ahLst/>
            <a:cxnLst/>
            <a:rect l="l" t="t" r="r" b="b"/>
            <a:pathLst>
              <a:path w="3666751" h="3733800">
                <a:moveTo>
                  <a:pt x="0" y="0"/>
                </a:moveTo>
                <a:lnTo>
                  <a:pt x="3666751" y="0"/>
                </a:lnTo>
                <a:lnTo>
                  <a:pt x="3666751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10196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8146589" y="1104751"/>
            <a:ext cx="37353" cy="3733800"/>
          </a:xfrm>
          <a:custGeom>
            <a:avLst/>
            <a:gdLst/>
            <a:ahLst/>
            <a:cxnLst/>
            <a:rect l="l" t="t" r="r" b="b"/>
            <a:pathLst>
              <a:path w="37353" h="3733800">
                <a:moveTo>
                  <a:pt x="0" y="0"/>
                </a:moveTo>
                <a:lnTo>
                  <a:pt x="37353" y="0"/>
                </a:lnTo>
                <a:lnTo>
                  <a:pt x="37353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36" name="Shape 33"/>
          <p:cNvSpPr/>
          <p:nvPr/>
        </p:nvSpPr>
        <p:spPr>
          <a:xfrm>
            <a:off x="8355751" y="12952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7280"/>
          </a:solidFill>
        </p:spPr>
      </p:sp>
      <p:sp>
        <p:nvSpPr>
          <p:cNvPr id="37" name="Shape 34"/>
          <p:cNvSpPr/>
          <p:nvPr/>
        </p:nvSpPr>
        <p:spPr>
          <a:xfrm>
            <a:off x="8470048" y="14094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5"/>
          <p:cNvSpPr/>
          <p:nvPr/>
        </p:nvSpPr>
        <p:spPr>
          <a:xfrm>
            <a:off x="8927134" y="137140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未来方向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355751" y="1904702"/>
            <a:ext cx="33432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探索在</a:t>
            </a:r>
            <a:r>
              <a:rPr lang="en-US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动态图</a:t>
            </a: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及</a:t>
            </a:r>
            <a:r>
              <a:rPr lang="en-US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更细粒度玩家行为</a:t>
            </a: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上的扩展应用。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360420" y="2518841"/>
            <a:ext cx="3257363" cy="1266638"/>
          </a:xfrm>
          <a:custGeom>
            <a:avLst/>
            <a:gdLst/>
            <a:ahLst/>
            <a:cxnLst/>
            <a:rect l="l" t="t" r="r" b="b"/>
            <a:pathLst>
              <a:path w="3257363" h="1266638">
                <a:moveTo>
                  <a:pt x="0" y="0"/>
                </a:moveTo>
                <a:lnTo>
                  <a:pt x="3257363" y="0"/>
                </a:lnTo>
                <a:lnTo>
                  <a:pt x="3257363" y="1266638"/>
                </a:lnTo>
                <a:lnTo>
                  <a:pt x="0" y="12666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451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79337" y="2637755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研究展望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498387" y="29417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43" name="Text 40"/>
          <p:cNvSpPr/>
          <p:nvPr/>
        </p:nvSpPr>
        <p:spPr>
          <a:xfrm>
            <a:off x="8726987" y="2904409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时序动态社群演化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498387" y="32084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45" name="Text 42"/>
          <p:cNvSpPr/>
          <p:nvPr/>
        </p:nvSpPr>
        <p:spPr>
          <a:xfrm>
            <a:off x="8726987" y="3171053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多维度行为建模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498387" y="34750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47" name="Text 44"/>
          <p:cNvSpPr/>
          <p:nvPr/>
        </p:nvSpPr>
        <p:spPr>
          <a:xfrm>
            <a:off x="8726987" y="3437706"/>
            <a:ext cx="2847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跨游戏社群迁移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380971" y="5067523"/>
            <a:ext cx="11430000" cy="990600"/>
          </a:xfrm>
          <a:custGeom>
            <a:avLst/>
            <a:gdLst/>
            <a:ahLst/>
            <a:cxnLst/>
            <a:rect l="l" t="t" r="r" b="b"/>
            <a:pathLst>
              <a:path w="11430000" h="990600">
                <a:moveTo>
                  <a:pt x="0" y="0"/>
                </a:moveTo>
                <a:lnTo>
                  <a:pt x="11430000" y="0"/>
                </a:lnTo>
                <a:lnTo>
                  <a:pt x="11430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</p:spPr>
      </p:sp>
      <p:sp>
        <p:nvSpPr>
          <p:cNvPr id="49" name="Shape 46"/>
          <p:cNvSpPr/>
          <p:nvPr/>
        </p:nvSpPr>
        <p:spPr>
          <a:xfrm>
            <a:off x="571456" y="525800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0" name="Shape 47"/>
          <p:cNvSpPr/>
          <p:nvPr/>
        </p:nvSpPr>
        <p:spPr>
          <a:xfrm>
            <a:off x="753555" y="541989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7238" y="-14455"/>
                </a:moveTo>
                <a:cubicBezTo>
                  <a:pt x="129760" y="-19031"/>
                  <a:pt x="120328" y="-19031"/>
                  <a:pt x="112849" y="-14455"/>
                </a:cubicBezTo>
                <a:cubicBezTo>
                  <a:pt x="99231" y="-6139"/>
                  <a:pt x="90804" y="-3907"/>
                  <a:pt x="74842" y="-4242"/>
                </a:cubicBezTo>
                <a:cubicBezTo>
                  <a:pt x="66080" y="-4465"/>
                  <a:pt x="57931" y="279"/>
                  <a:pt x="53690" y="7981"/>
                </a:cubicBezTo>
                <a:cubicBezTo>
                  <a:pt x="46044" y="21989"/>
                  <a:pt x="39849" y="28184"/>
                  <a:pt x="25840" y="35830"/>
                </a:cubicBezTo>
                <a:cubicBezTo>
                  <a:pt x="18138" y="40016"/>
                  <a:pt x="13450" y="48220"/>
                  <a:pt x="13618" y="56983"/>
                </a:cubicBezTo>
                <a:cubicBezTo>
                  <a:pt x="14008" y="72944"/>
                  <a:pt x="11720" y="81372"/>
                  <a:pt x="3404" y="94990"/>
                </a:cubicBezTo>
                <a:cubicBezTo>
                  <a:pt x="-1172" y="102468"/>
                  <a:pt x="-1172" y="111900"/>
                  <a:pt x="3404" y="119379"/>
                </a:cubicBezTo>
                <a:cubicBezTo>
                  <a:pt x="11720" y="132997"/>
                  <a:pt x="13953" y="141424"/>
                  <a:pt x="13618" y="157386"/>
                </a:cubicBezTo>
                <a:cubicBezTo>
                  <a:pt x="13395" y="166148"/>
                  <a:pt x="18138" y="174296"/>
                  <a:pt x="25840" y="178538"/>
                </a:cubicBezTo>
                <a:cubicBezTo>
                  <a:pt x="38174" y="185291"/>
                  <a:pt x="44425" y="190872"/>
                  <a:pt x="51011" y="201699"/>
                </a:cubicBezTo>
                <a:lnTo>
                  <a:pt x="23831" y="255891"/>
                </a:lnTo>
                <a:cubicBezTo>
                  <a:pt x="20538" y="262533"/>
                  <a:pt x="23217" y="270570"/>
                  <a:pt x="29803" y="273862"/>
                </a:cubicBezTo>
                <a:lnTo>
                  <a:pt x="77800" y="297861"/>
                </a:lnTo>
                <a:cubicBezTo>
                  <a:pt x="84218" y="301042"/>
                  <a:pt x="92032" y="298642"/>
                  <a:pt x="95492" y="292391"/>
                </a:cubicBezTo>
                <a:lnTo>
                  <a:pt x="124960" y="239316"/>
                </a:lnTo>
                <a:lnTo>
                  <a:pt x="154428" y="292391"/>
                </a:lnTo>
                <a:cubicBezTo>
                  <a:pt x="157888" y="298642"/>
                  <a:pt x="165702" y="301098"/>
                  <a:pt x="172120" y="297861"/>
                </a:cubicBezTo>
                <a:lnTo>
                  <a:pt x="220117" y="273862"/>
                </a:lnTo>
                <a:cubicBezTo>
                  <a:pt x="226758" y="270570"/>
                  <a:pt x="229437" y="262533"/>
                  <a:pt x="226089" y="255891"/>
                </a:cubicBezTo>
                <a:lnTo>
                  <a:pt x="198965" y="201644"/>
                </a:lnTo>
                <a:cubicBezTo>
                  <a:pt x="205494" y="190816"/>
                  <a:pt x="211801" y="185235"/>
                  <a:pt x="224135" y="178482"/>
                </a:cubicBezTo>
                <a:cubicBezTo>
                  <a:pt x="231837" y="174296"/>
                  <a:pt x="236525" y="166092"/>
                  <a:pt x="236358" y="157330"/>
                </a:cubicBezTo>
                <a:cubicBezTo>
                  <a:pt x="235967" y="141368"/>
                  <a:pt x="238255" y="132941"/>
                  <a:pt x="246571" y="119323"/>
                </a:cubicBezTo>
                <a:cubicBezTo>
                  <a:pt x="251147" y="111844"/>
                  <a:pt x="251147" y="102412"/>
                  <a:pt x="246571" y="94934"/>
                </a:cubicBezTo>
                <a:cubicBezTo>
                  <a:pt x="238255" y="81316"/>
                  <a:pt x="236023" y="72889"/>
                  <a:pt x="236358" y="56927"/>
                </a:cubicBezTo>
                <a:cubicBezTo>
                  <a:pt x="236581" y="48165"/>
                  <a:pt x="231837" y="40016"/>
                  <a:pt x="224135" y="35775"/>
                </a:cubicBezTo>
                <a:cubicBezTo>
                  <a:pt x="210127" y="28129"/>
                  <a:pt x="203932" y="21934"/>
                  <a:pt x="196286" y="7925"/>
                </a:cubicBezTo>
                <a:cubicBezTo>
                  <a:pt x="192100" y="223"/>
                  <a:pt x="183896" y="-4465"/>
                  <a:pt x="175133" y="-4297"/>
                </a:cubicBezTo>
                <a:cubicBezTo>
                  <a:pt x="159172" y="-3907"/>
                  <a:pt x="150744" y="-6195"/>
                  <a:pt x="137127" y="-14511"/>
                </a:cubicBezTo>
                <a:close/>
                <a:moveTo>
                  <a:pt x="125016" y="53578"/>
                </a:moveTo>
                <a:cubicBezTo>
                  <a:pt x="154586" y="53578"/>
                  <a:pt x="178594" y="77586"/>
                  <a:pt x="178594" y="107156"/>
                </a:cubicBezTo>
                <a:cubicBezTo>
                  <a:pt x="178594" y="136727"/>
                  <a:pt x="154586" y="160734"/>
                  <a:pt x="125016" y="160734"/>
                </a:cubicBezTo>
                <a:cubicBezTo>
                  <a:pt x="95445" y="160734"/>
                  <a:pt x="71438" y="136727"/>
                  <a:pt x="71438" y="107156"/>
                </a:cubicBezTo>
                <a:cubicBezTo>
                  <a:pt x="71438" y="77586"/>
                  <a:pt x="95445" y="53578"/>
                  <a:pt x="125016" y="5357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1" name="Text 48"/>
          <p:cNvSpPr/>
          <p:nvPr/>
        </p:nvSpPr>
        <p:spPr>
          <a:xfrm>
            <a:off x="1333325" y="5296086"/>
            <a:ext cx="4581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SIGKDD 2024 · CCF-A类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333325" y="5600821"/>
            <a:ext cx="454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Deep Adaptive and Generative K-Free Community Detection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0268263" y="5315127"/>
            <a:ext cx="135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汇报人：顾雨航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0277788" y="5581780"/>
            <a:ext cx="1343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学号:2023112451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338108" y="6210365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感谢聆听！</a:t>
            </a:r>
            <a:r>
              <a:rPr lang="en-US" sz="1350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" panose="02020500000000000000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6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01"/>
  <p:tag name="KSO_WM_TEMPLATE_CATEGORY" val="custom"/>
  <p:tag name="KSO_WM_TEMPLATE_MASTER_TYP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5"/>
  <p:tag name="KSO_WM_DIAGRAM_GROUP_CODE" val="l1-1"/>
  <p:tag name="KSO_WM_BEAUTIFY_FLAG" val="#wm#"/>
  <p:tag name="KSO_WM_TEMPLATE_INDEX" val="20238601"/>
  <p:tag name="KSO_WM_TEMPLATE_CATEGORY" val="custom"/>
  <p:tag name="KSO_WM_SLIDE_INDEX" val="5"/>
  <p:tag name="KSO_WM_SLIDE_ID" val="custom20238601_5"/>
  <p:tag name="KSO_WM_TEMPLATE_MASTER_TYPE" val="0"/>
  <p:tag name="KSO_WM_SLIDE_LAYOUT" val="a_l"/>
  <p:tag name="KSO_WM_SLIDE_LAYOUT_CNT" val="1_1"/>
  <p:tag name="KSO_WM_SLIDE_DIAGTYPE" val="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01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5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435.77197265625,&quot;left&quot;:409.29701397753144,&quot;top&quot;:52.114013671875,&quot;width&quot;:480.29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01_5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1091</Words>
  <Application>Microsoft Office PowerPoint</Application>
  <PresentationFormat>宽屏</PresentationFormat>
  <Paragraphs>346</Paragraphs>
  <Slides>12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Calibri</vt:lpstr>
      <vt:lpstr>方正姚体</vt:lpstr>
      <vt:lpstr>Sorts Mill Goudy</vt:lpstr>
      <vt:lpstr>微软雅黑</vt:lpstr>
      <vt:lpstr>Custom Theme</vt:lpstr>
      <vt:lpstr>简约风线框职场办公</vt:lpstr>
      <vt:lpstr>Equation.AxMath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DAG：一种无需社群数目先验的属性图社群检测算法</dc:title>
  <dc:subject>DAG：一种无需社群数目先验的属性图社群检测算法</dc:subject>
  <dc:creator>Kimi</dc:creator>
  <cp:lastModifiedBy>雨航 顾</cp:lastModifiedBy>
  <cp:revision>18</cp:revision>
  <dcterms:created xsi:type="dcterms:W3CDTF">2026-03-28T07:21:00Z</dcterms:created>
  <dcterms:modified xsi:type="dcterms:W3CDTF">2026-03-29T08:49:19Z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G：一种无需社群数目先验的属性图社群检测算法","ContentProducer":"001191110108MACG2KBH8F10000","ProduceID":"19d33425-b7c2-8ef1-8000-00009a0619b9","ReservedCode1":"","ContentPropagator":"001191110108MACG2KBH8F20000","PropagateID":"19d33425-b7c2-8ef1-8000-00009a0619b9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ED74BBBC6E5045C19485AC787080ED23_13</vt:lpwstr>
  </property>
</Properties>
</file>