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charset="-122"/>
          <a:cs typeface="微软雅黑" panose="020B0503020204020204" charset="-122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微软雅黑" panose="020B0503020204020204" charset="-122"/>
          <a:cs typeface="微软雅黑" panose="020B0503020204020204" charset="-12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91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从静态词向量到预训练模型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2148840"/>
            <a:ext cx="106070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000" b="0">
                <a:solidFill>
                  <a:srgbClr val="D3E6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文本分类方法的演进：word2vec、CNN 与 BERT</a:t>
            </a:r>
            <a:endParaRPr sz="2000" b="0">
              <a:solidFill>
                <a:srgbClr val="D3E6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2871216"/>
            <a:ext cx="5029200" cy="3187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endParaRPr sz="1300" b="1">
              <a:solidFill>
                <a:srgbClr val="B0C4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4892040"/>
            <a:ext cx="4389120" cy="7132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姓名：顾雨航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学号：2023112451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49440" y="4526280"/>
            <a:ext cx="1143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79" y="4709160"/>
            <a:ext cx="9601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词向量</a:t>
            </a:r>
            <a:endParaRPr sz="13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</a:t>
            </a:r>
            <a:endParaRPr sz="13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110727" y="5001768"/>
            <a:ext cx="210313" cy="0"/>
          </a:xfrm>
          <a:prstGeom prst="line">
            <a:avLst/>
          </a:prstGeom>
          <a:ln w="22860">
            <a:solidFill>
              <a:srgbClr val="B0C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66760" y="4526280"/>
            <a:ext cx="1143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58200" y="4709160"/>
            <a:ext cx="9601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句子特征</a:t>
            </a:r>
            <a:endParaRPr sz="13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endParaRPr sz="13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9528048" y="5001768"/>
            <a:ext cx="210312" cy="0"/>
          </a:xfrm>
          <a:prstGeom prst="line">
            <a:avLst/>
          </a:prstGeom>
          <a:ln w="22860">
            <a:solidFill>
              <a:srgbClr val="B0C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84080" y="4526280"/>
            <a:ext cx="1143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75519" y="4709160"/>
            <a:ext cx="9601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上下文预训练</a:t>
            </a:r>
            <a:endParaRPr sz="13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</a:t>
            </a:r>
            <a:endParaRPr sz="13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选题动机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选题动机与汇报主线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用三篇经典论文串起文本分类中的“表示学习”演进逻辑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4284345" cy="4655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9260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问题起点</a:t>
            </a:r>
            <a:endParaRPr sz="16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865245" cy="3454400"/>
          </a:xfrm>
          <a:prstGeom prst="rect">
            <a:avLst/>
          </a:prstGeom>
          <a:noFill/>
        </p:spPr>
        <p:txBody>
          <a:bodyPr wrap="square" lIns="73152" tIns="18288" rIns="73152" bIns="18288">
            <a:no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传统 NLP 把词看作离散符号，难表达语义相似性</a:t>
            </a:r>
            <a:endParaRPr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情感分类、主题分类等任务需要从词到句子的组合表示</a:t>
            </a:r>
            <a:endParaRPr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大规模无标注语料能否提供可迁移的语言知识？</a:t>
            </a:r>
            <a:endParaRPr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7455" y="1865630"/>
            <a:ext cx="4754880" cy="658368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6055" y="1975358"/>
            <a:ext cx="1737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稀疏索引</a:t>
            </a:r>
            <a:endParaRPr sz="1500" b="1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4855" y="1993646"/>
            <a:ext cx="237744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one-hot / n-gram</a:t>
            </a:r>
            <a:endParaRPr sz="12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684894" y="2523998"/>
            <a:ext cx="0" cy="256032"/>
          </a:xfrm>
          <a:prstGeom prst="line">
            <a:avLst/>
          </a:prstGeom>
          <a:ln w="1524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7455" y="2825750"/>
            <a:ext cx="4754880" cy="658368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6055" y="2935478"/>
            <a:ext cx="1737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静态词向量</a:t>
            </a:r>
            <a:endParaRPr sz="15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4855" y="2953766"/>
            <a:ext cx="237744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</a:t>
            </a:r>
            <a:endParaRPr sz="12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684894" y="3484117"/>
            <a:ext cx="0" cy="256033"/>
          </a:xfrm>
          <a:prstGeom prst="line">
            <a:avLst/>
          </a:prstGeom>
          <a:ln w="1524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7455" y="3785869"/>
            <a:ext cx="4754880" cy="658368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6055" y="3895598"/>
            <a:ext cx="1737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局部组合特征</a:t>
            </a:r>
            <a:endParaRPr sz="15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4855" y="3913885"/>
            <a:ext cx="237744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for sentence</a:t>
            </a:r>
            <a:endParaRPr sz="12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684894" y="4444237"/>
            <a:ext cx="0" cy="256033"/>
          </a:xfrm>
          <a:prstGeom prst="line">
            <a:avLst/>
          </a:prstGeom>
          <a:ln w="1524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7455" y="4745990"/>
            <a:ext cx="4754880" cy="658368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6055" y="4855718"/>
            <a:ext cx="1737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上下文预训练</a:t>
            </a:r>
            <a:endParaRPr sz="15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64855" y="4874006"/>
            <a:ext cx="2377440" cy="2103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</a:t>
            </a:r>
            <a:endParaRPr sz="12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96560" y="5834380"/>
            <a:ext cx="6217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核心问题：模型如何把“离散文字”转化为可迁移、可组合、可上下文化的表示？</a:t>
            </a:r>
            <a:endParaRPr sz="14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论文关系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三篇论文之间的逻辑关系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1172845" y="1828800"/>
            <a:ext cx="2834640" cy="182880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355725" y="2029968"/>
            <a:ext cx="2423160" cy="7537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</a:t>
            </a:r>
            <a:endParaRPr sz="20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2013</a:t>
            </a:r>
            <a:endParaRPr sz="20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401445" y="2788920"/>
            <a:ext cx="2377440" cy="5600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学习高质量静态词向量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CBOW / Skip-gram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647565" y="1828800"/>
            <a:ext cx="2834640" cy="182880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246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4830445" y="2029968"/>
            <a:ext cx="2423160" cy="7537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endParaRPr sz="20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2014</a:t>
            </a:r>
            <a:endParaRPr sz="20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876165" y="2788920"/>
            <a:ext cx="2377440" cy="5600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在预训练词向量上做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句子级分类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122284" y="1828800"/>
            <a:ext cx="2834640" cy="182880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EE8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8305164" y="2029968"/>
            <a:ext cx="2423160" cy="7537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</a:t>
            </a:r>
            <a:endParaRPr sz="20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</a:t>
            </a:r>
            <a:endParaRPr sz="20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8350884" y="2788920"/>
            <a:ext cx="2377440" cy="5600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上下文相关表示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 + 微调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>
            <p:custDataLst>
              <p:tags r:id="rId10"/>
            </p:custDataLst>
          </p:nvPr>
        </p:nvCxnSpPr>
        <p:spPr>
          <a:xfrm>
            <a:off x="4007485" y="2743200"/>
            <a:ext cx="457200" cy="0"/>
          </a:xfrm>
          <a:prstGeom prst="line">
            <a:avLst/>
          </a:prstGeom>
          <a:ln w="2794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>
            <p:custDataLst>
              <p:tags r:id="rId11"/>
            </p:custDataLst>
          </p:nvPr>
        </p:nvCxnSpPr>
        <p:spPr>
          <a:xfrm>
            <a:off x="7482205" y="2743200"/>
            <a:ext cx="457200" cy="0"/>
          </a:xfrm>
          <a:prstGeom prst="line">
            <a:avLst/>
          </a:prstGeom>
          <a:ln w="2794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1652905" y="4069080"/>
            <a:ext cx="1828800" cy="3022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表示层面</a:t>
            </a:r>
            <a:endParaRPr sz="12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5150485" y="4069080"/>
            <a:ext cx="1828800" cy="3022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组合层面</a:t>
            </a:r>
            <a:endParaRPr sz="12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8602345" y="4069080"/>
            <a:ext cx="1828800" cy="3022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预训练范式</a:t>
            </a:r>
            <a:endParaRPr sz="12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51560" y="4709160"/>
            <a:ext cx="9966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4919472"/>
            <a:ext cx="93268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汇报主线：词级表示学习 → 句子级特征抽取 → 上下文语言理解与统一微调</a:t>
            </a:r>
            <a:endParaRPr sz="16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Mikolov et al., 2013; Kim, 2014; Devlin et al., 2019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word2vec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论文一：word2vec 的问题意识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Efficient Estimation of Word Representations in Vector Space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3108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为什么需要词向量？</a:t>
            </a:r>
            <a:endParaRPr sz="17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063240" cy="274320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离散索引无法体现词之间的相似性</a:t>
            </a:r>
            <a:endParaRPr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N-gram 等简单模型依赖大规模统计，难以泛化到低资源或领域受限场景</a:t>
            </a:r>
            <a:endParaRPr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目标是从海量语料中高效学习连续向量表示</a:t>
            </a:r>
            <a:endParaRPr sz="16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核心贡献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2148840"/>
            <a:ext cx="1920240" cy="192024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2359152"/>
            <a:ext cx="1645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CBOW</a:t>
            </a:r>
            <a:endParaRPr sz="17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19472" y="2880360"/>
            <a:ext cx="16002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由上下文预测中心词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重视训练效率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995160" y="2148840"/>
            <a:ext cx="1920240" cy="192024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1645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Skip-gram</a:t>
            </a:r>
            <a:endParaRPr sz="17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59752" y="2880360"/>
            <a:ext cx="16002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由中心词预测上下文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语义关系更强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235440" y="2148840"/>
            <a:ext cx="1920240" cy="192024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72600" y="2359152"/>
            <a:ext cx="1645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线性规律</a:t>
            </a:r>
            <a:endParaRPr sz="17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00032" y="2880360"/>
            <a:ext cx="16002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向量运算能捕捉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语义与句法关系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54880" y="4754880"/>
            <a:ext cx="67665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83480" y="4983480"/>
            <a:ext cx="6309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关键词：distributed representation、large-scale training、semantic-syntactic regularities</a:t>
            </a:r>
            <a:endParaRPr sz="1400" b="1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Mikolov et al., 2013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word2vec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 的两种结构：CBOW 与 Skip-gram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一个是“看上下文猜中心词”，一个是“看中心词猜上下文”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6400800" cy="4304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word2vec_fi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567815"/>
            <a:ext cx="6311900" cy="3271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234440"/>
            <a:ext cx="3749040" cy="4304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69860" y="1554480"/>
            <a:ext cx="3065780" cy="30607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结构差异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73975" y="2011680"/>
            <a:ext cx="3344545" cy="2773680"/>
          </a:xfrm>
          <a:prstGeom prst="rect">
            <a:avLst/>
          </a:prstGeom>
          <a:noFill/>
        </p:spPr>
        <p:txBody>
          <a:bodyPr wrap="square" lIns="73152" tIns="18288" rIns="73152" bIns="18288">
            <a:no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CBOW：多个上下文词向量求和/平均，用于预测中心词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Skip-gram：用当前词预测窗口内上下文词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两者都去掉传统 NNLM 的复杂隐藏层，以降低训练成本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窗口越大，Skip-gram 能学习更远语义关系，但计算量也上升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4235" y="5139055"/>
            <a:ext cx="6039485" cy="21018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图源：论文 Figure 1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Mikolov et al., 2013, Figure 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word2vec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 学到了什么：从相似性到关系向量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词向量不只让相似词接近，还能保留可线性组合的语言规律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51206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3891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经典例子</a:t>
            </a:r>
            <a:endParaRPr sz="17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42519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v(king) - v(man) + v(woman) ≈ v(queen)</a:t>
            </a:r>
            <a:endParaRPr sz="21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42976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这说明词向量空间中的方向可能编码了“性别”“时态”“国家-首都”等关系。</a:t>
            </a:r>
            <a:endParaRPr sz="15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429768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注意：这不是手工规则，而是由上下文预测目标在大规模语料上学习出来的统计结构。</a:t>
            </a:r>
            <a:endParaRPr sz="130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206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 / 句法关系示例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057400"/>
          <a:ext cx="4754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42900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关系类型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00968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Capital</a:t>
                      </a:r>
                      <a:endParaRPr sz="12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France : Paris ≈ Germany : Berlin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Comparative</a:t>
                      </a:r>
                      <a:endParaRPr sz="12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big : bigger ≈ small : smaller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Gender</a:t>
                      </a:r>
                      <a:endParaRPr sz="12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brother : sister ≈ grandson : granddaughter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Past tense</a:t>
                      </a:r>
                      <a:endParaRPr sz="12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walking : walked ≈ swimming : swam</a:t>
                      </a:r>
                      <a:endParaRPr sz="12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0" y="4828032"/>
            <a:ext cx="4754880" cy="50292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2095" y="4846320"/>
            <a:ext cx="4389120" cy="63944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对文本分类的意义：词向量提供可迁移的语义特征，减少对人工特征工程的依赖。</a:t>
            </a:r>
            <a:endParaRPr sz="12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Mikolov et al., 2013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word2vec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 实验结果：效率与表示质量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模型结构简单，但在语义-句法测试集上显著提升向量质量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66751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word2vec_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68780"/>
            <a:ext cx="6309360" cy="3154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166360"/>
            <a:ext cx="63093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注：图中整理自论文 Table 4 与 Table 6；不同模型使用的数据量与维度不同。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26679" y="123444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主要结论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55279" y="2057400"/>
            <a:ext cx="2834640" cy="274320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Skip-gram 在语义关系上表现突出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CBOW 训练更快，适合大规模语料快速学习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增大语料和向量维度通常能提升效果，但存在收益递减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高质量词向量成为后续 CNN 文本分类的重要输入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Mikolov et al., 2013, Tables 4/6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CNN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论文二：从词向量到句子分类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Convolutional Neural Networks for Sentence Classification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846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251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问题转变</a:t>
            </a:r>
            <a:endParaRPr sz="17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160520" cy="228600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word2vec 解决的是词级表示，分类任务需要句子级表示</a:t>
            </a:r>
            <a:endParaRPr sz="15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一句话的情感往往由局部短语触发，如“not good”“very impressive”</a:t>
            </a:r>
            <a:endParaRPr sz="15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CNN 可以用不同宽度卷积核捕捉局部 n-gram 特征</a:t>
            </a:r>
            <a:endParaRPr sz="15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4800600"/>
            <a:ext cx="42062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核心思想：预训练词向量不是最终答案，而是句子分类模型的输入层。</a:t>
            </a:r>
            <a:endParaRPr sz="14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1508760"/>
            <a:ext cx="4846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实验任务覆盖 7 个句子级分类数据集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2194560" cy="50292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7648" y="2167128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</a:t>
            </a:r>
            <a:endParaRPr sz="12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95159" y="2167128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电影评论情感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41080" y="2057400"/>
            <a:ext cx="2194560" cy="50292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50807" y="2167128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SST-1</a:t>
            </a:r>
            <a:endParaRPr sz="12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18319" y="2167128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细粒度情感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2770632"/>
            <a:ext cx="2194560" cy="50292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7648" y="2880360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SST-2</a:t>
            </a:r>
            <a:endParaRPr sz="12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5159" y="2880360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二分类情感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41080" y="2770632"/>
            <a:ext cx="2194560" cy="50292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50807" y="2880360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Subj</a:t>
            </a:r>
            <a:endParaRPr sz="12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18319" y="2880360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主客观分类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17920" y="3483864"/>
            <a:ext cx="2194560" cy="50292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27648" y="3593592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TREC</a:t>
            </a:r>
            <a:endParaRPr sz="12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95159" y="3593592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问题类型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41080" y="3483864"/>
            <a:ext cx="2194560" cy="50292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50807" y="3593592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</a:t>
            </a:r>
            <a:endParaRPr sz="12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18319" y="3593592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产品评论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7920" y="4197096"/>
            <a:ext cx="2194560" cy="50292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27648" y="4306824"/>
            <a:ext cx="6858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MPQA</a:t>
            </a:r>
            <a:endParaRPr sz="12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95159" y="4306824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观点极性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Kim, 2014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CNN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句子分类模型结构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 matrix → Convolution → Max-over-time pooling → Softmax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5836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cnn_fi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92023"/>
            <a:ext cx="6217920" cy="25618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184648"/>
            <a:ext cx="6217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图源：论文 Figure 1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37033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9560" y="1554480"/>
            <a:ext cx="3108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关键模块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09560" y="1993392"/>
            <a:ext cx="438912" cy="292608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3276" y="2025396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39912" y="1997964"/>
            <a:ext cx="24871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词向量矩阵</a:t>
            </a:r>
            <a:endParaRPr sz="13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39912" y="2322576"/>
            <a:ext cx="2651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98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句子被表示为 n × k 矩阵</a:t>
            </a:r>
            <a:endParaRPr sz="98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09560" y="2651760"/>
            <a:ext cx="438912" cy="292608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23276" y="2683764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39912" y="2656332"/>
            <a:ext cx="24871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多宽度卷积</a:t>
            </a:r>
            <a:endParaRPr sz="13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9912" y="2980944"/>
            <a:ext cx="2651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98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 h=3/4/5 捕捉局部短语</a:t>
            </a:r>
            <a:endParaRPr sz="98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09560" y="3310128"/>
            <a:ext cx="438912" cy="292608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23276" y="334213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39912" y="3314700"/>
            <a:ext cx="24871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最大池化</a:t>
            </a:r>
            <a:endParaRPr sz="13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39912" y="3639312"/>
            <a:ext cx="2651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98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保留每个特征图最强响应</a:t>
            </a:r>
            <a:endParaRPr sz="98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09560" y="3968496"/>
            <a:ext cx="438912" cy="292608"/>
          </a:xfrm>
          <a:prstGeom prst="roundRect">
            <a:avLst/>
          </a:prstGeom>
          <a:solidFill>
            <a:srgbClr val="246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23276" y="4000500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39912" y="3973068"/>
            <a:ext cx="2487168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Dropout + Softmax</a:t>
            </a:r>
            <a:endParaRPr sz="13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39912" y="4297680"/>
            <a:ext cx="265176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98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控制过拟合并输出类别</a:t>
            </a:r>
            <a:endParaRPr sz="98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Kim, 2014, Figure 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CNN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 CNN 变体：预训练向量如何使用？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这页适合作为解释实验设计的核心页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08760"/>
          <a:ext cx="105613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65960"/>
                <a:gridCol w="2240280"/>
                <a:gridCol w="4617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46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词向量初始化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46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训练中是否更新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46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目的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2466A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CNN-rand</a:t>
                      </a:r>
                      <a:endParaRPr sz="115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随机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检验无预训练基线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CNN-static</a:t>
                      </a:r>
                      <a:endParaRPr sz="115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word2vec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不更新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把词向量当通用特征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CNN-non-static</a:t>
                      </a:r>
                      <a:endParaRPr sz="115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word2vec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适配具体分类任务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CNN-multichannel</a:t>
                      </a:r>
                      <a:endParaRPr sz="115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两份 word2vec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一份更新一份固定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兼顾稳定与适配</a:t>
                      </a:r>
                      <a:endParaRPr sz="115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663440"/>
            <a:ext cx="3246120" cy="86868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4800600"/>
            <a:ext cx="2971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静态向量</a:t>
            </a:r>
            <a:endParaRPr sz="13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7552" y="5138928"/>
            <a:ext cx="2926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通用语义特征，避免小数据集过拟合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4663440"/>
            <a:ext cx="3246120" cy="86868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4800600"/>
            <a:ext cx="2971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微调向量</a:t>
            </a:r>
            <a:endParaRPr sz="13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53712" y="5138928"/>
            <a:ext cx="2926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让词义向具体任务靠近，例如情感方向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5279" y="4663440"/>
            <a:ext cx="3246120" cy="86868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2440" y="4800600"/>
            <a:ext cx="29718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多通道</a:t>
            </a:r>
            <a:endParaRPr sz="135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19871" y="5138928"/>
            <a:ext cx="2926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保留原始语义 + 学习任务相关偏移</a:t>
            </a:r>
            <a:endParaRPr sz="10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Kim, 2014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CNN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实验结果：预训练词向量带来明显收益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在多个句子级分类任务上，静态或微调 word2vec 都显著强于随机初始化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68122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cnn_resul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11630"/>
            <a:ext cx="6446520" cy="32232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5230368"/>
            <a:ext cx="6446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图中整理自论文 Table 2，选取 6 个代表性数据集。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63840" y="1234440"/>
            <a:ext cx="33375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27432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可汇报的结论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92440" y="2048256"/>
            <a:ext cx="2743200" cy="297180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36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CNN-rand 整体弱于使用预训练词向量的模型</a:t>
            </a:r>
            <a:endParaRPr sz="136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36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CNN-static 已经能取得很强结果，说明 word2vec 有通用特征价值</a:t>
            </a:r>
            <a:endParaRPr sz="136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36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CNN-non-static 通常继续提升，说明下游监督信号能调整词义空间</a:t>
            </a:r>
            <a:endParaRPr sz="136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36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论文报告 CNN 模型在 7 个任务中 4 个达到当时 SOTA</a:t>
            </a:r>
            <a:endParaRPr sz="136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Kim, 2014, Table 2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CNN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如何理解 CNN 的优势与局限？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是从静态词向量到句子表示的一种高效组合器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480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优势：局部模式识别</a:t>
            </a:r>
            <a:endParaRPr sz="17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389120" cy="256032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卷积核相当于情感/主题触发器，寻找局部短语模式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max-over-time pooling 让模型关注最有判别力的片段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参数量相对小，适合中小规模句子分类数据集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预训练词向量降低了从零开始学习语义的难度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4800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41148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局限：上下文建模不足</a:t>
            </a:r>
            <a:endParaRPr sz="17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0840" y="2240280"/>
            <a:ext cx="4160520" cy="256032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word2vec 是静态词向量，同一个词在不同语境中向量相同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CNN 主要捕捉局部窗口，对长距离依赖和复杂语义组合较弱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不同任务仍需要设计分类头与训练策略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这正好引出 BERT：用大规模预训练直接学习上下文表示</a:t>
            </a:r>
            <a:endParaRPr sz="15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40280" y="5513832"/>
            <a:ext cx="7680960" cy="45720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77440" y="5632704"/>
            <a:ext cx="7406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例：good 在一般语义空间中可接近 bad，但在情感分类微调后会更接近 nice、great 等正向词。</a:t>
            </a:r>
            <a:endParaRPr sz="118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Kim, 2014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BERT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论文三：BERT 解决了什么问题？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BERT: Pre-training of Deep Bidirectional Transformers for Language Understanding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754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42062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静态表示的问题</a:t>
            </a:r>
            <a:endParaRPr sz="17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023360" cy="21945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同一个词在不同上下文中含义可能不同</a:t>
            </a:r>
            <a:endParaRPr sz="15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句子关系、问答、推理等任务需要双向上下文</a:t>
            </a:r>
            <a:endParaRPr sz="15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5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传统预训练词向量常作为“特征”，下游模型仍需较多结构设计</a:t>
            </a:r>
            <a:endParaRPr sz="15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46634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 的回答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4754880" cy="749808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2212848"/>
            <a:ext cx="14630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深层双向表示</a:t>
            </a:r>
            <a:endParaRPr sz="135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79" y="2212848"/>
            <a:ext cx="2743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12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Encoder 每层都融合左右上下文</a:t>
            </a:r>
            <a:endParaRPr sz="112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0760" y="3154679"/>
            <a:ext cx="4754880" cy="749808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3264408"/>
            <a:ext cx="14630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预训练任务</a:t>
            </a:r>
            <a:endParaRPr sz="13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26679" y="3264408"/>
            <a:ext cx="2743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12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MLM + NSP 从无标注文本中学习语言知识</a:t>
            </a:r>
            <a:endParaRPr sz="112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80760" y="4206240"/>
            <a:ext cx="4754880" cy="749808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60" y="4315968"/>
            <a:ext cx="14630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统一微调</a:t>
            </a:r>
            <a:endParaRPr sz="135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26679" y="4315968"/>
            <a:ext cx="27432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12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只加一个任务输出层，即可适配多种下游任务</a:t>
            </a:r>
            <a:endParaRPr sz="112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80760" y="5349240"/>
            <a:ext cx="47548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5530" y="5356860"/>
            <a:ext cx="4673600" cy="47180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一句话概括：BERT 把“表示学习”从词级静态向量推进到深层上下文预训练模型。</a:t>
            </a:r>
            <a:endParaRPr sz="12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Devlin et al., 2019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BERT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 总体框架：预训练与微调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同一个预训练模型，初始化多个下游任务模型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5836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bert_fig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7777"/>
            <a:ext cx="6263640" cy="30024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" y="5468112"/>
            <a:ext cx="6263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图源：论文 Figure 1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35240" y="123444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09560" y="1554480"/>
            <a:ext cx="31089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框架要点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2057400"/>
            <a:ext cx="2971800" cy="26517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左侧：在无标注句子对上做预训练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右侧：针对 MNLI、NER、SQuAD 等任务微调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除了输出层，预训练和微调阶段主体结构一致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4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所有参数在下游任务中共同 fine-tune</a:t>
            </a:r>
            <a:endParaRPr sz="14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Devlin et al., 2019, Figure 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BERT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 输入表示与预训练任务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Embedding + Segment Embedding + Position Embedding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852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bert_fig2_inpu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118" y="1417320"/>
            <a:ext cx="5050403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3218688"/>
            <a:ext cx="54864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图源：论文 Figure 2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995160" y="1234440"/>
            <a:ext cx="4297680" cy="192024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69480" y="1481328"/>
            <a:ext cx="3749039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Masked Language Model</a:t>
            </a:r>
            <a:endParaRPr sz="16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23760" y="1874519"/>
            <a:ext cx="3703320" cy="8229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3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随机选择 15% token 作为预测目标</a:t>
            </a:r>
            <a:endParaRPr sz="123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3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80% 替换为 [MASK]，10% 随机词，10% 保持不变</a:t>
            </a:r>
            <a:endParaRPr sz="123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3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使模型能利用左右上下文预测词</a:t>
            </a:r>
            <a:endParaRPr sz="123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95160" y="3456432"/>
            <a:ext cx="4297680" cy="160020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9480" y="3675887"/>
            <a:ext cx="3749039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Sentence Prediction</a:t>
            </a:r>
            <a:endParaRPr sz="16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60" y="4096512"/>
            <a:ext cx="3703320" cy="5943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3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判断 B 是否为 A 的真实下一句</a:t>
            </a:r>
            <a:endParaRPr sz="123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3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服务于问答、自然语言推理等句间关系任务</a:t>
            </a:r>
            <a:endParaRPr sz="123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4069080"/>
            <a:ext cx="5532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4123055"/>
            <a:ext cx="4937760" cy="3422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文本分类微调</a:t>
            </a:r>
            <a:endParaRPr sz="15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4529455"/>
            <a:ext cx="4937760" cy="5143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2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[CLS] 位置的最终隐状态作为整句表示，接一个分类层输出情感/类别。</a:t>
            </a:r>
            <a:endParaRPr sz="122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Devlin et al., 2019, Figure 2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BERT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 实验结果：统一模型带来大范围提升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从单句分类到问答任务，BERT 通过预训练-微调刷新多个基准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852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bert_glue_av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31669"/>
            <a:ext cx="5166360" cy="2583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166360"/>
            <a:ext cx="5166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GLUE average 整理自论文 Table 1。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3760" y="1417320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论文报告的关键成绩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3760" y="1965960"/>
            <a:ext cx="1737360" cy="82296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33488" y="2075688"/>
            <a:ext cx="150876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GLUE</a:t>
            </a:r>
            <a:endParaRPr sz="98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0" y="2295144"/>
            <a:ext cx="1554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80.5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2551176"/>
            <a:ext cx="155448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+7.7 abs.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89720" y="1965960"/>
            <a:ext cx="1737360" cy="82296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99448" y="2075688"/>
            <a:ext cx="150876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MultiNLI</a:t>
            </a:r>
            <a:endParaRPr sz="98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81160" y="2295144"/>
            <a:ext cx="1554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86.7%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81160" y="2551176"/>
            <a:ext cx="155448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+4.6 abs.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223760" y="3108960"/>
            <a:ext cx="1737360" cy="82296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33488" y="3218688"/>
            <a:ext cx="150876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SQuAD v1.1</a:t>
            </a:r>
            <a:endParaRPr sz="98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0" y="3438144"/>
            <a:ext cx="1554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93.2 F1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0" y="3694176"/>
            <a:ext cx="155448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+1.5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89720" y="3108960"/>
            <a:ext cx="1737360" cy="82296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FF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99448" y="3218688"/>
            <a:ext cx="150876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1">
                <a:solidFill>
                  <a:srgbClr val="C445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SQuAD v2.0</a:t>
            </a:r>
            <a:endParaRPr sz="980" b="1">
              <a:solidFill>
                <a:srgbClr val="C445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81160" y="3438144"/>
            <a:ext cx="1554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83.1 F1</a:t>
            </a:r>
            <a:endParaRPr sz="1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81160" y="3694176"/>
            <a:ext cx="1554480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+5.1</a:t>
            </a:r>
            <a:endParaRPr sz="8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223760" y="4572000"/>
            <a:ext cx="3703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88352" y="4773168"/>
            <a:ext cx="3383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8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意义：预训练表示不再只是“输入特征”，而成为下游任务模型的主体。</a:t>
            </a:r>
            <a:endParaRPr sz="118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  ·  Source: Devlin et al., 2019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综合比较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三类方法的横向比较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从表示粒度、上下文能力、下游使用方式看技术演进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10185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63240"/>
                <a:gridCol w="3154680"/>
                <a:gridCol w="352044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word2vec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CNN for Sentence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BERT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1023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表示对象</a:t>
                      </a:r>
                      <a:endParaRPr sz="16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词级静态向量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句子级局部组合特征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上下文 token / 句子表示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上下文</a:t>
                      </a:r>
                      <a:endParaRPr sz="16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训练时使用，推理时静态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局部窗口建模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每层双向 self-attention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训练方式</a:t>
                      </a:r>
                      <a:endParaRPr sz="16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无监督上下文预测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监督分类训练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无监督预训练 + 监督微调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迁移方式</a:t>
                      </a:r>
                      <a:endParaRPr sz="16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作为 embedding 初始化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预训练词向量 + 分类器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整个预训练模型迁移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优势</a:t>
                      </a:r>
                      <a:endParaRPr sz="16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高效、通用、可解释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轻量、适合分类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表现强、任务统一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局限</a:t>
                      </a:r>
                      <a:endParaRPr sz="1600" b="1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一词一向量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长距离依赖弱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计算成本高、可解释性弱</a:t>
                      </a:r>
                      <a:endParaRPr sz="16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6576" marR="3657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情感计算关联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面向情感计算的技术启示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三篇论文可以被组织成“情感分类表示学习”发展线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057400" cy="1234440"/>
          </a:xfrm>
          <a:prstGeom prst="round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2048256"/>
            <a:ext cx="1737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文本输入</a:t>
            </a:r>
            <a:endParaRPr sz="1400" b="1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1691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 / 微博 / 对话</a:t>
            </a:r>
            <a:endParaRPr sz="11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880360" y="2450592"/>
            <a:ext cx="347472" cy="0"/>
          </a:xfrm>
          <a:prstGeom prst="line">
            <a:avLst/>
          </a:prstGeom>
          <a:ln w="2286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1828800"/>
            <a:ext cx="2057400" cy="123444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10712" y="2048256"/>
            <a:ext cx="1737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词表示</a:t>
            </a:r>
            <a:endParaRPr sz="14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29000" y="2487168"/>
            <a:ext cx="1691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</a:t>
            </a:r>
            <a:endParaRPr sz="11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情感词语义空间</a:t>
            </a:r>
            <a:endParaRPr sz="11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303520" y="2450592"/>
            <a:ext cx="347472" cy="0"/>
          </a:xfrm>
          <a:prstGeom prst="line">
            <a:avLst/>
          </a:prstGeom>
          <a:ln w="2286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0" y="1828800"/>
            <a:ext cx="2057400" cy="123444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33872" y="2048256"/>
            <a:ext cx="1737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句子分类</a:t>
            </a:r>
            <a:endParaRPr sz="14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52160" y="2487168"/>
            <a:ext cx="1691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endParaRPr sz="11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局部情感触发模式</a:t>
            </a:r>
            <a:endParaRPr sz="11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726679" y="2450592"/>
            <a:ext cx="347473" cy="0"/>
          </a:xfrm>
          <a:prstGeom prst="line">
            <a:avLst/>
          </a:prstGeom>
          <a:ln w="22860">
            <a:solidFill>
              <a:srgbClr val="69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92440" y="1828800"/>
            <a:ext cx="2057400" cy="123444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57031" y="2048256"/>
            <a:ext cx="17373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上下文理解</a:t>
            </a:r>
            <a:endParaRPr sz="14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319" y="2487168"/>
            <a:ext cx="1691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</a:t>
            </a:r>
            <a:endParaRPr sz="11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语境化情感判断</a:t>
            </a:r>
            <a:endParaRPr sz="11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" y="3977639"/>
            <a:ext cx="4937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" y="4206240"/>
            <a:ext cx="44348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情感计算中的对应任务</a:t>
            </a:r>
            <a:endParaRPr sz="15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4389120" cy="73152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情感极性分类：正向 / 负向 / 中性</a:t>
            </a:r>
            <a:endParaRPr sz="12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情绪类别识别：喜、怒、哀、惧等</a:t>
            </a:r>
            <a:endParaRPr sz="12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观点挖掘：主体、评价对象、评价词</a:t>
            </a:r>
            <a:endParaRPr sz="12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5080" y="3977639"/>
            <a:ext cx="4937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80" y="4206240"/>
            <a:ext cx="44348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方法选择上的启示</a:t>
            </a:r>
            <a:endParaRPr sz="15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4572000"/>
            <a:ext cx="4389120" cy="5943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数据少：优先使用预训练表示</a:t>
            </a:r>
            <a:endParaRPr sz="12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强调速度：CNN + 静态词向量仍有价值</a:t>
            </a:r>
            <a:endParaRPr sz="12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2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强调语境：BERT 更适合复杂文本理解</a:t>
            </a:r>
            <a:endParaRPr sz="12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批判分析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批判性分析：贡献与局限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高级版汇报不能只讲“效果好”，还要讲为什么和边界在哪里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452628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3200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</a:t>
            </a:r>
            <a:endParaRPr sz="20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9260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sz="13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34640" cy="8229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证明大规模无监督词向量的有效性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让预训练表示成为 NLP 基础组件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29260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sz="13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834640" cy="8229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静态向量难处理多义词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词序与组合结构建模有限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07992" y="1417320"/>
            <a:ext cx="3474720" cy="452628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5152" y="1664208"/>
            <a:ext cx="3200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endParaRPr sz="20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82312" y="2240280"/>
            <a:ext cx="29260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sz="13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28031" y="2560320"/>
            <a:ext cx="2834640" cy="8229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把预训练词向量有效组合成句子特征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简单结构在多个分类任务上表现强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82312" y="3703320"/>
            <a:ext cx="29260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sz="13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28031" y="4023360"/>
            <a:ext cx="2834640" cy="8229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局部窗口主导，长依赖弱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仍需要监督数据训练分类器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30183" y="1417320"/>
            <a:ext cx="3474720" cy="452628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67344" y="1664208"/>
            <a:ext cx="3200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</a:t>
            </a:r>
            <a:endParaRPr sz="20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04504" y="2240280"/>
            <a:ext cx="29260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sz="13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50224" y="2560320"/>
            <a:ext cx="2834640" cy="8229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深层双向上下文表示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统一预训练-微调范式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04504" y="3703320"/>
            <a:ext cx="29260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sz="13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50224" y="4023360"/>
            <a:ext cx="2834640" cy="82296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训练与推理成本高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11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内部表示难解释，后续研究也重新审视 NSP</a:t>
            </a:r>
            <a:endParaRPr sz="11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总结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总结：三篇论文串起的核心结论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从“表示”到“组合”再到“上下文预训练”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10241280" cy="96012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440" y="1719072"/>
            <a:ext cx="7315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7400" y="1673351"/>
            <a:ext cx="320040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词向量改变了文本表示方式</a:t>
            </a:r>
            <a:endParaRPr sz="16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0" y="1655063"/>
            <a:ext cx="54406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word2vec 用上下文预测学习可迁移词表示，使语义相似性与词间关系进入连续向量空间。</a:t>
            </a:r>
            <a:endParaRPr sz="12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2834639"/>
            <a:ext cx="10241280" cy="960120"/>
          </a:xfrm>
          <a:prstGeom prst="roundRect">
            <a:avLst/>
          </a:prstGeom>
          <a:solidFill>
            <a:srgbClr val="E2EDF8"/>
          </a:solidFill>
          <a:ln w="12700">
            <a:solidFill>
              <a:srgbClr val="E2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3044951"/>
            <a:ext cx="7315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466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2466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57400" y="2999232"/>
            <a:ext cx="320040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 证明简单组合器也能强分类</a:t>
            </a:r>
            <a:endParaRPr sz="16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0" y="2980944"/>
            <a:ext cx="54406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在预训练词向量基础上，卷积和最大池化能高效捕获局部情感与主题特征。</a:t>
            </a:r>
            <a:endParaRPr sz="12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10241280" cy="960120"/>
          </a:xfrm>
          <a:prstGeom prst="roundRect">
            <a:avLst/>
          </a:prstGeom>
          <a:solidFill>
            <a:srgbClr val="FFEFDF"/>
          </a:solidFill>
          <a:ln w="12700">
            <a:solidFill>
              <a:srgbClr val="FFE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34440" y="4370832"/>
            <a:ext cx="7315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EE80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EE80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57400" y="4325112"/>
            <a:ext cx="320040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 将表示学习推向统一预训练范式</a:t>
            </a:r>
            <a:endParaRPr sz="16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03520" y="4306824"/>
            <a:ext cx="54406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深层双向 Transformer 让同一预训练模型可以通过微调适配多类 NLP 任务。</a:t>
            </a:r>
            <a:endParaRPr sz="12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5532120"/>
            <a:ext cx="10241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5669280"/>
            <a:ext cx="97840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最终主线：文本分类的进步，本质上是语言表示从静态、局部到上下文化、可迁移的不断升级。</a:t>
            </a:r>
            <a:endParaRPr sz="135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4747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References</a:t>
            </a:r>
            <a:endParaRPr sz="85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023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sz="2700" b="1">
              <a:solidFill>
                <a:srgbClr val="10233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42416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三篇主讲论文</a:t>
            </a:r>
            <a:endParaRPr sz="125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7840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Mikolov, T., Chen, K., Corrado, G., &amp; Dean, J. (2013). Efficient Estimation of Word Representations in Vector Space. arXiv:1301.3781.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97840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Kim, Y. (2014). Convolutional Neural Networks for Sentence Classification. Proceedings of EMNLP 2014, 1746-1751.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97840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Devlin, J., Chang, M.-W., Lee, K., &amp; Toutanova, K. (2019). BERT: Pre-training of Deep Bidirectional Transformers for Language Understanding. Proceedings of NAACL-HLT 2019, 4171-4186.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80360" y="5715000"/>
            <a:ext cx="6400800" cy="502920"/>
          </a:xfrm>
          <a:prstGeom prst="roundRect">
            <a:avLst/>
          </a:prstGeom>
          <a:solidFill>
            <a:srgbClr val="E0F5F1"/>
          </a:solidFill>
          <a:ln w="12700">
            <a:solidFill>
              <a:srgbClr val="E0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17520" y="5833872"/>
            <a:ext cx="61264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谢谢！</a:t>
            </a:r>
            <a:endParaRPr sz="16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顾雨航 2023112451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730" b="0">
                <a:solidFill>
                  <a:srgbClr val="6974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21/21</a:t>
            </a:r>
            <a:endParaRPr sz="730" b="0">
              <a:solidFill>
                <a:srgbClr val="6974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2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3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4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5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6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7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8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9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10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11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12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13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ags/tag14.xml><?xml version="1.0" encoding="utf-8"?>
<p:tagLst xmlns:p="http://schemas.openxmlformats.org/presentationml/2006/main">
  <p:tag name="KSO_WM_DIAGRAM_VIRTUALLY_FRAME" val="{&quot;height&quot;:200.2,&quot;left&quot;:92.35,&quot;top&quot;:144,&quot;width&quot;:770.3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6210</Words>
  <Application>WPS 演示</Application>
  <PresentationFormat>On-screen Show (4:3)</PresentationFormat>
  <Paragraphs>711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胆小菇</cp:lastModifiedBy>
  <cp:revision>3</cp:revision>
  <dcterms:created xsi:type="dcterms:W3CDTF">2013-01-27T09:14:00Z</dcterms:created>
  <dcterms:modified xsi:type="dcterms:W3CDTF">2026-04-29T13:14:49Z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D743868AE2CA4ADD9752856470540ACA_12</vt:lpwstr>
  </property>
  <property fmtid="{D5CDD505-2E9C-101B-9397-08002B2CF9AE}" pid="3" name="KSOProductBuildVer">
    <vt:lpwstr>2052-12.1.0.26375</vt:lpwstr>
  </property>
</Properties>
</file>